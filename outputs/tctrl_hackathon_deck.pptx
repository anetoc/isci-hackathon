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7F2"/>
        </a:solidFill>
        <a:effectLst/>
      </p:bgPr>
    </p:bg>
    <p:spTree>
      <p:nvGrpSpPr>
        <p:cNvPr id="1" name=""/>
        <p:cNvGrpSpPr/>
        <p:nvPr/>
      </p:nvGrpSpPr>
      <p:grpSpPr/>
      <p:sp>
        <p:nvSpPr>
          <p:cNvPr id="2" name="TextBox 1"/>
          <p:cNvSpPr txBox="1"/>
          <p:nvPr/>
        </p:nvSpPr>
        <p:spPr>
          <a:xfrm>
            <a:off x="530352" y="420624"/>
            <a:ext cx="5486400" cy="228600"/>
          </a:xfrm>
          <a:prstGeom prst="rect">
            <a:avLst/>
          </a:prstGeom>
          <a:noFill/>
        </p:spPr>
        <p:txBody>
          <a:bodyPr wrap="none" lIns="27432" rIns="27432" tIns="27432" bIns="27432" anchor="t">
            <a:spAutoFit/>
          </a:bodyPr>
          <a:lstStyle/>
          <a:p>
            <a:pPr algn="l">
              <a:spcAft>
                <a:spcPts val="0"/>
              </a:spcAft>
            </a:pPr>
            <a:r>
              <a:rPr sz="850" b="1">
                <a:solidFill>
                  <a:srgbClr val="007E79"/>
                </a:solidFill>
                <a:latin typeface="Aptos"/>
              </a:rPr>
              <a:t>T-CTRL · POWERED BY ISCI · RESEARCHER TRACK</a:t>
            </a:r>
          </a:p>
        </p:txBody>
      </p:sp>
      <p:sp>
        <p:nvSpPr>
          <p:cNvPr id="3" name="TextBox 2"/>
          <p:cNvSpPr txBox="1"/>
          <p:nvPr/>
        </p:nvSpPr>
        <p:spPr>
          <a:xfrm>
            <a:off x="530352" y="960120"/>
            <a:ext cx="5349240" cy="1389888"/>
          </a:xfrm>
          <a:prstGeom prst="rect">
            <a:avLst/>
          </a:prstGeom>
          <a:noFill/>
        </p:spPr>
        <p:txBody>
          <a:bodyPr wrap="none" lIns="27432" rIns="27432" tIns="27432" bIns="27432" anchor="t">
            <a:spAutoFit/>
          </a:bodyPr>
          <a:lstStyle/>
          <a:p>
            <a:pPr algn="l">
              <a:spcAft>
                <a:spcPts val="0"/>
              </a:spcAft>
            </a:pPr>
            <a:r>
              <a:rPr sz="3100" b="1">
                <a:solidFill>
                  <a:srgbClr val="103446"/>
                </a:solidFill>
                <a:latin typeface="Aptos"/>
              </a:rPr>
              <a:t>A large cellular change is not biological control.</a:t>
            </a:r>
          </a:p>
        </p:txBody>
      </p:sp>
      <p:sp>
        <p:nvSpPr>
          <p:cNvPr id="4" name="TextBox 3"/>
          <p:cNvSpPr txBox="1"/>
          <p:nvPr/>
        </p:nvSpPr>
        <p:spPr>
          <a:xfrm>
            <a:off x="566928" y="2542032"/>
            <a:ext cx="5074920" cy="932688"/>
          </a:xfrm>
          <a:prstGeom prst="rect">
            <a:avLst/>
          </a:prstGeom>
          <a:noFill/>
        </p:spPr>
        <p:txBody>
          <a:bodyPr wrap="none" lIns="27432" rIns="27432" tIns="27432" bIns="27432" anchor="t">
            <a:spAutoFit/>
          </a:bodyPr>
          <a:lstStyle/>
          <a:p>
            <a:pPr algn="l">
              <a:spcAft>
                <a:spcPts val="0"/>
              </a:spcAft>
            </a:pPr>
            <a:r>
              <a:rPr sz="1500" b="0">
                <a:solidFill>
                  <a:srgbClr val="1F2B30"/>
                </a:solidFill>
                <a:latin typeface="Aptos"/>
              </a:rPr>
              <a:t>An auditable system for separating effect size, functional direction and donor-level repeatability in CD4+ T-cell Perturb-seq.</a:t>
            </a:r>
          </a:p>
        </p:txBody>
      </p:sp>
      <p:sp>
        <p:nvSpPr>
          <p:cNvPr id="5" name="Rounded Rectangle 4"/>
          <p:cNvSpPr/>
          <p:nvPr/>
        </p:nvSpPr>
        <p:spPr>
          <a:xfrm>
            <a:off x="566928" y="3794760"/>
            <a:ext cx="4956048" cy="960120"/>
          </a:xfrm>
          <a:prstGeom prst="roundRect">
            <a:avLst/>
          </a:prstGeom>
          <a:solidFill>
            <a:srgbClr val="DAF1EB"/>
          </a:solidFill>
          <a:ln w="10160">
            <a:solidFill>
              <a:srgbClr val="DAF1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4041648"/>
            <a:ext cx="4498848" cy="502920"/>
          </a:xfrm>
          <a:prstGeom prst="rect">
            <a:avLst/>
          </a:prstGeom>
          <a:noFill/>
        </p:spPr>
        <p:txBody>
          <a:bodyPr wrap="none" lIns="27432" rIns="27432" tIns="27432" bIns="27432" anchor="t">
            <a:spAutoFit/>
          </a:bodyPr>
          <a:lstStyle/>
          <a:p>
            <a:pPr algn="l">
              <a:spcAft>
                <a:spcPts val="0"/>
              </a:spcAft>
            </a:pPr>
            <a:r>
              <a:rPr sz="1200" b="1">
                <a:solidFill>
                  <a:srgbClr val="103446"/>
                </a:solidFill>
                <a:latin typeface="Aptos"/>
              </a:rPr>
              <a:t>The deliverable is not a target list. It is a method that knows when evidence deserves PASS — and when it must stop.</a:t>
            </a:r>
          </a:p>
        </p:txBody>
      </p:sp>
      <p:sp>
        <p:nvSpPr>
          <p:cNvPr id="7" name="Rounded Rectangle 6"/>
          <p:cNvSpPr/>
          <p:nvPr/>
        </p:nvSpPr>
        <p:spPr>
          <a:xfrm>
            <a:off x="6080760" y="566928"/>
            <a:ext cx="5532120" cy="5440680"/>
          </a:xfrm>
          <a:prstGeom prst="roundRect">
            <a:avLst/>
          </a:prstGeom>
          <a:solidFill>
            <a:srgbClr val="FFFFFF"/>
          </a:solidFill>
          <a:ln w="10160">
            <a:solidFill>
              <a:srgbClr val="D8DC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ackathon_hero.png"/>
          <p:cNvPicPr>
            <a:picLocks noChangeAspect="1"/>
          </p:cNvPicPr>
          <p:nvPr/>
        </p:nvPicPr>
        <p:blipFill>
          <a:blip r:embed="rId2"/>
          <a:stretch>
            <a:fillRect/>
          </a:stretch>
        </p:blipFill>
        <p:spPr>
          <a:xfrm>
            <a:off x="6163056" y="1777650"/>
            <a:ext cx="5367528" cy="3019234"/>
          </a:xfrm>
          <a:prstGeom prst="rect">
            <a:avLst/>
          </a:prstGeom>
        </p:spPr>
      </p:pic>
      <p:sp>
        <p:nvSpPr>
          <p:cNvPr id="9" name="TextBox 8"/>
          <p:cNvSpPr txBox="1"/>
          <p:nvPr/>
        </p:nvSpPr>
        <p:spPr>
          <a:xfrm>
            <a:off x="566928" y="6007608"/>
            <a:ext cx="4937760" cy="228600"/>
          </a:xfrm>
          <a:prstGeom prst="rect">
            <a:avLst/>
          </a:prstGeom>
          <a:noFill/>
        </p:spPr>
        <p:txBody>
          <a:bodyPr wrap="none" lIns="27432" rIns="27432" tIns="27432" bIns="27432" anchor="t">
            <a:spAutoFit/>
          </a:bodyPr>
          <a:lstStyle/>
          <a:p>
            <a:pPr algn="l">
              <a:spcAft>
                <a:spcPts val="0"/>
              </a:spcAft>
            </a:pPr>
            <a:r>
              <a:rPr sz="850" b="0">
                <a:solidFill>
                  <a:srgbClr val="5B6A6F"/>
                </a:solidFill>
                <a:latin typeface="Aptos"/>
              </a:rPr>
              <a:t>Abel Costa · clinical research and hematology</a:t>
            </a:r>
          </a:p>
        </p:txBody>
      </p:sp>
      <p:sp>
        <p:nvSpPr>
          <p:cNvPr id="10" name="TextBox 9"/>
          <p:cNvSpPr txBox="1"/>
          <p:nvPr/>
        </p:nvSpPr>
        <p:spPr>
          <a:xfrm>
            <a:off x="475488" y="6556248"/>
            <a:ext cx="6492240" cy="146304"/>
          </a:xfrm>
          <a:prstGeom prst="rect">
            <a:avLst/>
          </a:prstGeom>
          <a:noFill/>
        </p:spPr>
        <p:txBody>
          <a:bodyPr wrap="none" lIns="27432" rIns="27432" tIns="27432" bIns="27432" anchor="t">
            <a:spAutoFit/>
          </a:bodyPr>
          <a:lstStyle/>
          <a:p>
            <a:pPr algn="l">
              <a:spcAft>
                <a:spcPts val="0"/>
              </a:spcAft>
            </a:pPr>
            <a:r>
              <a:rPr sz="650" b="0">
                <a:solidFill>
                  <a:srgbClr val="5B6A6F"/>
                </a:solidFill>
                <a:latin typeface="Aptos"/>
              </a:rPr>
              <a:t>T-CTRL · powered by ISCI · Built with Claude: Life Sciences</a:t>
            </a:r>
          </a:p>
        </p:txBody>
      </p:sp>
      <p:sp>
        <p:nvSpPr>
          <p:cNvPr id="11" name="TextBox 10"/>
          <p:cNvSpPr txBox="1"/>
          <p:nvPr/>
        </p:nvSpPr>
        <p:spPr>
          <a:xfrm>
            <a:off x="6583680" y="6556248"/>
            <a:ext cx="4892040" cy="146304"/>
          </a:xfrm>
          <a:prstGeom prst="rect">
            <a:avLst/>
          </a:prstGeom>
          <a:noFill/>
        </p:spPr>
        <p:txBody>
          <a:bodyPr wrap="none" lIns="27432" rIns="27432" tIns="27432" bIns="27432" anchor="t">
            <a:spAutoFit/>
          </a:bodyPr>
          <a:lstStyle/>
          <a:p>
            <a:pPr algn="r">
              <a:spcAft>
                <a:spcPts val="0"/>
              </a:spcAft>
            </a:pPr>
            <a:r>
              <a:rPr sz="620" b="0">
                <a:solidFill>
                  <a:srgbClr val="5B6A6F"/>
                </a:solidFill>
                <a:latin typeface="Aptos"/>
              </a:rPr>
              <a:t>Sources: reports/result_lock.md · reports/CLAIM_LEDGER.md</a:t>
            </a:r>
          </a:p>
        </p:txBody>
      </p:sp>
      <p:sp>
        <p:nvSpPr>
          <p:cNvPr id="12" name="TextBox 11"/>
          <p:cNvSpPr txBox="1"/>
          <p:nvPr/>
        </p:nvSpPr>
        <p:spPr>
          <a:xfrm>
            <a:off x="11503152" y="6556248"/>
            <a:ext cx="182880" cy="146304"/>
          </a:xfrm>
          <a:prstGeom prst="rect">
            <a:avLst/>
          </a:prstGeom>
          <a:noFill/>
        </p:spPr>
        <p:txBody>
          <a:bodyPr wrap="none" lIns="27432" rIns="27432" tIns="27432" bIns="27432" anchor="t">
            <a:spAutoFit/>
          </a:bodyPr>
          <a:lstStyle/>
          <a:p>
            <a:pPr algn="r">
              <a:spcAft>
                <a:spcPts val="0"/>
              </a:spcAft>
            </a:pPr>
            <a:r>
              <a:rPr sz="650" b="0">
                <a:solidFill>
                  <a:srgbClr val="5B6A6F"/>
                </a:solidFill>
                <a:latin typeface="Apt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7F2"/>
        </a:solidFill>
        <a:effectLst/>
      </p:bgPr>
    </p:bg>
    <p:spTree>
      <p:nvGrpSpPr>
        <p:cNvPr id="1" name=""/>
        <p:cNvGrpSpPr/>
        <p:nvPr/>
      </p:nvGrpSpPr>
      <p:grpSpPr/>
      <p:sp>
        <p:nvSpPr>
          <p:cNvPr id="2" name="TextBox 1"/>
          <p:cNvSpPr txBox="1"/>
          <p:nvPr/>
        </p:nvSpPr>
        <p:spPr>
          <a:xfrm>
            <a:off x="475488" y="274320"/>
            <a:ext cx="6217920" cy="228600"/>
          </a:xfrm>
          <a:prstGeom prst="rect">
            <a:avLst/>
          </a:prstGeom>
          <a:noFill/>
        </p:spPr>
        <p:txBody>
          <a:bodyPr wrap="none" lIns="27432" rIns="27432" tIns="27432" bIns="27432" anchor="t">
            <a:spAutoFit/>
          </a:bodyPr>
          <a:lstStyle/>
          <a:p>
            <a:pPr algn="l">
              <a:spcAft>
                <a:spcPts val="0"/>
              </a:spcAft>
            </a:pPr>
            <a:r>
              <a:rPr sz="850" b="1">
                <a:solidFill>
                  <a:srgbClr val="007E79"/>
                </a:solidFill>
                <a:latin typeface="Aptos"/>
              </a:rPr>
              <a:t>THE CLINICAL QUESTION</a:t>
            </a:r>
          </a:p>
        </p:txBody>
      </p:sp>
      <p:sp>
        <p:nvSpPr>
          <p:cNvPr id="3" name="TextBox 2"/>
          <p:cNvSpPr txBox="1"/>
          <p:nvPr/>
        </p:nvSpPr>
        <p:spPr>
          <a:xfrm>
            <a:off x="475488" y="566928"/>
            <a:ext cx="11064240" cy="530352"/>
          </a:xfrm>
          <a:prstGeom prst="rect">
            <a:avLst/>
          </a:prstGeom>
          <a:noFill/>
        </p:spPr>
        <p:txBody>
          <a:bodyPr wrap="none" lIns="27432" rIns="27432" tIns="27432" bIns="27432" anchor="t">
            <a:spAutoFit/>
          </a:bodyPr>
          <a:lstStyle/>
          <a:p>
            <a:pPr algn="l">
              <a:spcAft>
                <a:spcPts val="0"/>
              </a:spcAft>
            </a:pPr>
            <a:r>
              <a:rPr sz="2500" b="1">
                <a:solidFill>
                  <a:srgbClr val="103446"/>
                </a:solidFill>
                <a:latin typeface="Aptos"/>
              </a:rPr>
              <a:t>A large effect can still be the wrong answer.</a:t>
            </a:r>
          </a:p>
        </p:txBody>
      </p:sp>
      <p:sp>
        <p:nvSpPr>
          <p:cNvPr id="4" name="Rectangle 3"/>
          <p:cNvSpPr/>
          <p:nvPr/>
        </p:nvSpPr>
        <p:spPr>
          <a:xfrm>
            <a:off x="475488" y="1143000"/>
            <a:ext cx="11228832" cy="16459"/>
          </a:xfrm>
          <a:prstGeom prst="rect">
            <a:avLst/>
          </a:prstGeom>
          <a:solidFill>
            <a:srgbClr val="007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75488" y="6556248"/>
            <a:ext cx="6492240" cy="146304"/>
          </a:xfrm>
          <a:prstGeom prst="rect">
            <a:avLst/>
          </a:prstGeom>
          <a:noFill/>
        </p:spPr>
        <p:txBody>
          <a:bodyPr wrap="none" lIns="27432" rIns="27432" tIns="27432" bIns="27432" anchor="t">
            <a:spAutoFit/>
          </a:bodyPr>
          <a:lstStyle/>
          <a:p>
            <a:pPr algn="l">
              <a:spcAft>
                <a:spcPts val="0"/>
              </a:spcAft>
            </a:pPr>
            <a:r>
              <a:rPr sz="650" b="0">
                <a:solidFill>
                  <a:srgbClr val="5B6A6F"/>
                </a:solidFill>
                <a:latin typeface="Aptos"/>
              </a:rPr>
              <a:t>T-CTRL · powered by ISCI · Built with Claude: Life Sciences</a:t>
            </a:r>
          </a:p>
        </p:txBody>
      </p:sp>
      <p:sp>
        <p:nvSpPr>
          <p:cNvPr id="6" name="TextBox 5"/>
          <p:cNvSpPr txBox="1"/>
          <p:nvPr/>
        </p:nvSpPr>
        <p:spPr>
          <a:xfrm>
            <a:off x="11503152" y="6556248"/>
            <a:ext cx="182880" cy="146304"/>
          </a:xfrm>
          <a:prstGeom prst="rect">
            <a:avLst/>
          </a:prstGeom>
          <a:noFill/>
        </p:spPr>
        <p:txBody>
          <a:bodyPr wrap="none" lIns="27432" rIns="27432" tIns="27432" bIns="27432" anchor="t">
            <a:spAutoFit/>
          </a:bodyPr>
          <a:lstStyle/>
          <a:p>
            <a:pPr algn="r">
              <a:spcAft>
                <a:spcPts val="0"/>
              </a:spcAft>
            </a:pPr>
            <a:r>
              <a:rPr sz="650" b="0">
                <a:solidFill>
                  <a:srgbClr val="5B6A6F"/>
                </a:solidFill>
                <a:latin typeface="Aptos"/>
              </a:rPr>
              <a:t>2</a:t>
            </a:r>
          </a:p>
        </p:txBody>
      </p:sp>
      <p:sp>
        <p:nvSpPr>
          <p:cNvPr id="7" name="Rounded Rectangle 6"/>
          <p:cNvSpPr/>
          <p:nvPr/>
        </p:nvSpPr>
        <p:spPr>
          <a:xfrm>
            <a:off x="566928" y="1508760"/>
            <a:ext cx="3456432" cy="3246120"/>
          </a:xfrm>
          <a:prstGeom prst="roundRect">
            <a:avLst/>
          </a:prstGeom>
          <a:solidFill>
            <a:srgbClr val="FFFFFF"/>
          </a:solidFill>
          <a:ln w="10160">
            <a:solidFill>
              <a:srgbClr val="D8DC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86384" y="1755648"/>
            <a:ext cx="438912" cy="438912"/>
          </a:xfrm>
          <a:prstGeom prst="ellipse">
            <a:avLst/>
          </a:prstGeom>
          <a:solidFill>
            <a:srgbClr val="DA9F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1847088"/>
            <a:ext cx="438912" cy="164592"/>
          </a:xfrm>
          <a:prstGeom prst="rect">
            <a:avLst/>
          </a:prstGeom>
          <a:noFill/>
        </p:spPr>
        <p:txBody>
          <a:bodyPr wrap="none" lIns="27432" rIns="27432" tIns="27432" bIns="27432" anchor="t">
            <a:spAutoFit/>
          </a:bodyPr>
          <a:lstStyle/>
          <a:p>
            <a:pPr algn="ctr">
              <a:spcAft>
                <a:spcPts val="0"/>
              </a:spcAft>
            </a:pPr>
            <a:r>
              <a:rPr sz="1000" b="1">
                <a:solidFill>
                  <a:srgbClr val="FFFFFF"/>
                </a:solidFill>
                <a:latin typeface="Aptos"/>
              </a:rPr>
              <a:t>1</a:t>
            </a:r>
          </a:p>
        </p:txBody>
      </p:sp>
      <p:sp>
        <p:nvSpPr>
          <p:cNvPr id="10" name="TextBox 9"/>
          <p:cNvSpPr txBox="1"/>
          <p:nvPr/>
        </p:nvSpPr>
        <p:spPr>
          <a:xfrm>
            <a:off x="1353312" y="1792224"/>
            <a:ext cx="2286000" cy="292608"/>
          </a:xfrm>
          <a:prstGeom prst="rect">
            <a:avLst/>
          </a:prstGeom>
          <a:noFill/>
        </p:spPr>
        <p:txBody>
          <a:bodyPr wrap="none" lIns="27432" rIns="27432" tIns="27432" bIns="27432" anchor="t">
            <a:spAutoFit/>
          </a:bodyPr>
          <a:lstStyle/>
          <a:p>
            <a:pPr algn="l">
              <a:spcAft>
                <a:spcPts val="0"/>
              </a:spcAft>
            </a:pPr>
            <a:r>
              <a:rPr sz="1200" b="1">
                <a:solidFill>
                  <a:srgbClr val="DA9F2A"/>
                </a:solidFill>
                <a:latin typeface="Aptos"/>
              </a:rPr>
              <a:t>REACH</a:t>
            </a:r>
          </a:p>
        </p:txBody>
      </p:sp>
      <p:sp>
        <p:nvSpPr>
          <p:cNvPr id="11" name="TextBox 10"/>
          <p:cNvSpPr txBox="1"/>
          <p:nvPr/>
        </p:nvSpPr>
        <p:spPr>
          <a:xfrm>
            <a:off x="822960" y="2487168"/>
            <a:ext cx="2926080" cy="548640"/>
          </a:xfrm>
          <a:prstGeom prst="rect">
            <a:avLst/>
          </a:prstGeom>
          <a:noFill/>
        </p:spPr>
        <p:txBody>
          <a:bodyPr wrap="none" lIns="27432" rIns="27432" tIns="27432" bIns="27432" anchor="t">
            <a:spAutoFit/>
          </a:bodyPr>
          <a:lstStyle/>
          <a:p>
            <a:pPr algn="l">
              <a:spcAft>
                <a:spcPts val="0"/>
              </a:spcAft>
            </a:pPr>
            <a:r>
              <a:rPr sz="1600" b="1">
                <a:solidFill>
                  <a:srgbClr val="103446"/>
                </a:solidFill>
                <a:latin typeface="Aptos"/>
              </a:rPr>
              <a:t>How much did the cell change?</a:t>
            </a:r>
          </a:p>
        </p:txBody>
      </p:sp>
      <p:sp>
        <p:nvSpPr>
          <p:cNvPr id="12" name="TextBox 11"/>
          <p:cNvSpPr txBox="1"/>
          <p:nvPr/>
        </p:nvSpPr>
        <p:spPr>
          <a:xfrm>
            <a:off x="822960" y="3273552"/>
            <a:ext cx="2907792" cy="841248"/>
          </a:xfrm>
          <a:prstGeom prst="rect">
            <a:avLst/>
          </a:prstGeom>
          <a:noFill/>
        </p:spPr>
        <p:txBody>
          <a:bodyPr wrap="none" lIns="27432" rIns="27432" tIns="27432" bIns="27432" anchor="t">
            <a:spAutoFit/>
          </a:bodyPr>
          <a:lstStyle/>
          <a:p>
            <a:pPr algn="l">
              <a:spcAft>
                <a:spcPts val="0"/>
              </a:spcAft>
            </a:pPr>
            <a:r>
              <a:rPr sz="1100" b="0">
                <a:solidFill>
                  <a:srgbClr val="1F2B30"/>
                </a:solidFill>
                <a:latin typeface="Aptos"/>
              </a:rPr>
              <a:t>The size of an abnormal laboratory result.</a:t>
            </a:r>
          </a:p>
        </p:txBody>
      </p:sp>
      <p:sp>
        <p:nvSpPr>
          <p:cNvPr id="13" name="Rounded Rectangle 12"/>
          <p:cNvSpPr/>
          <p:nvPr/>
        </p:nvSpPr>
        <p:spPr>
          <a:xfrm>
            <a:off x="4389120" y="1508760"/>
            <a:ext cx="3456432" cy="3246120"/>
          </a:xfrm>
          <a:prstGeom prst="roundRect">
            <a:avLst/>
          </a:prstGeom>
          <a:solidFill>
            <a:srgbClr val="FFFFFF"/>
          </a:solidFill>
          <a:ln w="10160">
            <a:solidFill>
              <a:srgbClr val="D8DC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608576" y="1755648"/>
            <a:ext cx="438912" cy="438912"/>
          </a:xfrm>
          <a:prstGeom prst="ellipse">
            <a:avLst/>
          </a:prstGeom>
          <a:solidFill>
            <a:srgbClr val="007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08576" y="1847088"/>
            <a:ext cx="438912" cy="164592"/>
          </a:xfrm>
          <a:prstGeom prst="rect">
            <a:avLst/>
          </a:prstGeom>
          <a:noFill/>
        </p:spPr>
        <p:txBody>
          <a:bodyPr wrap="none" lIns="27432" rIns="27432" tIns="27432" bIns="27432" anchor="t">
            <a:spAutoFit/>
          </a:bodyPr>
          <a:lstStyle/>
          <a:p>
            <a:pPr algn="ctr">
              <a:spcAft>
                <a:spcPts val="0"/>
              </a:spcAft>
            </a:pPr>
            <a:r>
              <a:rPr sz="1000" b="1">
                <a:solidFill>
                  <a:srgbClr val="FFFFFF"/>
                </a:solidFill>
                <a:latin typeface="Aptos"/>
              </a:rPr>
              <a:t>2</a:t>
            </a:r>
          </a:p>
        </p:txBody>
      </p:sp>
      <p:sp>
        <p:nvSpPr>
          <p:cNvPr id="16" name="TextBox 15"/>
          <p:cNvSpPr txBox="1"/>
          <p:nvPr/>
        </p:nvSpPr>
        <p:spPr>
          <a:xfrm>
            <a:off x="5175504" y="1792224"/>
            <a:ext cx="2286000" cy="292608"/>
          </a:xfrm>
          <a:prstGeom prst="rect">
            <a:avLst/>
          </a:prstGeom>
          <a:noFill/>
        </p:spPr>
        <p:txBody>
          <a:bodyPr wrap="none" lIns="27432" rIns="27432" tIns="27432" bIns="27432" anchor="t">
            <a:spAutoFit/>
          </a:bodyPr>
          <a:lstStyle/>
          <a:p>
            <a:pPr algn="l">
              <a:spcAft>
                <a:spcPts val="0"/>
              </a:spcAft>
            </a:pPr>
            <a:r>
              <a:rPr sz="1200" b="1">
                <a:solidFill>
                  <a:srgbClr val="007E79"/>
                </a:solidFill>
                <a:latin typeface="Aptos"/>
              </a:rPr>
              <a:t>PRECISION</a:t>
            </a:r>
          </a:p>
        </p:txBody>
      </p:sp>
      <p:sp>
        <p:nvSpPr>
          <p:cNvPr id="17" name="TextBox 16"/>
          <p:cNvSpPr txBox="1"/>
          <p:nvPr/>
        </p:nvSpPr>
        <p:spPr>
          <a:xfrm>
            <a:off x="4645152" y="2487168"/>
            <a:ext cx="2926080" cy="548640"/>
          </a:xfrm>
          <a:prstGeom prst="rect">
            <a:avLst/>
          </a:prstGeom>
          <a:noFill/>
        </p:spPr>
        <p:txBody>
          <a:bodyPr wrap="none" lIns="27432" rIns="27432" tIns="27432" bIns="27432" anchor="t">
            <a:spAutoFit/>
          </a:bodyPr>
          <a:lstStyle/>
          <a:p>
            <a:pPr algn="l">
              <a:spcAft>
                <a:spcPts val="0"/>
              </a:spcAft>
            </a:pPr>
            <a:r>
              <a:rPr sz="1600" b="1">
                <a:solidFill>
                  <a:srgbClr val="103446"/>
                </a:solidFill>
                <a:latin typeface="Aptos"/>
              </a:rPr>
              <a:t>Which state program moved?</a:t>
            </a:r>
          </a:p>
        </p:txBody>
      </p:sp>
      <p:sp>
        <p:nvSpPr>
          <p:cNvPr id="18" name="TextBox 17"/>
          <p:cNvSpPr txBox="1"/>
          <p:nvPr/>
        </p:nvSpPr>
        <p:spPr>
          <a:xfrm>
            <a:off x="4645152" y="3273552"/>
            <a:ext cx="2907792" cy="841248"/>
          </a:xfrm>
          <a:prstGeom prst="rect">
            <a:avLst/>
          </a:prstGeom>
          <a:noFill/>
        </p:spPr>
        <p:txBody>
          <a:bodyPr wrap="none" lIns="27432" rIns="27432" tIns="27432" bIns="27432" anchor="t">
            <a:spAutoFit/>
          </a:bodyPr>
          <a:lstStyle/>
          <a:p>
            <a:pPr algn="l">
              <a:spcAft>
                <a:spcPts val="0"/>
              </a:spcAft>
            </a:pPr>
            <a:r>
              <a:rPr sz="1100" b="0">
                <a:solidFill>
                  <a:srgbClr val="1F2B30"/>
                </a:solidFill>
                <a:latin typeface="Aptos"/>
              </a:rPr>
              <a:t>Direction toward activation, Th1/Th2, memory, Treg or exhaustion.</a:t>
            </a:r>
          </a:p>
        </p:txBody>
      </p:sp>
      <p:sp>
        <p:nvSpPr>
          <p:cNvPr id="19" name="Rounded Rectangle 18"/>
          <p:cNvSpPr/>
          <p:nvPr/>
        </p:nvSpPr>
        <p:spPr>
          <a:xfrm>
            <a:off x="8211311" y="1508760"/>
            <a:ext cx="3456432" cy="3246120"/>
          </a:xfrm>
          <a:prstGeom prst="roundRect">
            <a:avLst/>
          </a:prstGeom>
          <a:solidFill>
            <a:srgbClr val="FFFFFF"/>
          </a:solidFill>
          <a:ln w="10160">
            <a:solidFill>
              <a:srgbClr val="D8DC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30767" y="1755648"/>
            <a:ext cx="438912" cy="438912"/>
          </a:xfrm>
          <a:prstGeom prst="ellipse">
            <a:avLst/>
          </a:prstGeom>
          <a:solidFill>
            <a:srgbClr val="1034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30767" y="1847088"/>
            <a:ext cx="438912" cy="164592"/>
          </a:xfrm>
          <a:prstGeom prst="rect">
            <a:avLst/>
          </a:prstGeom>
          <a:noFill/>
        </p:spPr>
        <p:txBody>
          <a:bodyPr wrap="none" lIns="27432" rIns="27432" tIns="27432" bIns="27432" anchor="t">
            <a:spAutoFit/>
          </a:bodyPr>
          <a:lstStyle/>
          <a:p>
            <a:pPr algn="ctr">
              <a:spcAft>
                <a:spcPts val="0"/>
              </a:spcAft>
            </a:pPr>
            <a:r>
              <a:rPr sz="1000" b="1">
                <a:solidFill>
                  <a:srgbClr val="FFFFFF"/>
                </a:solidFill>
                <a:latin typeface="Aptos"/>
              </a:rPr>
              <a:t>3</a:t>
            </a:r>
          </a:p>
        </p:txBody>
      </p:sp>
      <p:sp>
        <p:nvSpPr>
          <p:cNvPr id="22" name="TextBox 21"/>
          <p:cNvSpPr txBox="1"/>
          <p:nvPr/>
        </p:nvSpPr>
        <p:spPr>
          <a:xfrm>
            <a:off x="8997695" y="1792224"/>
            <a:ext cx="2286000" cy="292608"/>
          </a:xfrm>
          <a:prstGeom prst="rect">
            <a:avLst/>
          </a:prstGeom>
          <a:noFill/>
        </p:spPr>
        <p:txBody>
          <a:bodyPr wrap="none" lIns="27432" rIns="27432" tIns="27432" bIns="27432" anchor="t">
            <a:spAutoFit/>
          </a:bodyPr>
          <a:lstStyle/>
          <a:p>
            <a:pPr algn="l">
              <a:spcAft>
                <a:spcPts val="0"/>
              </a:spcAft>
            </a:pPr>
            <a:r>
              <a:rPr sz="1200" b="1">
                <a:solidFill>
                  <a:srgbClr val="103446"/>
                </a:solidFill>
                <a:latin typeface="Aptos"/>
              </a:rPr>
              <a:t>REPEATABILITY</a:t>
            </a:r>
          </a:p>
        </p:txBody>
      </p:sp>
      <p:sp>
        <p:nvSpPr>
          <p:cNvPr id="23" name="TextBox 22"/>
          <p:cNvSpPr txBox="1"/>
          <p:nvPr/>
        </p:nvSpPr>
        <p:spPr>
          <a:xfrm>
            <a:off x="8467343" y="2487168"/>
            <a:ext cx="2926080" cy="548640"/>
          </a:xfrm>
          <a:prstGeom prst="rect">
            <a:avLst/>
          </a:prstGeom>
          <a:noFill/>
        </p:spPr>
        <p:txBody>
          <a:bodyPr wrap="none" lIns="27432" rIns="27432" tIns="27432" bIns="27432" anchor="t">
            <a:spAutoFit/>
          </a:bodyPr>
          <a:lstStyle/>
          <a:p>
            <a:pPr algn="l">
              <a:spcAft>
                <a:spcPts val="0"/>
              </a:spcAft>
            </a:pPr>
            <a:r>
              <a:rPr sz="1600" b="1">
                <a:solidFill>
                  <a:srgbClr val="103446"/>
                </a:solidFill>
                <a:latin typeface="Aptos"/>
              </a:rPr>
              <a:t>Did independent units agree?</a:t>
            </a:r>
          </a:p>
        </p:txBody>
      </p:sp>
      <p:sp>
        <p:nvSpPr>
          <p:cNvPr id="24" name="TextBox 23"/>
          <p:cNvSpPr txBox="1"/>
          <p:nvPr/>
        </p:nvSpPr>
        <p:spPr>
          <a:xfrm>
            <a:off x="8467343" y="3273552"/>
            <a:ext cx="2907792" cy="841248"/>
          </a:xfrm>
          <a:prstGeom prst="rect">
            <a:avLst/>
          </a:prstGeom>
          <a:noFill/>
        </p:spPr>
        <p:txBody>
          <a:bodyPr wrap="none" lIns="27432" rIns="27432" tIns="27432" bIns="27432" anchor="t">
            <a:spAutoFit/>
          </a:bodyPr>
          <a:lstStyle/>
          <a:p>
            <a:pPr algn="l">
              <a:spcAft>
                <a:spcPts val="0"/>
              </a:spcAft>
            </a:pPr>
            <a:r>
              <a:rPr sz="1100" b="0">
                <a:solidFill>
                  <a:srgbClr val="1F2B30"/>
                </a:solidFill>
                <a:latin typeface="Aptos"/>
              </a:rPr>
              <a:t>Different guides and donors should reproduce the direction.</a:t>
            </a:r>
          </a:p>
        </p:txBody>
      </p:sp>
      <p:sp>
        <p:nvSpPr>
          <p:cNvPr id="25" name="Rounded Rectangle 24"/>
          <p:cNvSpPr/>
          <p:nvPr/>
        </p:nvSpPr>
        <p:spPr>
          <a:xfrm>
            <a:off x="1115568" y="5093208"/>
            <a:ext cx="9966960" cy="713232"/>
          </a:xfrm>
          <a:prstGeom prst="roundRect">
            <a:avLst/>
          </a:prstGeom>
          <a:solidFill>
            <a:srgbClr val="103446"/>
          </a:solidFill>
          <a:ln w="10160">
            <a:solidFill>
              <a:srgbClr val="1034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353312" y="5303520"/>
            <a:ext cx="9491472" cy="274320"/>
          </a:xfrm>
          <a:prstGeom prst="rect">
            <a:avLst/>
          </a:prstGeom>
          <a:noFill/>
        </p:spPr>
        <p:txBody>
          <a:bodyPr wrap="none" lIns="27432" rIns="27432" tIns="27432" bIns="27432" anchor="t">
            <a:spAutoFit/>
          </a:bodyPr>
          <a:lstStyle/>
          <a:p>
            <a:pPr algn="ctr">
              <a:spcAft>
                <a:spcPts val="0"/>
              </a:spcAft>
            </a:pPr>
            <a:r>
              <a:rPr sz="1400" b="1">
                <a:solidFill>
                  <a:srgbClr val="FFFFFF"/>
                </a:solidFill>
                <a:latin typeface="Aptos"/>
              </a:rPr>
              <a:t>A candidate controller needs all three answers. Magnitude alone is necessary, but not sufficient.</a:t>
            </a:r>
          </a:p>
        </p:txBody>
      </p:sp>
      <p:sp>
        <p:nvSpPr>
          <p:cNvPr id="27" name="TextBox 26"/>
          <p:cNvSpPr txBox="1"/>
          <p:nvPr/>
        </p:nvSpPr>
        <p:spPr>
          <a:xfrm>
            <a:off x="475488" y="6556248"/>
            <a:ext cx="6492240" cy="146304"/>
          </a:xfrm>
          <a:prstGeom prst="rect">
            <a:avLst/>
          </a:prstGeom>
          <a:noFill/>
        </p:spPr>
        <p:txBody>
          <a:bodyPr wrap="none" lIns="27432" rIns="27432" tIns="27432" bIns="27432" anchor="t">
            <a:spAutoFit/>
          </a:bodyPr>
          <a:lstStyle/>
          <a:p>
            <a:pPr algn="l">
              <a:spcAft>
                <a:spcPts val="0"/>
              </a:spcAft>
            </a:pPr>
            <a:r>
              <a:rPr sz="650" b="0">
                <a:solidFill>
                  <a:srgbClr val="5B6A6F"/>
                </a:solidFill>
                <a:latin typeface="Aptos"/>
              </a:rPr>
              <a:t>T-CTRL · powered by ISCI · Built with Claude: Life Sciences</a:t>
            </a:r>
          </a:p>
        </p:txBody>
      </p:sp>
      <p:sp>
        <p:nvSpPr>
          <p:cNvPr id="28" name="TextBox 27"/>
          <p:cNvSpPr txBox="1"/>
          <p:nvPr/>
        </p:nvSpPr>
        <p:spPr>
          <a:xfrm>
            <a:off x="6583680" y="6556248"/>
            <a:ext cx="4892040" cy="146304"/>
          </a:xfrm>
          <a:prstGeom prst="rect">
            <a:avLst/>
          </a:prstGeom>
          <a:noFill/>
        </p:spPr>
        <p:txBody>
          <a:bodyPr wrap="none" lIns="27432" rIns="27432" tIns="27432" bIns="27432" anchor="t">
            <a:spAutoFit/>
          </a:bodyPr>
          <a:lstStyle/>
          <a:p>
            <a:pPr algn="r">
              <a:spcAft>
                <a:spcPts val="0"/>
              </a:spcAft>
            </a:pPr>
            <a:r>
              <a:rPr sz="620" b="0">
                <a:solidFill>
                  <a:srgbClr val="5B6A6F"/>
                </a:solidFill>
                <a:latin typeface="Aptos"/>
              </a:rPr>
              <a:t>Method: docs/method.md</a:t>
            </a:r>
          </a:p>
        </p:txBody>
      </p:sp>
      <p:sp>
        <p:nvSpPr>
          <p:cNvPr id="29" name="TextBox 28"/>
          <p:cNvSpPr txBox="1"/>
          <p:nvPr/>
        </p:nvSpPr>
        <p:spPr>
          <a:xfrm>
            <a:off x="11503152" y="6556248"/>
            <a:ext cx="182880" cy="146304"/>
          </a:xfrm>
          <a:prstGeom prst="rect">
            <a:avLst/>
          </a:prstGeom>
          <a:noFill/>
        </p:spPr>
        <p:txBody>
          <a:bodyPr wrap="none" lIns="27432" rIns="27432" tIns="27432" bIns="27432" anchor="t">
            <a:spAutoFit/>
          </a:bodyPr>
          <a:lstStyle/>
          <a:p>
            <a:pPr algn="r">
              <a:spcAft>
                <a:spcPts val="0"/>
              </a:spcAft>
            </a:pPr>
            <a:r>
              <a:rPr sz="650" b="0">
                <a:solidFill>
                  <a:srgbClr val="5B6A6F"/>
                </a:solidFill>
                <a:latin typeface="Apt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7F2"/>
        </a:solidFill>
        <a:effectLst/>
      </p:bgPr>
    </p:bg>
    <p:spTree>
      <p:nvGrpSpPr>
        <p:cNvPr id="1" name=""/>
        <p:cNvGrpSpPr/>
        <p:nvPr/>
      </p:nvGrpSpPr>
      <p:grpSpPr/>
      <p:sp>
        <p:nvSpPr>
          <p:cNvPr id="2" name="TextBox 1"/>
          <p:cNvSpPr txBox="1"/>
          <p:nvPr/>
        </p:nvSpPr>
        <p:spPr>
          <a:xfrm>
            <a:off x="475488" y="274320"/>
            <a:ext cx="6217920" cy="228600"/>
          </a:xfrm>
          <a:prstGeom prst="rect">
            <a:avLst/>
          </a:prstGeom>
          <a:noFill/>
        </p:spPr>
        <p:txBody>
          <a:bodyPr wrap="none" lIns="27432" rIns="27432" tIns="27432" bIns="27432" anchor="t">
            <a:spAutoFit/>
          </a:bodyPr>
          <a:lstStyle/>
          <a:p>
            <a:pPr algn="l">
              <a:spcAft>
                <a:spcPts val="0"/>
              </a:spcAft>
            </a:pPr>
            <a:r>
              <a:rPr sz="850" b="1">
                <a:solidFill>
                  <a:srgbClr val="007E79"/>
                </a:solidFill>
                <a:latin typeface="Aptos"/>
              </a:rPr>
              <a:t>HOW THE STUDY READS A PERTURBATION</a:t>
            </a:r>
          </a:p>
        </p:txBody>
      </p:sp>
      <p:sp>
        <p:nvSpPr>
          <p:cNvPr id="3" name="TextBox 2"/>
          <p:cNvSpPr txBox="1"/>
          <p:nvPr/>
        </p:nvSpPr>
        <p:spPr>
          <a:xfrm>
            <a:off x="475488" y="566928"/>
            <a:ext cx="11064240" cy="530352"/>
          </a:xfrm>
          <a:prstGeom prst="rect">
            <a:avLst/>
          </a:prstGeom>
          <a:noFill/>
        </p:spPr>
        <p:txBody>
          <a:bodyPr wrap="none" lIns="27432" rIns="27432" tIns="27432" bIns="27432" anchor="t">
            <a:spAutoFit/>
          </a:bodyPr>
          <a:lstStyle/>
          <a:p>
            <a:pPr algn="l">
              <a:spcAft>
                <a:spcPts val="0"/>
              </a:spcAft>
            </a:pPr>
            <a:r>
              <a:rPr sz="2500" b="1">
                <a:solidFill>
                  <a:srgbClr val="103446"/>
                </a:solidFill>
                <a:latin typeface="Aptos"/>
              </a:rPr>
              <a:t>The useful question is: where did the T cell go?</a:t>
            </a:r>
          </a:p>
        </p:txBody>
      </p:sp>
      <p:sp>
        <p:nvSpPr>
          <p:cNvPr id="4" name="Rectangle 3"/>
          <p:cNvSpPr/>
          <p:nvPr/>
        </p:nvSpPr>
        <p:spPr>
          <a:xfrm>
            <a:off x="475488" y="1143000"/>
            <a:ext cx="11228832" cy="16459"/>
          </a:xfrm>
          <a:prstGeom prst="rect">
            <a:avLst/>
          </a:prstGeom>
          <a:solidFill>
            <a:srgbClr val="007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225296"/>
            <a:ext cx="10972800" cy="384048"/>
          </a:xfrm>
          <a:prstGeom prst="rect">
            <a:avLst/>
          </a:prstGeom>
          <a:noFill/>
        </p:spPr>
        <p:txBody>
          <a:bodyPr wrap="none" lIns="27432" rIns="27432" tIns="27432" bIns="27432" anchor="t">
            <a:spAutoFit/>
          </a:bodyPr>
          <a:lstStyle/>
          <a:p>
            <a:pPr algn="l">
              <a:spcAft>
                <a:spcPts val="0"/>
              </a:spcAft>
            </a:pPr>
            <a:r>
              <a:rPr sz="1050" b="0">
                <a:solidFill>
                  <a:srgbClr val="5B6A6F"/>
                </a:solidFill>
                <a:latin typeface="Aptos"/>
              </a:rPr>
              <a:t>Perturb one gene, read the transcriptome, then compare functional direction across guides, donors and contexts.</a:t>
            </a:r>
          </a:p>
        </p:txBody>
      </p:sp>
      <p:sp>
        <p:nvSpPr>
          <p:cNvPr id="6" name="TextBox 5"/>
          <p:cNvSpPr txBox="1"/>
          <p:nvPr/>
        </p:nvSpPr>
        <p:spPr>
          <a:xfrm>
            <a:off x="475488" y="6556248"/>
            <a:ext cx="6492240" cy="146304"/>
          </a:xfrm>
          <a:prstGeom prst="rect">
            <a:avLst/>
          </a:prstGeom>
          <a:noFill/>
        </p:spPr>
        <p:txBody>
          <a:bodyPr wrap="none" lIns="27432" rIns="27432" tIns="27432" bIns="27432" anchor="t">
            <a:spAutoFit/>
          </a:bodyPr>
          <a:lstStyle/>
          <a:p>
            <a:pPr algn="l">
              <a:spcAft>
                <a:spcPts val="0"/>
              </a:spcAft>
            </a:pPr>
            <a:r>
              <a:rPr sz="650" b="0">
                <a:solidFill>
                  <a:srgbClr val="5B6A6F"/>
                </a:solidFill>
                <a:latin typeface="Aptos"/>
              </a:rPr>
              <a:t>T-CTRL · powered by ISCI · Built with Claude: Life Sciences</a:t>
            </a:r>
          </a:p>
        </p:txBody>
      </p:sp>
      <p:sp>
        <p:nvSpPr>
          <p:cNvPr id="7" name="TextBox 6"/>
          <p:cNvSpPr txBox="1"/>
          <p:nvPr/>
        </p:nvSpPr>
        <p:spPr>
          <a:xfrm>
            <a:off x="11503152" y="6556248"/>
            <a:ext cx="182880" cy="146304"/>
          </a:xfrm>
          <a:prstGeom prst="rect">
            <a:avLst/>
          </a:prstGeom>
          <a:noFill/>
        </p:spPr>
        <p:txBody>
          <a:bodyPr wrap="none" lIns="27432" rIns="27432" tIns="27432" bIns="27432" anchor="t">
            <a:spAutoFit/>
          </a:bodyPr>
          <a:lstStyle/>
          <a:p>
            <a:pPr algn="r">
              <a:spcAft>
                <a:spcPts val="0"/>
              </a:spcAft>
            </a:pPr>
            <a:r>
              <a:rPr sz="650" b="0">
                <a:solidFill>
                  <a:srgbClr val="5B6A6F"/>
                </a:solidFill>
                <a:latin typeface="Aptos"/>
              </a:rPr>
              <a:t>3</a:t>
            </a:r>
          </a:p>
        </p:txBody>
      </p:sp>
      <p:sp>
        <p:nvSpPr>
          <p:cNvPr id="8" name="Rounded Rectangle 7"/>
          <p:cNvSpPr/>
          <p:nvPr/>
        </p:nvSpPr>
        <p:spPr>
          <a:xfrm>
            <a:off x="502920" y="1847088"/>
            <a:ext cx="2487168" cy="1481328"/>
          </a:xfrm>
          <a:prstGeom prst="roundRect">
            <a:avLst/>
          </a:prstGeom>
          <a:solidFill>
            <a:srgbClr val="FFFFFF"/>
          </a:solidFill>
          <a:ln w="10160">
            <a:solidFill>
              <a:srgbClr val="D8DC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2011680"/>
            <a:ext cx="237744" cy="182880"/>
          </a:xfrm>
          <a:prstGeom prst="rect">
            <a:avLst/>
          </a:prstGeom>
          <a:noFill/>
        </p:spPr>
        <p:txBody>
          <a:bodyPr wrap="none" lIns="27432" rIns="27432" tIns="27432" bIns="27432" anchor="t">
            <a:spAutoFit/>
          </a:bodyPr>
          <a:lstStyle/>
          <a:p>
            <a:pPr algn="l">
              <a:spcAft>
                <a:spcPts val="0"/>
              </a:spcAft>
            </a:pPr>
            <a:r>
              <a:rPr sz="900" b="1">
                <a:solidFill>
                  <a:srgbClr val="007E79"/>
                </a:solidFill>
                <a:latin typeface="Aptos"/>
              </a:rPr>
              <a:t>1</a:t>
            </a:r>
          </a:p>
        </p:txBody>
      </p:sp>
      <p:sp>
        <p:nvSpPr>
          <p:cNvPr id="10" name="TextBox 9"/>
          <p:cNvSpPr txBox="1"/>
          <p:nvPr/>
        </p:nvSpPr>
        <p:spPr>
          <a:xfrm>
            <a:off x="667512" y="2304288"/>
            <a:ext cx="2148840" cy="329184"/>
          </a:xfrm>
          <a:prstGeom prst="rect">
            <a:avLst/>
          </a:prstGeom>
          <a:noFill/>
        </p:spPr>
        <p:txBody>
          <a:bodyPr wrap="none" lIns="27432" rIns="27432" tIns="27432" bIns="27432" anchor="t">
            <a:spAutoFit/>
          </a:bodyPr>
          <a:lstStyle/>
          <a:p>
            <a:pPr algn="l">
              <a:spcAft>
                <a:spcPts val="0"/>
              </a:spcAft>
            </a:pPr>
            <a:r>
              <a:rPr sz="1120" b="1">
                <a:solidFill>
                  <a:srgbClr val="103446"/>
                </a:solidFill>
                <a:latin typeface="Aptos"/>
              </a:rPr>
              <a:t>CRISPR</a:t>
            </a:r>
          </a:p>
        </p:txBody>
      </p:sp>
      <p:sp>
        <p:nvSpPr>
          <p:cNvPr id="11" name="TextBox 10"/>
          <p:cNvSpPr txBox="1"/>
          <p:nvPr/>
        </p:nvSpPr>
        <p:spPr>
          <a:xfrm>
            <a:off x="667512" y="2743200"/>
            <a:ext cx="2121408" cy="420624"/>
          </a:xfrm>
          <a:prstGeom prst="rect">
            <a:avLst/>
          </a:prstGeom>
          <a:noFill/>
        </p:spPr>
        <p:txBody>
          <a:bodyPr wrap="none" lIns="27432" rIns="27432" tIns="27432" bIns="27432" anchor="t">
            <a:spAutoFit/>
          </a:bodyPr>
          <a:lstStyle/>
          <a:p>
            <a:pPr algn="l">
              <a:spcAft>
                <a:spcPts val="0"/>
              </a:spcAft>
            </a:pPr>
            <a:r>
              <a:rPr sz="919" b="0">
                <a:solidFill>
                  <a:srgbClr val="1F2B30"/>
                </a:solidFill>
                <a:latin typeface="Aptos"/>
              </a:rPr>
              <a:t>Reduce one defined gene.</a:t>
            </a:r>
          </a:p>
        </p:txBody>
      </p:sp>
      <p:sp>
        <p:nvSpPr>
          <p:cNvPr id="12" name="TextBox 11"/>
          <p:cNvSpPr txBox="1"/>
          <p:nvPr/>
        </p:nvSpPr>
        <p:spPr>
          <a:xfrm>
            <a:off x="3026663" y="2395728"/>
            <a:ext cx="310896" cy="310896"/>
          </a:xfrm>
          <a:prstGeom prst="rect">
            <a:avLst/>
          </a:prstGeom>
          <a:noFill/>
        </p:spPr>
        <p:txBody>
          <a:bodyPr wrap="none" lIns="27432" rIns="27432" tIns="27432" bIns="27432" anchor="t">
            <a:spAutoFit/>
          </a:bodyPr>
          <a:lstStyle/>
          <a:p>
            <a:pPr algn="ctr">
              <a:spcAft>
                <a:spcPts val="0"/>
              </a:spcAft>
            </a:pPr>
            <a:r>
              <a:rPr sz="2000" b="1">
                <a:solidFill>
                  <a:srgbClr val="007E79"/>
                </a:solidFill>
                <a:latin typeface="Aptos"/>
              </a:rPr>
              <a:t>→</a:t>
            </a:r>
          </a:p>
        </p:txBody>
      </p:sp>
      <p:sp>
        <p:nvSpPr>
          <p:cNvPr id="13" name="Rounded Rectangle 12"/>
          <p:cNvSpPr/>
          <p:nvPr/>
        </p:nvSpPr>
        <p:spPr>
          <a:xfrm>
            <a:off x="3410712" y="1847088"/>
            <a:ext cx="2487168" cy="1481328"/>
          </a:xfrm>
          <a:prstGeom prst="roundRect">
            <a:avLst/>
          </a:prstGeom>
          <a:solidFill>
            <a:srgbClr val="FFFFFF"/>
          </a:solidFill>
          <a:ln w="10160">
            <a:solidFill>
              <a:srgbClr val="D8DC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75304" y="2011680"/>
            <a:ext cx="237744" cy="182880"/>
          </a:xfrm>
          <a:prstGeom prst="rect">
            <a:avLst/>
          </a:prstGeom>
          <a:noFill/>
        </p:spPr>
        <p:txBody>
          <a:bodyPr wrap="none" lIns="27432" rIns="27432" tIns="27432" bIns="27432" anchor="t">
            <a:spAutoFit/>
          </a:bodyPr>
          <a:lstStyle/>
          <a:p>
            <a:pPr algn="l">
              <a:spcAft>
                <a:spcPts val="0"/>
              </a:spcAft>
            </a:pPr>
            <a:r>
              <a:rPr sz="900" b="1">
                <a:solidFill>
                  <a:srgbClr val="007E79"/>
                </a:solidFill>
                <a:latin typeface="Aptos"/>
              </a:rPr>
              <a:t>2</a:t>
            </a:r>
          </a:p>
        </p:txBody>
      </p:sp>
      <p:sp>
        <p:nvSpPr>
          <p:cNvPr id="15" name="TextBox 14"/>
          <p:cNvSpPr txBox="1"/>
          <p:nvPr/>
        </p:nvSpPr>
        <p:spPr>
          <a:xfrm>
            <a:off x="3575304" y="2304288"/>
            <a:ext cx="2148840" cy="329184"/>
          </a:xfrm>
          <a:prstGeom prst="rect">
            <a:avLst/>
          </a:prstGeom>
          <a:noFill/>
        </p:spPr>
        <p:txBody>
          <a:bodyPr wrap="none" lIns="27432" rIns="27432" tIns="27432" bIns="27432" anchor="t">
            <a:spAutoFit/>
          </a:bodyPr>
          <a:lstStyle/>
          <a:p>
            <a:pPr algn="l">
              <a:spcAft>
                <a:spcPts val="0"/>
              </a:spcAft>
            </a:pPr>
            <a:r>
              <a:rPr sz="1120" b="1">
                <a:solidFill>
                  <a:srgbClr val="103446"/>
                </a:solidFill>
                <a:latin typeface="Aptos"/>
              </a:rPr>
              <a:t>PRIMARY CD4+ T CELL</a:t>
            </a:r>
          </a:p>
        </p:txBody>
      </p:sp>
      <p:sp>
        <p:nvSpPr>
          <p:cNvPr id="16" name="TextBox 15"/>
          <p:cNvSpPr txBox="1"/>
          <p:nvPr/>
        </p:nvSpPr>
        <p:spPr>
          <a:xfrm>
            <a:off x="3575304" y="2743200"/>
            <a:ext cx="2121408" cy="420624"/>
          </a:xfrm>
          <a:prstGeom prst="rect">
            <a:avLst/>
          </a:prstGeom>
          <a:noFill/>
        </p:spPr>
        <p:txBody>
          <a:bodyPr wrap="none" lIns="27432" rIns="27432" tIns="27432" bIns="27432" anchor="t">
            <a:spAutoFit/>
          </a:bodyPr>
          <a:lstStyle/>
          <a:p>
            <a:pPr algn="l">
              <a:spcAft>
                <a:spcPts val="0"/>
              </a:spcAft>
            </a:pPr>
            <a:r>
              <a:rPr sz="919" b="0">
                <a:solidFill>
                  <a:srgbClr val="1F2B30"/>
                </a:solidFill>
                <a:latin typeface="Aptos"/>
              </a:rPr>
              <a:t>Rest and stimulation provide context.</a:t>
            </a:r>
          </a:p>
        </p:txBody>
      </p:sp>
      <p:sp>
        <p:nvSpPr>
          <p:cNvPr id="17" name="TextBox 16"/>
          <p:cNvSpPr txBox="1"/>
          <p:nvPr/>
        </p:nvSpPr>
        <p:spPr>
          <a:xfrm>
            <a:off x="5934456" y="2395728"/>
            <a:ext cx="310896" cy="310896"/>
          </a:xfrm>
          <a:prstGeom prst="rect">
            <a:avLst/>
          </a:prstGeom>
          <a:noFill/>
        </p:spPr>
        <p:txBody>
          <a:bodyPr wrap="none" lIns="27432" rIns="27432" tIns="27432" bIns="27432" anchor="t">
            <a:spAutoFit/>
          </a:bodyPr>
          <a:lstStyle/>
          <a:p>
            <a:pPr algn="ctr">
              <a:spcAft>
                <a:spcPts val="0"/>
              </a:spcAft>
            </a:pPr>
            <a:r>
              <a:rPr sz="2000" b="1">
                <a:solidFill>
                  <a:srgbClr val="007E79"/>
                </a:solidFill>
                <a:latin typeface="Aptos"/>
              </a:rPr>
              <a:t>→</a:t>
            </a:r>
          </a:p>
        </p:txBody>
      </p:sp>
      <p:sp>
        <p:nvSpPr>
          <p:cNvPr id="18" name="Rounded Rectangle 17"/>
          <p:cNvSpPr/>
          <p:nvPr/>
        </p:nvSpPr>
        <p:spPr>
          <a:xfrm>
            <a:off x="6318504" y="1847088"/>
            <a:ext cx="2487168" cy="1481328"/>
          </a:xfrm>
          <a:prstGeom prst="roundRect">
            <a:avLst/>
          </a:prstGeom>
          <a:solidFill>
            <a:srgbClr val="FFFFFF"/>
          </a:solidFill>
          <a:ln w="10160">
            <a:solidFill>
              <a:srgbClr val="D8DC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83096" y="2011680"/>
            <a:ext cx="237744" cy="182880"/>
          </a:xfrm>
          <a:prstGeom prst="rect">
            <a:avLst/>
          </a:prstGeom>
          <a:noFill/>
        </p:spPr>
        <p:txBody>
          <a:bodyPr wrap="none" lIns="27432" rIns="27432" tIns="27432" bIns="27432" anchor="t">
            <a:spAutoFit/>
          </a:bodyPr>
          <a:lstStyle/>
          <a:p>
            <a:pPr algn="l">
              <a:spcAft>
                <a:spcPts val="0"/>
              </a:spcAft>
            </a:pPr>
            <a:r>
              <a:rPr sz="900" b="1">
                <a:solidFill>
                  <a:srgbClr val="007E79"/>
                </a:solidFill>
                <a:latin typeface="Aptos"/>
              </a:rPr>
              <a:t>3</a:t>
            </a:r>
          </a:p>
        </p:txBody>
      </p:sp>
      <p:sp>
        <p:nvSpPr>
          <p:cNvPr id="20" name="TextBox 19"/>
          <p:cNvSpPr txBox="1"/>
          <p:nvPr/>
        </p:nvSpPr>
        <p:spPr>
          <a:xfrm>
            <a:off x="6483096" y="2304288"/>
            <a:ext cx="2148840" cy="329184"/>
          </a:xfrm>
          <a:prstGeom prst="rect">
            <a:avLst/>
          </a:prstGeom>
          <a:noFill/>
        </p:spPr>
        <p:txBody>
          <a:bodyPr wrap="none" lIns="27432" rIns="27432" tIns="27432" bIns="27432" anchor="t">
            <a:spAutoFit/>
          </a:bodyPr>
          <a:lstStyle/>
          <a:p>
            <a:pPr algn="l">
              <a:spcAft>
                <a:spcPts val="0"/>
              </a:spcAft>
            </a:pPr>
            <a:r>
              <a:rPr sz="1120" b="1">
                <a:solidFill>
                  <a:srgbClr val="103446"/>
                </a:solidFill>
                <a:latin typeface="Aptos"/>
              </a:rPr>
              <a:t>PERTURB-SEQ</a:t>
            </a:r>
          </a:p>
        </p:txBody>
      </p:sp>
      <p:sp>
        <p:nvSpPr>
          <p:cNvPr id="21" name="TextBox 20"/>
          <p:cNvSpPr txBox="1"/>
          <p:nvPr/>
        </p:nvSpPr>
        <p:spPr>
          <a:xfrm>
            <a:off x="6483096" y="2743200"/>
            <a:ext cx="2121408" cy="420624"/>
          </a:xfrm>
          <a:prstGeom prst="rect">
            <a:avLst/>
          </a:prstGeom>
          <a:noFill/>
        </p:spPr>
        <p:txBody>
          <a:bodyPr wrap="none" lIns="27432" rIns="27432" tIns="27432" bIns="27432" anchor="t">
            <a:spAutoFit/>
          </a:bodyPr>
          <a:lstStyle/>
          <a:p>
            <a:pPr algn="l">
              <a:spcAft>
                <a:spcPts val="0"/>
              </a:spcAft>
            </a:pPr>
            <a:r>
              <a:rPr sz="919" b="0">
                <a:solidFill>
                  <a:srgbClr val="1F2B30"/>
                </a:solidFill>
                <a:latin typeface="Aptos"/>
              </a:rPr>
              <a:t>Thousands of transcripts reveal the state shift.</a:t>
            </a:r>
          </a:p>
        </p:txBody>
      </p:sp>
      <p:sp>
        <p:nvSpPr>
          <p:cNvPr id="22" name="TextBox 21"/>
          <p:cNvSpPr txBox="1"/>
          <p:nvPr/>
        </p:nvSpPr>
        <p:spPr>
          <a:xfrm>
            <a:off x="8842248" y="2395728"/>
            <a:ext cx="310896" cy="310896"/>
          </a:xfrm>
          <a:prstGeom prst="rect">
            <a:avLst/>
          </a:prstGeom>
          <a:noFill/>
        </p:spPr>
        <p:txBody>
          <a:bodyPr wrap="none" lIns="27432" rIns="27432" tIns="27432" bIns="27432" anchor="t">
            <a:spAutoFit/>
          </a:bodyPr>
          <a:lstStyle/>
          <a:p>
            <a:pPr algn="ctr">
              <a:spcAft>
                <a:spcPts val="0"/>
              </a:spcAft>
            </a:pPr>
            <a:r>
              <a:rPr sz="2000" b="1">
                <a:solidFill>
                  <a:srgbClr val="007E79"/>
                </a:solidFill>
                <a:latin typeface="Aptos"/>
              </a:rPr>
              <a:t>→</a:t>
            </a:r>
          </a:p>
        </p:txBody>
      </p:sp>
      <p:sp>
        <p:nvSpPr>
          <p:cNvPr id="23" name="Rounded Rectangle 22"/>
          <p:cNvSpPr/>
          <p:nvPr/>
        </p:nvSpPr>
        <p:spPr>
          <a:xfrm>
            <a:off x="9226296" y="1847088"/>
            <a:ext cx="2487168" cy="1481328"/>
          </a:xfrm>
          <a:prstGeom prst="roundRect">
            <a:avLst/>
          </a:prstGeom>
          <a:solidFill>
            <a:srgbClr val="DAF1EB"/>
          </a:solidFill>
          <a:ln w="10160">
            <a:solidFill>
              <a:srgbClr val="D8DC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90888" y="2011680"/>
            <a:ext cx="237744" cy="182880"/>
          </a:xfrm>
          <a:prstGeom prst="rect">
            <a:avLst/>
          </a:prstGeom>
          <a:noFill/>
        </p:spPr>
        <p:txBody>
          <a:bodyPr wrap="none" lIns="27432" rIns="27432" tIns="27432" bIns="27432" anchor="t">
            <a:spAutoFit/>
          </a:bodyPr>
          <a:lstStyle/>
          <a:p>
            <a:pPr algn="l">
              <a:spcAft>
                <a:spcPts val="0"/>
              </a:spcAft>
            </a:pPr>
            <a:r>
              <a:rPr sz="900" b="1">
                <a:solidFill>
                  <a:srgbClr val="007E79"/>
                </a:solidFill>
                <a:latin typeface="Aptos"/>
              </a:rPr>
              <a:t>4</a:t>
            </a:r>
          </a:p>
        </p:txBody>
      </p:sp>
      <p:sp>
        <p:nvSpPr>
          <p:cNvPr id="25" name="TextBox 24"/>
          <p:cNvSpPr txBox="1"/>
          <p:nvPr/>
        </p:nvSpPr>
        <p:spPr>
          <a:xfrm>
            <a:off x="9390888" y="2304288"/>
            <a:ext cx="2148840" cy="329184"/>
          </a:xfrm>
          <a:prstGeom prst="rect">
            <a:avLst/>
          </a:prstGeom>
          <a:noFill/>
        </p:spPr>
        <p:txBody>
          <a:bodyPr wrap="none" lIns="27432" rIns="27432" tIns="27432" bIns="27432" anchor="t">
            <a:spAutoFit/>
          </a:bodyPr>
          <a:lstStyle/>
          <a:p>
            <a:pPr algn="l">
              <a:spcAft>
                <a:spcPts val="0"/>
              </a:spcAft>
            </a:pPr>
            <a:r>
              <a:rPr sz="1120" b="1">
                <a:solidFill>
                  <a:srgbClr val="103446"/>
                </a:solidFill>
                <a:latin typeface="Aptos"/>
              </a:rPr>
              <a:t>AUDITED COMPARISON</a:t>
            </a:r>
          </a:p>
        </p:txBody>
      </p:sp>
      <p:sp>
        <p:nvSpPr>
          <p:cNvPr id="26" name="TextBox 25"/>
          <p:cNvSpPr txBox="1"/>
          <p:nvPr/>
        </p:nvSpPr>
        <p:spPr>
          <a:xfrm>
            <a:off x="9390888" y="2743200"/>
            <a:ext cx="2121408" cy="420624"/>
          </a:xfrm>
          <a:prstGeom prst="rect">
            <a:avLst/>
          </a:prstGeom>
          <a:noFill/>
        </p:spPr>
        <p:txBody>
          <a:bodyPr wrap="none" lIns="27432" rIns="27432" tIns="27432" bIns="27432" anchor="t">
            <a:spAutoFit/>
          </a:bodyPr>
          <a:lstStyle/>
          <a:p>
            <a:pPr algn="l">
              <a:spcAft>
                <a:spcPts val="0"/>
              </a:spcAft>
            </a:pPr>
            <a:r>
              <a:rPr sz="919" b="0">
                <a:solidFill>
                  <a:srgbClr val="1F2B30"/>
                </a:solidFill>
                <a:latin typeface="Aptos"/>
              </a:rPr>
              <a:t>Guide × donor × context tests repetition.</a:t>
            </a:r>
          </a:p>
        </p:txBody>
      </p:sp>
      <p:sp>
        <p:nvSpPr>
          <p:cNvPr id="27" name="TextBox 26"/>
          <p:cNvSpPr txBox="1"/>
          <p:nvPr/>
        </p:nvSpPr>
        <p:spPr>
          <a:xfrm>
            <a:off x="960120" y="4114800"/>
            <a:ext cx="2651760" cy="384048"/>
          </a:xfrm>
          <a:prstGeom prst="rect">
            <a:avLst/>
          </a:prstGeom>
          <a:noFill/>
        </p:spPr>
        <p:txBody>
          <a:bodyPr wrap="none" lIns="27432" rIns="27432" tIns="27432" bIns="27432" anchor="t">
            <a:spAutoFit/>
          </a:bodyPr>
          <a:lstStyle/>
          <a:p>
            <a:pPr algn="l">
              <a:spcAft>
                <a:spcPts val="0"/>
              </a:spcAft>
            </a:pPr>
            <a:r>
              <a:rPr sz="2200" b="1">
                <a:solidFill>
                  <a:srgbClr val="DA9F2A"/>
                </a:solidFill>
                <a:latin typeface="Aptos"/>
              </a:rPr>
              <a:t>M</a:t>
            </a:r>
          </a:p>
        </p:txBody>
      </p:sp>
      <p:sp>
        <p:nvSpPr>
          <p:cNvPr id="28" name="TextBox 27"/>
          <p:cNvSpPr txBox="1"/>
          <p:nvPr/>
        </p:nvSpPr>
        <p:spPr>
          <a:xfrm>
            <a:off x="960120" y="4517136"/>
            <a:ext cx="2651760" cy="566928"/>
          </a:xfrm>
          <a:prstGeom prst="rect">
            <a:avLst/>
          </a:prstGeom>
          <a:noFill/>
        </p:spPr>
        <p:txBody>
          <a:bodyPr wrap="none" lIns="27432" rIns="27432" tIns="27432" bIns="27432" anchor="t">
            <a:spAutoFit/>
          </a:bodyPr>
          <a:lstStyle/>
          <a:p>
            <a:pPr algn="l">
              <a:spcAft>
                <a:spcPts val="0"/>
              </a:spcAft>
            </a:pPr>
            <a:r>
              <a:rPr sz="919" b="0">
                <a:solidFill>
                  <a:srgbClr val="1F2B30"/>
                </a:solidFill>
                <a:latin typeface="Aptos"/>
              </a:rPr>
              <a:t>Magnitude — how far the profile moved</a:t>
            </a:r>
          </a:p>
        </p:txBody>
      </p:sp>
      <p:sp>
        <p:nvSpPr>
          <p:cNvPr id="29" name="TextBox 28"/>
          <p:cNvSpPr txBox="1"/>
          <p:nvPr/>
        </p:nvSpPr>
        <p:spPr>
          <a:xfrm>
            <a:off x="4590288" y="4114800"/>
            <a:ext cx="2926080" cy="384048"/>
          </a:xfrm>
          <a:prstGeom prst="rect">
            <a:avLst/>
          </a:prstGeom>
          <a:noFill/>
        </p:spPr>
        <p:txBody>
          <a:bodyPr wrap="none" lIns="27432" rIns="27432" tIns="27432" bIns="27432" anchor="t">
            <a:spAutoFit/>
          </a:bodyPr>
          <a:lstStyle/>
          <a:p>
            <a:pPr algn="l">
              <a:spcAft>
                <a:spcPts val="0"/>
              </a:spcAft>
            </a:pPr>
            <a:r>
              <a:rPr sz="2200" b="1">
                <a:solidFill>
                  <a:srgbClr val="007E79"/>
                </a:solidFill>
                <a:latin typeface="Aptos"/>
              </a:rPr>
              <a:t>C₁</a:t>
            </a:r>
          </a:p>
        </p:txBody>
      </p:sp>
      <p:sp>
        <p:nvSpPr>
          <p:cNvPr id="30" name="TextBox 29"/>
          <p:cNvSpPr txBox="1"/>
          <p:nvPr/>
        </p:nvSpPr>
        <p:spPr>
          <a:xfrm>
            <a:off x="4590288" y="4517136"/>
            <a:ext cx="2926080" cy="566928"/>
          </a:xfrm>
          <a:prstGeom prst="rect">
            <a:avLst/>
          </a:prstGeom>
          <a:noFill/>
        </p:spPr>
        <p:txBody>
          <a:bodyPr wrap="none" lIns="27432" rIns="27432" tIns="27432" bIns="27432" anchor="t">
            <a:spAutoFit/>
          </a:bodyPr>
          <a:lstStyle/>
          <a:p>
            <a:pPr algn="l">
              <a:spcAft>
                <a:spcPts val="0"/>
              </a:spcAft>
            </a:pPr>
            <a:r>
              <a:rPr sz="919" b="0">
                <a:solidFill>
                  <a:srgbClr val="1F2B30"/>
                </a:solidFill>
                <a:latin typeface="Aptos"/>
              </a:rPr>
              <a:t>Precision — movement along a frozen state axis</a:t>
            </a:r>
          </a:p>
        </p:txBody>
      </p:sp>
      <p:sp>
        <p:nvSpPr>
          <p:cNvPr id="31" name="TextBox 30"/>
          <p:cNvSpPr txBox="1"/>
          <p:nvPr/>
        </p:nvSpPr>
        <p:spPr>
          <a:xfrm>
            <a:off x="8503920" y="4114800"/>
            <a:ext cx="2743200" cy="384048"/>
          </a:xfrm>
          <a:prstGeom prst="rect">
            <a:avLst/>
          </a:prstGeom>
          <a:noFill/>
        </p:spPr>
        <p:txBody>
          <a:bodyPr wrap="none" lIns="27432" rIns="27432" tIns="27432" bIns="27432" anchor="t">
            <a:spAutoFit/>
          </a:bodyPr>
          <a:lstStyle/>
          <a:p>
            <a:pPr algn="l">
              <a:spcAft>
                <a:spcPts val="0"/>
              </a:spcAft>
            </a:pPr>
            <a:r>
              <a:rPr sz="2200" b="1">
                <a:solidFill>
                  <a:srgbClr val="103446"/>
                </a:solidFill>
                <a:latin typeface="Aptos"/>
              </a:rPr>
              <a:t>C₂</a:t>
            </a:r>
          </a:p>
        </p:txBody>
      </p:sp>
      <p:sp>
        <p:nvSpPr>
          <p:cNvPr id="32" name="TextBox 31"/>
          <p:cNvSpPr txBox="1"/>
          <p:nvPr/>
        </p:nvSpPr>
        <p:spPr>
          <a:xfrm>
            <a:off x="8503920" y="4517136"/>
            <a:ext cx="2743200" cy="566928"/>
          </a:xfrm>
          <a:prstGeom prst="rect">
            <a:avLst/>
          </a:prstGeom>
          <a:noFill/>
        </p:spPr>
        <p:txBody>
          <a:bodyPr wrap="none" lIns="27432" rIns="27432" tIns="27432" bIns="27432" anchor="t">
            <a:spAutoFit/>
          </a:bodyPr>
          <a:lstStyle/>
          <a:p>
            <a:pPr algn="l">
              <a:spcAft>
                <a:spcPts val="0"/>
              </a:spcAft>
            </a:pPr>
            <a:r>
              <a:rPr sz="919" b="0">
                <a:solidFill>
                  <a:srgbClr val="1F2B30"/>
                </a:solidFill>
                <a:latin typeface="Aptos"/>
              </a:rPr>
              <a:t>Repeatability — agreement across biological units</a:t>
            </a:r>
          </a:p>
        </p:txBody>
      </p:sp>
      <p:sp>
        <p:nvSpPr>
          <p:cNvPr id="33" name="Rounded Rectangle 32"/>
          <p:cNvSpPr/>
          <p:nvPr/>
        </p:nvSpPr>
        <p:spPr>
          <a:xfrm>
            <a:off x="1298448" y="5248656"/>
            <a:ext cx="9582912" cy="603504"/>
          </a:xfrm>
          <a:prstGeom prst="roundRect">
            <a:avLst/>
          </a:prstGeom>
          <a:solidFill>
            <a:srgbClr val="DAF1EB"/>
          </a:solidFill>
          <a:ln w="10160">
            <a:solidFill>
              <a:srgbClr val="DAF1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499616" y="5431536"/>
            <a:ext cx="9171432" cy="228600"/>
          </a:xfrm>
          <a:prstGeom prst="rect">
            <a:avLst/>
          </a:prstGeom>
          <a:noFill/>
        </p:spPr>
        <p:txBody>
          <a:bodyPr wrap="none" lIns="27432" rIns="27432" tIns="27432" bIns="27432" anchor="t">
            <a:spAutoFit/>
          </a:bodyPr>
          <a:lstStyle/>
          <a:p>
            <a:pPr algn="ctr">
              <a:spcAft>
                <a:spcPts val="0"/>
              </a:spcAft>
            </a:pPr>
            <a:r>
              <a:rPr sz="1300" b="1">
                <a:solidFill>
                  <a:srgbClr val="103446"/>
                </a:solidFill>
                <a:latin typeface="Aptos"/>
              </a:rPr>
              <a:t>ISCI asks whether C adds information after M is known: the prespecified M → M+C test.</a:t>
            </a:r>
          </a:p>
        </p:txBody>
      </p:sp>
      <p:sp>
        <p:nvSpPr>
          <p:cNvPr id="35" name="TextBox 34"/>
          <p:cNvSpPr txBox="1"/>
          <p:nvPr/>
        </p:nvSpPr>
        <p:spPr>
          <a:xfrm>
            <a:off x="475488" y="6556248"/>
            <a:ext cx="6492240" cy="146304"/>
          </a:xfrm>
          <a:prstGeom prst="rect">
            <a:avLst/>
          </a:prstGeom>
          <a:noFill/>
        </p:spPr>
        <p:txBody>
          <a:bodyPr wrap="none" lIns="27432" rIns="27432" tIns="27432" bIns="27432" anchor="t">
            <a:spAutoFit/>
          </a:bodyPr>
          <a:lstStyle/>
          <a:p>
            <a:pPr algn="l">
              <a:spcAft>
                <a:spcPts val="0"/>
              </a:spcAft>
            </a:pPr>
            <a:r>
              <a:rPr sz="650" b="0">
                <a:solidFill>
                  <a:srgbClr val="5B6A6F"/>
                </a:solidFill>
                <a:latin typeface="Aptos"/>
              </a:rPr>
              <a:t>T-CTRL · powered by ISCI · Built with Claude: Life Sciences</a:t>
            </a:r>
          </a:p>
        </p:txBody>
      </p:sp>
      <p:sp>
        <p:nvSpPr>
          <p:cNvPr id="36" name="TextBox 35"/>
          <p:cNvSpPr txBox="1"/>
          <p:nvPr/>
        </p:nvSpPr>
        <p:spPr>
          <a:xfrm>
            <a:off x="6583680" y="6556248"/>
            <a:ext cx="4892040" cy="146304"/>
          </a:xfrm>
          <a:prstGeom prst="rect">
            <a:avLst/>
          </a:prstGeom>
          <a:noFill/>
        </p:spPr>
        <p:txBody>
          <a:bodyPr wrap="none" lIns="27432" rIns="27432" tIns="27432" bIns="27432" anchor="t">
            <a:spAutoFit/>
          </a:bodyPr>
          <a:lstStyle/>
          <a:p>
            <a:pPr algn="r">
              <a:spcAft>
                <a:spcPts val="0"/>
              </a:spcAft>
            </a:pPr>
            <a:r>
              <a:rPr sz="620" b="0">
                <a:solidFill>
                  <a:srgbClr val="5B6A6F"/>
                </a:solidFill>
                <a:latin typeface="Aptos"/>
              </a:rPr>
              <a:t>Axes: config/axes.yaml · Feature contract: docs/method.md</a:t>
            </a:r>
          </a:p>
        </p:txBody>
      </p:sp>
      <p:sp>
        <p:nvSpPr>
          <p:cNvPr id="37" name="TextBox 36"/>
          <p:cNvSpPr txBox="1"/>
          <p:nvPr/>
        </p:nvSpPr>
        <p:spPr>
          <a:xfrm>
            <a:off x="11503152" y="6556248"/>
            <a:ext cx="182880" cy="146304"/>
          </a:xfrm>
          <a:prstGeom prst="rect">
            <a:avLst/>
          </a:prstGeom>
          <a:noFill/>
        </p:spPr>
        <p:txBody>
          <a:bodyPr wrap="none" lIns="27432" rIns="27432" tIns="27432" bIns="27432" anchor="t">
            <a:spAutoFit/>
          </a:bodyPr>
          <a:lstStyle/>
          <a:p>
            <a:pPr algn="r">
              <a:spcAft>
                <a:spcPts val="0"/>
              </a:spcAft>
            </a:pPr>
            <a:r>
              <a:rPr sz="650" b="0">
                <a:solidFill>
                  <a:srgbClr val="5B6A6F"/>
                </a:solidFill>
                <a:latin typeface="Apt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7F2"/>
        </a:solidFill>
        <a:effectLst/>
      </p:bgPr>
    </p:bg>
    <p:spTree>
      <p:nvGrpSpPr>
        <p:cNvPr id="1" name=""/>
        <p:cNvGrpSpPr/>
        <p:nvPr/>
      </p:nvGrpSpPr>
      <p:grpSpPr/>
      <p:sp>
        <p:nvSpPr>
          <p:cNvPr id="2" name="TextBox 1"/>
          <p:cNvSpPr txBox="1"/>
          <p:nvPr/>
        </p:nvSpPr>
        <p:spPr>
          <a:xfrm>
            <a:off x="475488" y="274320"/>
            <a:ext cx="6217920" cy="228600"/>
          </a:xfrm>
          <a:prstGeom prst="rect">
            <a:avLst/>
          </a:prstGeom>
          <a:noFill/>
        </p:spPr>
        <p:txBody>
          <a:bodyPr wrap="none" lIns="27432" rIns="27432" tIns="27432" bIns="27432" anchor="t">
            <a:spAutoFit/>
          </a:bodyPr>
          <a:lstStyle/>
          <a:p>
            <a:pPr algn="l">
              <a:spcAft>
                <a:spcPts val="0"/>
              </a:spcAft>
            </a:pPr>
            <a:r>
              <a:rPr sz="850" b="1">
                <a:solidFill>
                  <a:srgbClr val="007E79"/>
                </a:solidFill>
                <a:latin typeface="Aptos"/>
              </a:rPr>
              <a:t>PRIMARY RESULT</a:t>
            </a:r>
          </a:p>
        </p:txBody>
      </p:sp>
      <p:sp>
        <p:nvSpPr>
          <p:cNvPr id="3" name="TextBox 2"/>
          <p:cNvSpPr txBox="1"/>
          <p:nvPr/>
        </p:nvSpPr>
        <p:spPr>
          <a:xfrm>
            <a:off x="475488" y="566928"/>
            <a:ext cx="11064240" cy="530352"/>
          </a:xfrm>
          <a:prstGeom prst="rect">
            <a:avLst/>
          </a:prstGeom>
          <a:noFill/>
        </p:spPr>
        <p:txBody>
          <a:bodyPr wrap="none" lIns="27432" rIns="27432" tIns="27432" bIns="27432" anchor="t">
            <a:spAutoFit/>
          </a:bodyPr>
          <a:lstStyle/>
          <a:p>
            <a:pPr algn="l">
              <a:spcAft>
                <a:spcPts val="0"/>
              </a:spcAft>
            </a:pPr>
            <a:r>
              <a:rPr sz="2500" b="1">
                <a:solidFill>
                  <a:srgbClr val="103446"/>
                </a:solidFill>
                <a:latin typeface="Aptos"/>
              </a:rPr>
              <a:t>Direction and repeatability add signal beyond magnitude.</a:t>
            </a:r>
          </a:p>
        </p:txBody>
      </p:sp>
      <p:sp>
        <p:nvSpPr>
          <p:cNvPr id="4" name="Rectangle 3"/>
          <p:cNvSpPr/>
          <p:nvPr/>
        </p:nvSpPr>
        <p:spPr>
          <a:xfrm>
            <a:off x="475488" y="1143000"/>
            <a:ext cx="11228832" cy="16459"/>
          </a:xfrm>
          <a:prstGeom prst="rect">
            <a:avLst/>
          </a:prstGeom>
          <a:solidFill>
            <a:srgbClr val="007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75488" y="6556248"/>
            <a:ext cx="6492240" cy="146304"/>
          </a:xfrm>
          <a:prstGeom prst="rect">
            <a:avLst/>
          </a:prstGeom>
          <a:noFill/>
        </p:spPr>
        <p:txBody>
          <a:bodyPr wrap="none" lIns="27432" rIns="27432" tIns="27432" bIns="27432" anchor="t">
            <a:spAutoFit/>
          </a:bodyPr>
          <a:lstStyle/>
          <a:p>
            <a:pPr algn="l">
              <a:spcAft>
                <a:spcPts val="0"/>
              </a:spcAft>
            </a:pPr>
            <a:r>
              <a:rPr sz="650" b="0">
                <a:solidFill>
                  <a:srgbClr val="5B6A6F"/>
                </a:solidFill>
                <a:latin typeface="Aptos"/>
              </a:rPr>
              <a:t>T-CTRL · powered by ISCI · Built with Claude: Life Sciences</a:t>
            </a:r>
          </a:p>
        </p:txBody>
      </p:sp>
      <p:sp>
        <p:nvSpPr>
          <p:cNvPr id="6" name="TextBox 5"/>
          <p:cNvSpPr txBox="1"/>
          <p:nvPr/>
        </p:nvSpPr>
        <p:spPr>
          <a:xfrm>
            <a:off x="11503152" y="6556248"/>
            <a:ext cx="182880" cy="146304"/>
          </a:xfrm>
          <a:prstGeom prst="rect">
            <a:avLst/>
          </a:prstGeom>
          <a:noFill/>
        </p:spPr>
        <p:txBody>
          <a:bodyPr wrap="none" lIns="27432" rIns="27432" tIns="27432" bIns="27432" anchor="t">
            <a:spAutoFit/>
          </a:bodyPr>
          <a:lstStyle/>
          <a:p>
            <a:pPr algn="r">
              <a:spcAft>
                <a:spcPts val="0"/>
              </a:spcAft>
            </a:pPr>
            <a:r>
              <a:rPr sz="650" b="0">
                <a:solidFill>
                  <a:srgbClr val="5B6A6F"/>
                </a:solidFill>
                <a:latin typeface="Aptos"/>
              </a:rPr>
              <a:t>4</a:t>
            </a:r>
          </a:p>
        </p:txBody>
      </p:sp>
      <p:sp>
        <p:nvSpPr>
          <p:cNvPr id="7" name="Rounded Rectangle 6"/>
          <p:cNvSpPr/>
          <p:nvPr/>
        </p:nvSpPr>
        <p:spPr>
          <a:xfrm>
            <a:off x="502920" y="1417320"/>
            <a:ext cx="7077456" cy="4462272"/>
          </a:xfrm>
          <a:prstGeom prst="roundRect">
            <a:avLst/>
          </a:prstGeom>
          <a:solidFill>
            <a:srgbClr val="FFFFFF"/>
          </a:solidFill>
          <a:ln w="10160">
            <a:solidFill>
              <a:srgbClr val="D8DC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ig_central.png"/>
          <p:cNvPicPr>
            <a:picLocks noChangeAspect="1"/>
          </p:cNvPicPr>
          <p:nvPr/>
        </p:nvPicPr>
        <p:blipFill>
          <a:blip r:embed="rId2"/>
          <a:stretch>
            <a:fillRect/>
          </a:stretch>
        </p:blipFill>
        <p:spPr>
          <a:xfrm>
            <a:off x="585215" y="2044595"/>
            <a:ext cx="6912864" cy="3207721"/>
          </a:xfrm>
          <a:prstGeom prst="rect">
            <a:avLst/>
          </a:prstGeom>
        </p:spPr>
      </p:pic>
      <p:sp>
        <p:nvSpPr>
          <p:cNvPr id="9" name="TextBox 8"/>
          <p:cNvSpPr txBox="1"/>
          <p:nvPr/>
        </p:nvSpPr>
        <p:spPr>
          <a:xfrm>
            <a:off x="7882127" y="1572768"/>
            <a:ext cx="3493008" cy="384048"/>
          </a:xfrm>
          <a:prstGeom prst="rect">
            <a:avLst/>
          </a:prstGeom>
          <a:noFill/>
        </p:spPr>
        <p:txBody>
          <a:bodyPr wrap="none" lIns="27432" rIns="27432" tIns="27432" bIns="27432" anchor="t">
            <a:spAutoFit/>
          </a:bodyPr>
          <a:lstStyle/>
          <a:p>
            <a:pPr algn="l">
              <a:spcAft>
                <a:spcPts val="0"/>
              </a:spcAft>
            </a:pPr>
            <a:r>
              <a:rPr sz="2200" b="1">
                <a:solidFill>
                  <a:srgbClr val="007E79"/>
                </a:solidFill>
                <a:latin typeface="Aptos"/>
              </a:rPr>
              <a:t>+0.357</a:t>
            </a:r>
          </a:p>
        </p:txBody>
      </p:sp>
      <p:sp>
        <p:nvSpPr>
          <p:cNvPr id="10" name="TextBox 9"/>
          <p:cNvSpPr txBox="1"/>
          <p:nvPr/>
        </p:nvSpPr>
        <p:spPr>
          <a:xfrm>
            <a:off x="7882127" y="1975104"/>
            <a:ext cx="3493008" cy="566928"/>
          </a:xfrm>
          <a:prstGeom prst="rect">
            <a:avLst/>
          </a:prstGeom>
          <a:noFill/>
        </p:spPr>
        <p:txBody>
          <a:bodyPr wrap="none" lIns="27432" rIns="27432" tIns="27432" bIns="27432" anchor="t">
            <a:spAutoFit/>
          </a:bodyPr>
          <a:lstStyle/>
          <a:p>
            <a:pPr algn="l">
              <a:spcAft>
                <a:spcPts val="0"/>
              </a:spcAft>
            </a:pPr>
            <a:r>
              <a:rPr sz="919" b="0">
                <a:solidFill>
                  <a:srgbClr val="1F2B30"/>
                </a:solidFill>
                <a:latin typeface="Aptos"/>
              </a:rPr>
              <a:t>AUPRC gain in the authoritative full-sample M→M+C test</a:t>
            </a:r>
            <a:br/>
            <a:r>
              <a:rPr sz="919" b="0">
                <a:solidFill>
                  <a:srgbClr val="1F2B30"/>
                </a:solidFill>
                <a:latin typeface="Aptos"/>
              </a:rPr>
              <a:t>95% CI [+0.117,+0.538]</a:t>
            </a:r>
          </a:p>
        </p:txBody>
      </p:sp>
      <p:sp>
        <p:nvSpPr>
          <p:cNvPr id="11" name="TextBox 10"/>
          <p:cNvSpPr txBox="1"/>
          <p:nvPr/>
        </p:nvSpPr>
        <p:spPr>
          <a:xfrm>
            <a:off x="7882127" y="2880360"/>
            <a:ext cx="3493008" cy="384048"/>
          </a:xfrm>
          <a:prstGeom prst="rect">
            <a:avLst/>
          </a:prstGeom>
          <a:noFill/>
        </p:spPr>
        <p:txBody>
          <a:bodyPr wrap="none" lIns="27432" rIns="27432" tIns="27432" bIns="27432" anchor="t">
            <a:spAutoFit/>
          </a:bodyPr>
          <a:lstStyle/>
          <a:p>
            <a:pPr algn="l">
              <a:spcAft>
                <a:spcPts val="0"/>
              </a:spcAft>
            </a:pPr>
            <a:r>
              <a:rPr sz="2200" b="1">
                <a:solidFill>
                  <a:srgbClr val="103446"/>
                </a:solidFill>
                <a:latin typeface="Aptos"/>
              </a:rPr>
              <a:t>+0.215</a:t>
            </a:r>
          </a:p>
        </p:txBody>
      </p:sp>
      <p:sp>
        <p:nvSpPr>
          <p:cNvPr id="12" name="TextBox 11"/>
          <p:cNvSpPr txBox="1"/>
          <p:nvPr/>
        </p:nvSpPr>
        <p:spPr>
          <a:xfrm>
            <a:off x="7882127" y="3282696"/>
            <a:ext cx="3493008" cy="566928"/>
          </a:xfrm>
          <a:prstGeom prst="rect">
            <a:avLst/>
          </a:prstGeom>
          <a:noFill/>
        </p:spPr>
        <p:txBody>
          <a:bodyPr wrap="none" lIns="27432" rIns="27432" tIns="27432" bIns="27432" anchor="t">
            <a:spAutoFit/>
          </a:bodyPr>
          <a:lstStyle/>
          <a:p>
            <a:pPr algn="l">
              <a:spcAft>
                <a:spcPts val="0"/>
              </a:spcAft>
            </a:pPr>
            <a:r>
              <a:rPr sz="919" b="0">
                <a:solidFill>
                  <a:srgbClr val="1F2B30"/>
                </a:solidFill>
                <a:latin typeface="Aptos"/>
              </a:rPr>
              <a:t>Leakage-free grouped OOF gain</a:t>
            </a:r>
            <a:br/>
            <a:r>
              <a:rPr sz="919" b="0">
                <a:solidFill>
                  <a:srgbClr val="1F2B30"/>
                </a:solidFill>
                <a:latin typeface="Aptos"/>
              </a:rPr>
              <a:t>95% CI [+0.074,+0.560] · p=0.010</a:t>
            </a:r>
          </a:p>
        </p:txBody>
      </p:sp>
      <p:sp>
        <p:nvSpPr>
          <p:cNvPr id="13" name="TextBox 12"/>
          <p:cNvSpPr txBox="1"/>
          <p:nvPr/>
        </p:nvSpPr>
        <p:spPr>
          <a:xfrm>
            <a:off x="7882127" y="4178808"/>
            <a:ext cx="3493008" cy="384048"/>
          </a:xfrm>
          <a:prstGeom prst="rect">
            <a:avLst/>
          </a:prstGeom>
          <a:noFill/>
        </p:spPr>
        <p:txBody>
          <a:bodyPr wrap="none" lIns="27432" rIns="27432" tIns="27432" bIns="27432" anchor="t">
            <a:spAutoFit/>
          </a:bodyPr>
          <a:lstStyle/>
          <a:p>
            <a:pPr algn="l">
              <a:spcAft>
                <a:spcPts val="0"/>
              </a:spcAft>
            </a:pPr>
            <a:r>
              <a:rPr sz="2200" b="1">
                <a:solidFill>
                  <a:srgbClr val="DA9F2A"/>
                </a:solidFill>
                <a:latin typeface="Aptos"/>
              </a:rPr>
              <a:t>0.415→0.722</a:t>
            </a:r>
          </a:p>
        </p:txBody>
      </p:sp>
      <p:sp>
        <p:nvSpPr>
          <p:cNvPr id="14" name="TextBox 13"/>
          <p:cNvSpPr txBox="1"/>
          <p:nvPr/>
        </p:nvSpPr>
        <p:spPr>
          <a:xfrm>
            <a:off x="7882127" y="4581144"/>
            <a:ext cx="3493008" cy="566928"/>
          </a:xfrm>
          <a:prstGeom prst="rect">
            <a:avLst/>
          </a:prstGeom>
          <a:noFill/>
        </p:spPr>
        <p:txBody>
          <a:bodyPr wrap="none" lIns="27432" rIns="27432" tIns="27432" bIns="27432" anchor="t">
            <a:spAutoFit/>
          </a:bodyPr>
          <a:lstStyle/>
          <a:p>
            <a:pPr algn="l">
              <a:spcAft>
                <a:spcPts val="0"/>
              </a:spcAft>
            </a:pPr>
            <a:r>
              <a:rPr sz="919" b="0">
                <a:solidFill>
                  <a:srgbClr val="1F2B30"/>
                </a:solidFill>
                <a:latin typeface="Aptos"/>
              </a:rPr>
              <a:t>Separate descriptive ranking view</a:t>
            </a:r>
          </a:p>
        </p:txBody>
      </p:sp>
      <p:sp>
        <p:nvSpPr>
          <p:cNvPr id="15" name="Rounded Rectangle 14"/>
          <p:cNvSpPr/>
          <p:nvPr/>
        </p:nvSpPr>
        <p:spPr>
          <a:xfrm>
            <a:off x="7845552" y="5230368"/>
            <a:ext cx="3767328" cy="640080"/>
          </a:xfrm>
          <a:prstGeom prst="roundRect">
            <a:avLst/>
          </a:prstGeom>
          <a:solidFill>
            <a:srgbClr val="DAF1EB"/>
          </a:solidFill>
          <a:ln w="10160">
            <a:solidFill>
              <a:srgbClr val="DAF1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65008" y="5394960"/>
            <a:ext cx="3346704" cy="310896"/>
          </a:xfrm>
          <a:prstGeom prst="rect">
            <a:avLst/>
          </a:prstGeom>
          <a:noFill/>
        </p:spPr>
        <p:txBody>
          <a:bodyPr wrap="none" lIns="27432" rIns="27432" tIns="27432" bIns="27432" anchor="t">
            <a:spAutoFit/>
          </a:bodyPr>
          <a:lstStyle/>
          <a:p>
            <a:pPr algn="l">
              <a:spcAft>
                <a:spcPts val="0"/>
              </a:spcAft>
            </a:pPr>
            <a:r>
              <a:rPr sz="1030" b="1">
                <a:solidFill>
                  <a:srgbClr val="103446"/>
                </a:solidFill>
                <a:latin typeface="Aptos"/>
              </a:rPr>
              <a:t>These are distinct estimands. We never average or silently swap them.</a:t>
            </a:r>
          </a:p>
        </p:txBody>
      </p:sp>
      <p:sp>
        <p:nvSpPr>
          <p:cNvPr id="17" name="TextBox 16"/>
          <p:cNvSpPr txBox="1"/>
          <p:nvPr/>
        </p:nvSpPr>
        <p:spPr>
          <a:xfrm>
            <a:off x="475488" y="6556248"/>
            <a:ext cx="6492240" cy="146304"/>
          </a:xfrm>
          <a:prstGeom prst="rect">
            <a:avLst/>
          </a:prstGeom>
          <a:noFill/>
        </p:spPr>
        <p:txBody>
          <a:bodyPr wrap="none" lIns="27432" rIns="27432" tIns="27432" bIns="27432" anchor="t">
            <a:spAutoFit/>
          </a:bodyPr>
          <a:lstStyle/>
          <a:p>
            <a:pPr algn="l">
              <a:spcAft>
                <a:spcPts val="0"/>
              </a:spcAft>
            </a:pPr>
            <a:r>
              <a:rPr sz="650" b="0">
                <a:solidFill>
                  <a:srgbClr val="5B6A6F"/>
                </a:solidFill>
                <a:latin typeface="Aptos"/>
              </a:rPr>
              <a:t>T-CTRL · powered by ISCI · Built with Claude: Life Sciences</a:t>
            </a:r>
          </a:p>
        </p:txBody>
      </p:sp>
      <p:sp>
        <p:nvSpPr>
          <p:cNvPr id="18" name="TextBox 17"/>
          <p:cNvSpPr txBox="1"/>
          <p:nvPr/>
        </p:nvSpPr>
        <p:spPr>
          <a:xfrm>
            <a:off x="6583680" y="6556248"/>
            <a:ext cx="4892040" cy="146304"/>
          </a:xfrm>
          <a:prstGeom prst="rect">
            <a:avLst/>
          </a:prstGeom>
          <a:noFill/>
        </p:spPr>
        <p:txBody>
          <a:bodyPr wrap="none" lIns="27432" rIns="27432" tIns="27432" bIns="27432" anchor="t">
            <a:spAutoFit/>
          </a:bodyPr>
          <a:lstStyle/>
          <a:p>
            <a:pPr algn="r">
              <a:spcAft>
                <a:spcPts val="0"/>
              </a:spcAft>
            </a:pPr>
            <a:r>
              <a:rPr sz="620" b="0">
                <a:solidFill>
                  <a:srgbClr val="5B6A6F"/>
                </a:solidFill>
                <a:latin typeface="Aptos"/>
              </a:rPr>
              <a:t>Source: reports/result_lock.md · outputs/isci_oof_incremental.json</a:t>
            </a:r>
          </a:p>
        </p:txBody>
      </p:sp>
      <p:sp>
        <p:nvSpPr>
          <p:cNvPr id="19" name="TextBox 18"/>
          <p:cNvSpPr txBox="1"/>
          <p:nvPr/>
        </p:nvSpPr>
        <p:spPr>
          <a:xfrm>
            <a:off x="11503152" y="6556248"/>
            <a:ext cx="182880" cy="146304"/>
          </a:xfrm>
          <a:prstGeom prst="rect">
            <a:avLst/>
          </a:prstGeom>
          <a:noFill/>
        </p:spPr>
        <p:txBody>
          <a:bodyPr wrap="none" lIns="27432" rIns="27432" tIns="27432" bIns="27432" anchor="t">
            <a:spAutoFit/>
          </a:bodyPr>
          <a:lstStyle/>
          <a:p>
            <a:pPr algn="r">
              <a:spcAft>
                <a:spcPts val="0"/>
              </a:spcAft>
            </a:pPr>
            <a:r>
              <a:rPr sz="650" b="0">
                <a:solidFill>
                  <a:srgbClr val="5B6A6F"/>
                </a:solidFill>
                <a:latin typeface="Aptos"/>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7F2"/>
        </a:solidFill>
        <a:effectLst/>
      </p:bgPr>
    </p:bg>
    <p:spTree>
      <p:nvGrpSpPr>
        <p:cNvPr id="1" name=""/>
        <p:cNvGrpSpPr/>
        <p:nvPr/>
      </p:nvGrpSpPr>
      <p:grpSpPr/>
      <p:sp>
        <p:nvSpPr>
          <p:cNvPr id="2" name="TextBox 1"/>
          <p:cNvSpPr txBox="1"/>
          <p:nvPr/>
        </p:nvSpPr>
        <p:spPr>
          <a:xfrm>
            <a:off x="475488" y="274320"/>
            <a:ext cx="6217920" cy="228600"/>
          </a:xfrm>
          <a:prstGeom prst="rect">
            <a:avLst/>
          </a:prstGeom>
          <a:noFill/>
        </p:spPr>
        <p:txBody>
          <a:bodyPr wrap="none" lIns="27432" rIns="27432" tIns="27432" bIns="27432" anchor="t">
            <a:spAutoFit/>
          </a:bodyPr>
          <a:lstStyle/>
          <a:p>
            <a:pPr algn="l">
              <a:spcAft>
                <a:spcPts val="0"/>
              </a:spcAft>
            </a:pPr>
            <a:r>
              <a:rPr sz="850" b="1">
                <a:solidFill>
                  <a:srgbClr val="007E79"/>
                </a:solidFill>
                <a:latin typeface="Aptos"/>
              </a:rPr>
              <a:t>TESTS DESIGNED TO BREAK THE RESULT</a:t>
            </a:r>
          </a:p>
        </p:txBody>
      </p:sp>
      <p:sp>
        <p:nvSpPr>
          <p:cNvPr id="3" name="TextBox 2"/>
          <p:cNvSpPr txBox="1"/>
          <p:nvPr/>
        </p:nvSpPr>
        <p:spPr>
          <a:xfrm>
            <a:off x="475488" y="566928"/>
            <a:ext cx="11064240" cy="530352"/>
          </a:xfrm>
          <a:prstGeom prst="rect">
            <a:avLst/>
          </a:prstGeom>
          <a:noFill/>
        </p:spPr>
        <p:txBody>
          <a:bodyPr wrap="none" lIns="27432" rIns="27432" tIns="27432" bIns="27432" anchor="t">
            <a:spAutoFit/>
          </a:bodyPr>
          <a:lstStyle/>
          <a:p>
            <a:pPr algn="l">
              <a:spcAft>
                <a:spcPts val="0"/>
              </a:spcAft>
            </a:pPr>
            <a:r>
              <a:rPr sz="2500" b="1">
                <a:solidFill>
                  <a:srgbClr val="103446"/>
                </a:solidFill>
                <a:latin typeface="Aptos"/>
              </a:rPr>
              <a:t>The signal is real — and biologically narrow.</a:t>
            </a:r>
          </a:p>
        </p:txBody>
      </p:sp>
      <p:sp>
        <p:nvSpPr>
          <p:cNvPr id="4" name="Rectangle 3"/>
          <p:cNvSpPr/>
          <p:nvPr/>
        </p:nvSpPr>
        <p:spPr>
          <a:xfrm>
            <a:off x="475488" y="1143000"/>
            <a:ext cx="11228832" cy="16459"/>
          </a:xfrm>
          <a:prstGeom prst="rect">
            <a:avLst/>
          </a:prstGeom>
          <a:solidFill>
            <a:srgbClr val="007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75488" y="6556248"/>
            <a:ext cx="6492240" cy="146304"/>
          </a:xfrm>
          <a:prstGeom prst="rect">
            <a:avLst/>
          </a:prstGeom>
          <a:noFill/>
        </p:spPr>
        <p:txBody>
          <a:bodyPr wrap="none" lIns="27432" rIns="27432" tIns="27432" bIns="27432" anchor="t">
            <a:spAutoFit/>
          </a:bodyPr>
          <a:lstStyle/>
          <a:p>
            <a:pPr algn="l">
              <a:spcAft>
                <a:spcPts val="0"/>
              </a:spcAft>
            </a:pPr>
            <a:r>
              <a:rPr sz="650" b="0">
                <a:solidFill>
                  <a:srgbClr val="5B6A6F"/>
                </a:solidFill>
                <a:latin typeface="Aptos"/>
              </a:rPr>
              <a:t>T-CTRL · powered by ISCI · Built with Claude: Life Sciences</a:t>
            </a:r>
          </a:p>
        </p:txBody>
      </p:sp>
      <p:sp>
        <p:nvSpPr>
          <p:cNvPr id="6" name="TextBox 5"/>
          <p:cNvSpPr txBox="1"/>
          <p:nvPr/>
        </p:nvSpPr>
        <p:spPr>
          <a:xfrm>
            <a:off x="11503152" y="6556248"/>
            <a:ext cx="182880" cy="146304"/>
          </a:xfrm>
          <a:prstGeom prst="rect">
            <a:avLst/>
          </a:prstGeom>
          <a:noFill/>
        </p:spPr>
        <p:txBody>
          <a:bodyPr wrap="none" lIns="27432" rIns="27432" tIns="27432" bIns="27432" anchor="t">
            <a:spAutoFit/>
          </a:bodyPr>
          <a:lstStyle/>
          <a:p>
            <a:pPr algn="r">
              <a:spcAft>
                <a:spcPts val="0"/>
              </a:spcAft>
            </a:pPr>
            <a:r>
              <a:rPr sz="650" b="0">
                <a:solidFill>
                  <a:srgbClr val="5B6A6F"/>
                </a:solidFill>
                <a:latin typeface="Aptos"/>
              </a:rPr>
              <a:t>5</a:t>
            </a:r>
          </a:p>
        </p:txBody>
      </p:sp>
      <p:sp>
        <p:nvSpPr>
          <p:cNvPr id="7" name="Rounded Rectangle 6"/>
          <p:cNvSpPr/>
          <p:nvPr/>
        </p:nvSpPr>
        <p:spPr>
          <a:xfrm>
            <a:off x="475488" y="1399032"/>
            <a:ext cx="5559552" cy="3310128"/>
          </a:xfrm>
          <a:prstGeom prst="roundRect">
            <a:avLst/>
          </a:prstGeom>
          <a:solidFill>
            <a:srgbClr val="FFFFFF"/>
          </a:solidFill>
          <a:ln w="10160">
            <a:solidFill>
              <a:srgbClr val="D8DC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positive_set_stress_test.png"/>
          <p:cNvPicPr>
            <a:picLocks noChangeAspect="1"/>
          </p:cNvPicPr>
          <p:nvPr/>
        </p:nvPicPr>
        <p:blipFill>
          <a:blip r:embed="rId2"/>
          <a:stretch>
            <a:fillRect/>
          </a:stretch>
        </p:blipFill>
        <p:spPr>
          <a:xfrm>
            <a:off x="773447" y="1481328"/>
            <a:ext cx="4963632" cy="3145536"/>
          </a:xfrm>
          <a:prstGeom prst="rect">
            <a:avLst/>
          </a:prstGeom>
        </p:spPr>
      </p:pic>
      <p:sp>
        <p:nvSpPr>
          <p:cNvPr id="9" name="Rounded Rectangle 8"/>
          <p:cNvSpPr/>
          <p:nvPr/>
        </p:nvSpPr>
        <p:spPr>
          <a:xfrm>
            <a:off x="6163056" y="1399032"/>
            <a:ext cx="5559552" cy="3310128"/>
          </a:xfrm>
          <a:prstGeom prst="roundRect">
            <a:avLst/>
          </a:prstGeom>
          <a:solidFill>
            <a:srgbClr val="FFFFFF"/>
          </a:solidFill>
          <a:ln w="10160">
            <a:solidFill>
              <a:srgbClr val="D8DC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robustness_ablation_gate.png"/>
          <p:cNvPicPr>
            <a:picLocks noChangeAspect="1"/>
          </p:cNvPicPr>
          <p:nvPr/>
        </p:nvPicPr>
        <p:blipFill>
          <a:blip r:embed="rId3"/>
          <a:stretch>
            <a:fillRect/>
          </a:stretch>
        </p:blipFill>
        <p:spPr>
          <a:xfrm>
            <a:off x="6245352" y="1885896"/>
            <a:ext cx="5394960" cy="2336400"/>
          </a:xfrm>
          <a:prstGeom prst="rect">
            <a:avLst/>
          </a:prstGeom>
        </p:spPr>
      </p:pic>
      <p:sp>
        <p:nvSpPr>
          <p:cNvPr id="11" name="Rounded Rectangle 10"/>
          <p:cNvSpPr/>
          <p:nvPr/>
        </p:nvSpPr>
        <p:spPr>
          <a:xfrm>
            <a:off x="658368" y="4919472"/>
            <a:ext cx="5193792" cy="786384"/>
          </a:xfrm>
          <a:prstGeom prst="roundRect">
            <a:avLst/>
          </a:prstGeom>
          <a:solidFill>
            <a:srgbClr val="FAE2DE"/>
          </a:solidFill>
          <a:ln w="10160">
            <a:solidFill>
              <a:srgbClr val="FAE2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5111496"/>
            <a:ext cx="4718304" cy="420624"/>
          </a:xfrm>
          <a:prstGeom prst="rect">
            <a:avLst/>
          </a:prstGeom>
          <a:noFill/>
        </p:spPr>
        <p:txBody>
          <a:bodyPr wrap="none" lIns="27432" rIns="27432" tIns="27432" bIns="27432" anchor="t">
            <a:spAutoFit/>
          </a:bodyPr>
          <a:lstStyle/>
          <a:p>
            <a:pPr algn="ctr">
              <a:spcAft>
                <a:spcPts val="0"/>
              </a:spcAft>
            </a:pPr>
            <a:r>
              <a:rPr sz="1220" b="1">
                <a:solidFill>
                  <a:srgbClr val="C94A3D"/>
                </a:solidFill>
                <a:latin typeface="Aptos"/>
              </a:rPr>
              <a:t>External functional-regulator set: FAIL</a:t>
            </a:r>
            <a:br/>
            <a:r>
              <a:rPr sz="1220" b="1">
                <a:solidFill>
                  <a:srgbClr val="C94A3D"/>
                </a:solidFill>
                <a:latin typeface="Aptos"/>
              </a:rPr>
              <a:t>ΔAUPRC −0.281 [−0.476,−0.073]</a:t>
            </a:r>
          </a:p>
        </p:txBody>
      </p:sp>
      <p:sp>
        <p:nvSpPr>
          <p:cNvPr id="13" name="Rounded Rectangle 12"/>
          <p:cNvSpPr/>
          <p:nvPr/>
        </p:nvSpPr>
        <p:spPr>
          <a:xfrm>
            <a:off x="6345936" y="4919472"/>
            <a:ext cx="5193792" cy="786384"/>
          </a:xfrm>
          <a:prstGeom prst="roundRect">
            <a:avLst/>
          </a:prstGeom>
          <a:solidFill>
            <a:srgbClr val="FAEFCC"/>
          </a:solidFill>
          <a:ln w="10160">
            <a:solidFill>
              <a:srgbClr val="FAEF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0" y="5084064"/>
            <a:ext cx="4718304" cy="475488"/>
          </a:xfrm>
          <a:prstGeom prst="rect">
            <a:avLst/>
          </a:prstGeom>
          <a:noFill/>
        </p:spPr>
        <p:txBody>
          <a:bodyPr wrap="none" lIns="27432" rIns="27432" tIns="27432" bIns="27432" anchor="t">
            <a:spAutoFit/>
          </a:bodyPr>
          <a:lstStyle/>
          <a:p>
            <a:pPr algn="ctr">
              <a:spcAft>
                <a:spcPts val="0"/>
              </a:spcAft>
            </a:pPr>
            <a:r>
              <a:rPr sz="1120" b="1">
                <a:solidFill>
                  <a:srgbClr val="103446"/>
                </a:solidFill>
                <a:latin typeface="Aptos"/>
              </a:rPr>
              <a:t>Removing GATA3, TBX21, STAT6 and IRF1 reduces the point gain to near zero (n=9).</a:t>
            </a:r>
          </a:p>
        </p:txBody>
      </p:sp>
      <p:sp>
        <p:nvSpPr>
          <p:cNvPr id="15" name="TextBox 14"/>
          <p:cNvSpPr txBox="1"/>
          <p:nvPr/>
        </p:nvSpPr>
        <p:spPr>
          <a:xfrm>
            <a:off x="475488" y="6556248"/>
            <a:ext cx="6492240" cy="146304"/>
          </a:xfrm>
          <a:prstGeom prst="rect">
            <a:avLst/>
          </a:prstGeom>
          <a:noFill/>
        </p:spPr>
        <p:txBody>
          <a:bodyPr wrap="none" lIns="27432" rIns="27432" tIns="27432" bIns="27432" anchor="t">
            <a:spAutoFit/>
          </a:bodyPr>
          <a:lstStyle/>
          <a:p>
            <a:pPr algn="l">
              <a:spcAft>
                <a:spcPts val="0"/>
              </a:spcAft>
            </a:pPr>
            <a:r>
              <a:rPr sz="650" b="0">
                <a:solidFill>
                  <a:srgbClr val="5B6A6F"/>
                </a:solidFill>
                <a:latin typeface="Aptos"/>
              </a:rPr>
              <a:t>T-CTRL · powered by ISCI · Built with Claude: Life Sciences</a:t>
            </a:r>
          </a:p>
        </p:txBody>
      </p:sp>
      <p:sp>
        <p:nvSpPr>
          <p:cNvPr id="16" name="TextBox 15"/>
          <p:cNvSpPr txBox="1"/>
          <p:nvPr/>
        </p:nvSpPr>
        <p:spPr>
          <a:xfrm>
            <a:off x="6583680" y="6556248"/>
            <a:ext cx="4892040" cy="146304"/>
          </a:xfrm>
          <a:prstGeom prst="rect">
            <a:avLst/>
          </a:prstGeom>
          <a:noFill/>
        </p:spPr>
        <p:txBody>
          <a:bodyPr wrap="none" lIns="27432" rIns="27432" tIns="27432" bIns="27432" anchor="t">
            <a:spAutoFit/>
          </a:bodyPr>
          <a:lstStyle/>
          <a:p>
            <a:pPr algn="r">
              <a:spcAft>
                <a:spcPts val="0"/>
              </a:spcAft>
            </a:pPr>
            <a:r>
              <a:rPr sz="620" b="0">
                <a:solidFill>
                  <a:srgbClr val="5B6A6F"/>
                </a:solidFill>
                <a:latin typeface="Aptos"/>
              </a:rPr>
              <a:t>Sources: positive_set_stress_test.json · robustness ablation</a:t>
            </a:r>
          </a:p>
        </p:txBody>
      </p:sp>
      <p:sp>
        <p:nvSpPr>
          <p:cNvPr id="17" name="TextBox 16"/>
          <p:cNvSpPr txBox="1"/>
          <p:nvPr/>
        </p:nvSpPr>
        <p:spPr>
          <a:xfrm>
            <a:off x="11503152" y="6556248"/>
            <a:ext cx="182880" cy="146304"/>
          </a:xfrm>
          <a:prstGeom prst="rect">
            <a:avLst/>
          </a:prstGeom>
          <a:noFill/>
        </p:spPr>
        <p:txBody>
          <a:bodyPr wrap="none" lIns="27432" rIns="27432" tIns="27432" bIns="27432" anchor="t">
            <a:spAutoFit/>
          </a:bodyPr>
          <a:lstStyle/>
          <a:p>
            <a:pPr algn="r">
              <a:spcAft>
                <a:spcPts val="0"/>
              </a:spcAft>
            </a:pPr>
            <a:r>
              <a:rPr sz="650" b="0">
                <a:solidFill>
                  <a:srgbClr val="5B6A6F"/>
                </a:solidFill>
                <a:latin typeface="Aptos"/>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7F2"/>
        </a:solidFill>
        <a:effectLst/>
      </p:bgPr>
    </p:bg>
    <p:spTree>
      <p:nvGrpSpPr>
        <p:cNvPr id="1" name=""/>
        <p:cNvGrpSpPr/>
        <p:nvPr/>
      </p:nvGrpSpPr>
      <p:grpSpPr/>
      <p:sp>
        <p:nvSpPr>
          <p:cNvPr id="2" name="TextBox 1"/>
          <p:cNvSpPr txBox="1"/>
          <p:nvPr/>
        </p:nvSpPr>
        <p:spPr>
          <a:xfrm>
            <a:off x="475488" y="274320"/>
            <a:ext cx="6217920" cy="228600"/>
          </a:xfrm>
          <a:prstGeom prst="rect">
            <a:avLst/>
          </a:prstGeom>
          <a:noFill/>
        </p:spPr>
        <p:txBody>
          <a:bodyPr wrap="none" lIns="27432" rIns="27432" tIns="27432" bIns="27432" anchor="t">
            <a:spAutoFit/>
          </a:bodyPr>
          <a:lstStyle/>
          <a:p>
            <a:pPr algn="l">
              <a:spcAft>
                <a:spcPts val="0"/>
              </a:spcAft>
            </a:pPr>
            <a:r>
              <a:rPr sz="850" b="1">
                <a:solidFill>
                  <a:srgbClr val="007E79"/>
                </a:solidFill>
                <a:latin typeface="Aptos"/>
              </a:rPr>
              <a:t>BOUNDARY ACROSS SYSTEMS</a:t>
            </a:r>
          </a:p>
        </p:txBody>
      </p:sp>
      <p:sp>
        <p:nvSpPr>
          <p:cNvPr id="3" name="TextBox 2"/>
          <p:cNvSpPr txBox="1"/>
          <p:nvPr/>
        </p:nvSpPr>
        <p:spPr>
          <a:xfrm>
            <a:off x="475488" y="566928"/>
            <a:ext cx="11064240" cy="530352"/>
          </a:xfrm>
          <a:prstGeom prst="rect">
            <a:avLst/>
          </a:prstGeom>
          <a:noFill/>
        </p:spPr>
        <p:txBody>
          <a:bodyPr wrap="none" lIns="27432" rIns="27432" tIns="27432" bIns="27432" anchor="t">
            <a:spAutoFit/>
          </a:bodyPr>
          <a:lstStyle/>
          <a:p>
            <a:pPr algn="l">
              <a:spcAft>
                <a:spcPts val="0"/>
              </a:spcAft>
            </a:pPr>
            <a:r>
              <a:rPr sz="2500" b="1">
                <a:solidFill>
                  <a:srgbClr val="103446"/>
                </a:solidFill>
                <a:latin typeface="Aptos"/>
              </a:rPr>
              <a:t>The property is immune-contextual, not universal.</a:t>
            </a:r>
          </a:p>
        </p:txBody>
      </p:sp>
      <p:sp>
        <p:nvSpPr>
          <p:cNvPr id="4" name="Rectangle 3"/>
          <p:cNvSpPr/>
          <p:nvPr/>
        </p:nvSpPr>
        <p:spPr>
          <a:xfrm>
            <a:off x="475488" y="1143000"/>
            <a:ext cx="11228832" cy="16459"/>
          </a:xfrm>
          <a:prstGeom prst="rect">
            <a:avLst/>
          </a:prstGeom>
          <a:solidFill>
            <a:srgbClr val="007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75488" y="6556248"/>
            <a:ext cx="6492240" cy="146304"/>
          </a:xfrm>
          <a:prstGeom prst="rect">
            <a:avLst/>
          </a:prstGeom>
          <a:noFill/>
        </p:spPr>
        <p:txBody>
          <a:bodyPr wrap="none" lIns="27432" rIns="27432" tIns="27432" bIns="27432" anchor="t">
            <a:spAutoFit/>
          </a:bodyPr>
          <a:lstStyle/>
          <a:p>
            <a:pPr algn="l">
              <a:spcAft>
                <a:spcPts val="0"/>
              </a:spcAft>
            </a:pPr>
            <a:r>
              <a:rPr sz="650" b="0">
                <a:solidFill>
                  <a:srgbClr val="5B6A6F"/>
                </a:solidFill>
                <a:latin typeface="Aptos"/>
              </a:rPr>
              <a:t>T-CTRL · powered by ISCI · Built with Claude: Life Sciences</a:t>
            </a:r>
          </a:p>
        </p:txBody>
      </p:sp>
      <p:sp>
        <p:nvSpPr>
          <p:cNvPr id="6" name="TextBox 5"/>
          <p:cNvSpPr txBox="1"/>
          <p:nvPr/>
        </p:nvSpPr>
        <p:spPr>
          <a:xfrm>
            <a:off x="11503152" y="6556248"/>
            <a:ext cx="182880" cy="146304"/>
          </a:xfrm>
          <a:prstGeom prst="rect">
            <a:avLst/>
          </a:prstGeom>
          <a:noFill/>
        </p:spPr>
        <p:txBody>
          <a:bodyPr wrap="none" lIns="27432" rIns="27432" tIns="27432" bIns="27432" anchor="t">
            <a:spAutoFit/>
          </a:bodyPr>
          <a:lstStyle/>
          <a:p>
            <a:pPr algn="r">
              <a:spcAft>
                <a:spcPts val="0"/>
              </a:spcAft>
            </a:pPr>
            <a:r>
              <a:rPr sz="650" b="0">
                <a:solidFill>
                  <a:srgbClr val="5B6A6F"/>
                </a:solidFill>
                <a:latin typeface="Aptos"/>
              </a:rPr>
              <a:t>6</a:t>
            </a:r>
          </a:p>
        </p:txBody>
      </p:sp>
      <p:sp>
        <p:nvSpPr>
          <p:cNvPr id="7" name="Rounded Rectangle 6"/>
          <p:cNvSpPr/>
          <p:nvPr/>
        </p:nvSpPr>
        <p:spPr>
          <a:xfrm>
            <a:off x="475488" y="1389888"/>
            <a:ext cx="7635240" cy="4498848"/>
          </a:xfrm>
          <a:prstGeom prst="roundRect">
            <a:avLst/>
          </a:prstGeom>
          <a:solidFill>
            <a:srgbClr val="FFFFFF"/>
          </a:solidFill>
          <a:ln w="10160">
            <a:solidFill>
              <a:srgbClr val="D8DC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ci_scope_4systems.png"/>
          <p:cNvPicPr>
            <a:picLocks noChangeAspect="1"/>
          </p:cNvPicPr>
          <p:nvPr/>
        </p:nvPicPr>
        <p:blipFill>
          <a:blip r:embed="rId2"/>
          <a:stretch>
            <a:fillRect/>
          </a:stretch>
        </p:blipFill>
        <p:spPr>
          <a:xfrm>
            <a:off x="1063662" y="1472184"/>
            <a:ext cx="6458891" cy="4334256"/>
          </a:xfrm>
          <a:prstGeom prst="rect">
            <a:avLst/>
          </a:prstGeom>
        </p:spPr>
      </p:pic>
      <p:sp>
        <p:nvSpPr>
          <p:cNvPr id="9" name="TextBox 8"/>
          <p:cNvSpPr txBox="1"/>
          <p:nvPr/>
        </p:nvSpPr>
        <p:spPr>
          <a:xfrm>
            <a:off x="8339327" y="1572768"/>
            <a:ext cx="2999232" cy="256032"/>
          </a:xfrm>
          <a:prstGeom prst="rect">
            <a:avLst/>
          </a:prstGeom>
          <a:noFill/>
        </p:spPr>
        <p:txBody>
          <a:bodyPr wrap="none" lIns="27432" rIns="27432" tIns="27432" bIns="27432" anchor="t">
            <a:spAutoFit/>
          </a:bodyPr>
          <a:lstStyle/>
          <a:p>
            <a:pPr algn="l">
              <a:spcAft>
                <a:spcPts val="0"/>
              </a:spcAft>
            </a:pPr>
            <a:r>
              <a:rPr sz="1000" b="1">
                <a:solidFill>
                  <a:srgbClr val="007E79"/>
                </a:solidFill>
                <a:latin typeface="Aptos"/>
              </a:rPr>
              <a:t>MARSON CD4+</a:t>
            </a:r>
          </a:p>
        </p:txBody>
      </p:sp>
      <p:sp>
        <p:nvSpPr>
          <p:cNvPr id="10" name="TextBox 9"/>
          <p:cNvSpPr txBox="1"/>
          <p:nvPr/>
        </p:nvSpPr>
        <p:spPr>
          <a:xfrm>
            <a:off x="8339327" y="1892807"/>
            <a:ext cx="2999232" cy="603504"/>
          </a:xfrm>
          <a:prstGeom prst="rect">
            <a:avLst/>
          </a:prstGeom>
          <a:noFill/>
        </p:spPr>
        <p:txBody>
          <a:bodyPr wrap="none" lIns="27432" rIns="27432" tIns="27432" bIns="27432" anchor="t">
            <a:spAutoFit/>
          </a:bodyPr>
          <a:lstStyle/>
          <a:p>
            <a:pPr algn="l">
              <a:spcAft>
                <a:spcPts val="0"/>
              </a:spcAft>
            </a:pPr>
            <a:r>
              <a:rPr sz="1050" b="0">
                <a:solidFill>
                  <a:srgbClr val="1F2B30"/>
                </a:solidFill>
                <a:latin typeface="Aptos"/>
              </a:rPr>
              <a:t>PASS · +0.229 [0.072,0.405]</a:t>
            </a:r>
          </a:p>
        </p:txBody>
      </p:sp>
      <p:sp>
        <p:nvSpPr>
          <p:cNvPr id="11" name="TextBox 10"/>
          <p:cNvSpPr txBox="1"/>
          <p:nvPr/>
        </p:nvSpPr>
        <p:spPr>
          <a:xfrm>
            <a:off x="8339327" y="2761488"/>
            <a:ext cx="2999232" cy="256032"/>
          </a:xfrm>
          <a:prstGeom prst="rect">
            <a:avLst/>
          </a:prstGeom>
          <a:noFill/>
        </p:spPr>
        <p:txBody>
          <a:bodyPr wrap="none" lIns="27432" rIns="27432" tIns="27432" bIns="27432" anchor="t">
            <a:spAutoFit/>
          </a:bodyPr>
          <a:lstStyle/>
          <a:p>
            <a:pPr algn="l">
              <a:spcAft>
                <a:spcPts val="0"/>
              </a:spcAft>
            </a:pPr>
            <a:r>
              <a:rPr sz="1000" b="1">
                <a:solidFill>
                  <a:srgbClr val="DA9F2A"/>
                </a:solidFill>
                <a:latin typeface="Aptos"/>
              </a:rPr>
              <a:t>SCHMIDT CD4+ / THP-1</a:t>
            </a:r>
          </a:p>
        </p:txBody>
      </p:sp>
      <p:sp>
        <p:nvSpPr>
          <p:cNvPr id="12" name="TextBox 11"/>
          <p:cNvSpPr txBox="1"/>
          <p:nvPr/>
        </p:nvSpPr>
        <p:spPr>
          <a:xfrm>
            <a:off x="8339327" y="3081528"/>
            <a:ext cx="2999232" cy="603504"/>
          </a:xfrm>
          <a:prstGeom prst="rect">
            <a:avLst/>
          </a:prstGeom>
          <a:noFill/>
        </p:spPr>
        <p:txBody>
          <a:bodyPr wrap="none" lIns="27432" rIns="27432" tIns="27432" bIns="27432" anchor="t">
            <a:spAutoFit/>
          </a:bodyPr>
          <a:lstStyle/>
          <a:p>
            <a:pPr algn="l">
              <a:spcAft>
                <a:spcPts val="0"/>
              </a:spcAft>
            </a:pPr>
            <a:r>
              <a:rPr sz="1050" b="0">
                <a:solidFill>
                  <a:srgbClr val="1F2B30"/>
                </a:solidFill>
                <a:latin typeface="Aptos"/>
              </a:rPr>
              <a:t>Same direction; intervals include zero. Near-miss is not PASS.</a:t>
            </a:r>
          </a:p>
        </p:txBody>
      </p:sp>
      <p:sp>
        <p:nvSpPr>
          <p:cNvPr id="13" name="TextBox 12"/>
          <p:cNvSpPr txBox="1"/>
          <p:nvPr/>
        </p:nvSpPr>
        <p:spPr>
          <a:xfrm>
            <a:off x="8339327" y="3950208"/>
            <a:ext cx="2999232" cy="256032"/>
          </a:xfrm>
          <a:prstGeom prst="rect">
            <a:avLst/>
          </a:prstGeom>
          <a:noFill/>
        </p:spPr>
        <p:txBody>
          <a:bodyPr wrap="none" lIns="27432" rIns="27432" tIns="27432" bIns="27432" anchor="t">
            <a:spAutoFit/>
          </a:bodyPr>
          <a:lstStyle/>
          <a:p>
            <a:pPr algn="l">
              <a:spcAft>
                <a:spcPts val="0"/>
              </a:spcAft>
            </a:pPr>
            <a:r>
              <a:rPr sz="1000" b="1">
                <a:solidFill>
                  <a:srgbClr val="C94A3D"/>
                </a:solidFill>
                <a:latin typeface="Aptos"/>
              </a:rPr>
              <a:t>K562 / RPE1</a:t>
            </a:r>
          </a:p>
        </p:txBody>
      </p:sp>
      <p:sp>
        <p:nvSpPr>
          <p:cNvPr id="14" name="TextBox 13"/>
          <p:cNvSpPr txBox="1"/>
          <p:nvPr/>
        </p:nvSpPr>
        <p:spPr>
          <a:xfrm>
            <a:off x="8339327" y="4270248"/>
            <a:ext cx="2999232" cy="603504"/>
          </a:xfrm>
          <a:prstGeom prst="rect">
            <a:avLst/>
          </a:prstGeom>
          <a:noFill/>
        </p:spPr>
        <p:txBody>
          <a:bodyPr wrap="none" lIns="27432" rIns="27432" tIns="27432" bIns="27432" anchor="t">
            <a:spAutoFit/>
          </a:bodyPr>
          <a:lstStyle/>
          <a:p>
            <a:pPr algn="l">
              <a:spcAft>
                <a:spcPts val="0"/>
              </a:spcAft>
            </a:pPr>
            <a:r>
              <a:rPr sz="1050" b="0">
                <a:solidFill>
                  <a:srgbClr val="1F2B30"/>
                </a:solidFill>
                <a:latin typeface="Aptos"/>
              </a:rPr>
              <a:t>Primary gates fail in non-immune systems.</a:t>
            </a:r>
          </a:p>
        </p:txBody>
      </p:sp>
      <p:sp>
        <p:nvSpPr>
          <p:cNvPr id="15" name="Rounded Rectangle 14"/>
          <p:cNvSpPr/>
          <p:nvPr/>
        </p:nvSpPr>
        <p:spPr>
          <a:xfrm>
            <a:off x="8302752" y="5148072"/>
            <a:ext cx="3236976" cy="713232"/>
          </a:xfrm>
          <a:prstGeom prst="roundRect">
            <a:avLst/>
          </a:prstGeom>
          <a:solidFill>
            <a:srgbClr val="103446"/>
          </a:solidFill>
          <a:ln w="10160">
            <a:solidFill>
              <a:srgbClr val="1034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40496" y="5321808"/>
            <a:ext cx="2761488" cy="365760"/>
          </a:xfrm>
          <a:prstGeom prst="rect">
            <a:avLst/>
          </a:prstGeom>
          <a:noFill/>
        </p:spPr>
        <p:txBody>
          <a:bodyPr wrap="none" lIns="27432" rIns="27432" tIns="27432" bIns="27432" anchor="t">
            <a:spAutoFit/>
          </a:bodyPr>
          <a:lstStyle/>
          <a:p>
            <a:pPr algn="ctr">
              <a:spcAft>
                <a:spcPts val="0"/>
              </a:spcAft>
            </a:pPr>
            <a:r>
              <a:rPr sz="1050" b="1">
                <a:solidFill>
                  <a:srgbClr val="FFFFFF"/>
                </a:solidFill>
                <a:latin typeface="Aptos"/>
              </a:rPr>
              <a:t>A boundary is also a result. We do not use the word invariant.</a:t>
            </a:r>
          </a:p>
        </p:txBody>
      </p:sp>
      <p:sp>
        <p:nvSpPr>
          <p:cNvPr id="17" name="TextBox 16"/>
          <p:cNvSpPr txBox="1"/>
          <p:nvPr/>
        </p:nvSpPr>
        <p:spPr>
          <a:xfrm>
            <a:off x="475488" y="6556248"/>
            <a:ext cx="6492240" cy="146304"/>
          </a:xfrm>
          <a:prstGeom prst="rect">
            <a:avLst/>
          </a:prstGeom>
          <a:noFill/>
        </p:spPr>
        <p:txBody>
          <a:bodyPr wrap="none" lIns="27432" rIns="27432" tIns="27432" bIns="27432" anchor="t">
            <a:spAutoFit/>
          </a:bodyPr>
          <a:lstStyle/>
          <a:p>
            <a:pPr algn="l">
              <a:spcAft>
                <a:spcPts val="0"/>
              </a:spcAft>
            </a:pPr>
            <a:r>
              <a:rPr sz="650" b="0">
                <a:solidFill>
                  <a:srgbClr val="5B6A6F"/>
                </a:solidFill>
                <a:latin typeface="Aptos"/>
              </a:rPr>
              <a:t>T-CTRL · powered by ISCI · Built with Claude: Life Sciences</a:t>
            </a:r>
          </a:p>
        </p:txBody>
      </p:sp>
      <p:sp>
        <p:nvSpPr>
          <p:cNvPr id="18" name="TextBox 17"/>
          <p:cNvSpPr txBox="1"/>
          <p:nvPr/>
        </p:nvSpPr>
        <p:spPr>
          <a:xfrm>
            <a:off x="6583680" y="6556248"/>
            <a:ext cx="4892040" cy="146304"/>
          </a:xfrm>
          <a:prstGeom prst="rect">
            <a:avLst/>
          </a:prstGeom>
          <a:noFill/>
        </p:spPr>
        <p:txBody>
          <a:bodyPr wrap="none" lIns="27432" rIns="27432" tIns="27432" bIns="27432" anchor="t">
            <a:spAutoFit/>
          </a:bodyPr>
          <a:lstStyle/>
          <a:p>
            <a:pPr algn="r">
              <a:spcAft>
                <a:spcPts val="0"/>
              </a:spcAft>
            </a:pPr>
            <a:r>
              <a:rPr sz="620" b="0">
                <a:solidFill>
                  <a:srgbClr val="5B6A6F"/>
                </a:solidFill>
                <a:latin typeface="Aptos"/>
              </a:rPr>
              <a:t>Source: figures/cci_scope_4systems.png · CLAIM_LEDGER #2</a:t>
            </a:r>
          </a:p>
        </p:txBody>
      </p:sp>
      <p:sp>
        <p:nvSpPr>
          <p:cNvPr id="19" name="TextBox 18"/>
          <p:cNvSpPr txBox="1"/>
          <p:nvPr/>
        </p:nvSpPr>
        <p:spPr>
          <a:xfrm>
            <a:off x="11503152" y="6556248"/>
            <a:ext cx="182880" cy="146304"/>
          </a:xfrm>
          <a:prstGeom prst="rect">
            <a:avLst/>
          </a:prstGeom>
          <a:noFill/>
        </p:spPr>
        <p:txBody>
          <a:bodyPr wrap="none" lIns="27432" rIns="27432" tIns="27432" bIns="27432" anchor="t">
            <a:spAutoFit/>
          </a:bodyPr>
          <a:lstStyle/>
          <a:p>
            <a:pPr algn="r">
              <a:spcAft>
                <a:spcPts val="0"/>
              </a:spcAft>
            </a:pPr>
            <a:r>
              <a:rPr sz="650" b="0">
                <a:solidFill>
                  <a:srgbClr val="5B6A6F"/>
                </a:solidFill>
                <a:latin typeface="Aptos"/>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7F2"/>
        </a:solidFill>
        <a:effectLst/>
      </p:bgPr>
    </p:bg>
    <p:spTree>
      <p:nvGrpSpPr>
        <p:cNvPr id="1" name=""/>
        <p:cNvGrpSpPr/>
        <p:nvPr/>
      </p:nvGrpSpPr>
      <p:grpSpPr/>
      <p:sp>
        <p:nvSpPr>
          <p:cNvPr id="2" name="TextBox 1"/>
          <p:cNvSpPr txBox="1"/>
          <p:nvPr/>
        </p:nvSpPr>
        <p:spPr>
          <a:xfrm>
            <a:off x="475488" y="274320"/>
            <a:ext cx="6217920" cy="228600"/>
          </a:xfrm>
          <a:prstGeom prst="rect">
            <a:avLst/>
          </a:prstGeom>
          <a:noFill/>
        </p:spPr>
        <p:txBody>
          <a:bodyPr wrap="none" lIns="27432" rIns="27432" tIns="27432" bIns="27432" anchor="t">
            <a:spAutoFit/>
          </a:bodyPr>
          <a:lstStyle/>
          <a:p>
            <a:pPr algn="l">
              <a:spcAft>
                <a:spcPts val="0"/>
              </a:spcAft>
            </a:pPr>
            <a:r>
              <a:rPr sz="850" b="1">
                <a:solidFill>
                  <a:srgbClr val="007E79"/>
                </a:solidFill>
                <a:latin typeface="Aptos"/>
              </a:rPr>
              <a:t>TRANSLATION LIMITS</a:t>
            </a:r>
          </a:p>
        </p:txBody>
      </p:sp>
      <p:sp>
        <p:nvSpPr>
          <p:cNvPr id="3" name="TextBox 2"/>
          <p:cNvSpPr txBox="1"/>
          <p:nvPr/>
        </p:nvSpPr>
        <p:spPr>
          <a:xfrm>
            <a:off x="475488" y="566928"/>
            <a:ext cx="11064240" cy="530352"/>
          </a:xfrm>
          <a:prstGeom prst="rect">
            <a:avLst/>
          </a:prstGeom>
          <a:noFill/>
        </p:spPr>
        <p:txBody>
          <a:bodyPr wrap="none" lIns="27432" rIns="27432" tIns="27432" bIns="27432" anchor="t">
            <a:spAutoFit/>
          </a:bodyPr>
          <a:lstStyle/>
          <a:p>
            <a:pPr algn="l">
              <a:spcAft>
                <a:spcPts val="0"/>
              </a:spcAft>
            </a:pPr>
            <a:r>
              <a:rPr sz="2500" b="1">
                <a:solidFill>
                  <a:srgbClr val="103446"/>
                </a:solidFill>
                <a:latin typeface="Aptos"/>
              </a:rPr>
              <a:t>Controller ≠ therapeutic target ≠ clinical biomarker.</a:t>
            </a:r>
          </a:p>
        </p:txBody>
      </p:sp>
      <p:sp>
        <p:nvSpPr>
          <p:cNvPr id="4" name="Rectangle 3"/>
          <p:cNvSpPr/>
          <p:nvPr/>
        </p:nvSpPr>
        <p:spPr>
          <a:xfrm>
            <a:off x="475488" y="1143000"/>
            <a:ext cx="11228832" cy="16459"/>
          </a:xfrm>
          <a:prstGeom prst="rect">
            <a:avLst/>
          </a:prstGeom>
          <a:solidFill>
            <a:srgbClr val="007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75488" y="6556248"/>
            <a:ext cx="6492240" cy="146304"/>
          </a:xfrm>
          <a:prstGeom prst="rect">
            <a:avLst/>
          </a:prstGeom>
          <a:noFill/>
        </p:spPr>
        <p:txBody>
          <a:bodyPr wrap="none" lIns="27432" rIns="27432" tIns="27432" bIns="27432" anchor="t">
            <a:spAutoFit/>
          </a:bodyPr>
          <a:lstStyle/>
          <a:p>
            <a:pPr algn="l">
              <a:spcAft>
                <a:spcPts val="0"/>
              </a:spcAft>
            </a:pPr>
            <a:r>
              <a:rPr sz="650" b="0">
                <a:solidFill>
                  <a:srgbClr val="5B6A6F"/>
                </a:solidFill>
                <a:latin typeface="Aptos"/>
              </a:rPr>
              <a:t>T-CTRL · powered by ISCI · Built with Claude: Life Sciences</a:t>
            </a:r>
          </a:p>
        </p:txBody>
      </p:sp>
      <p:sp>
        <p:nvSpPr>
          <p:cNvPr id="6" name="TextBox 5"/>
          <p:cNvSpPr txBox="1"/>
          <p:nvPr/>
        </p:nvSpPr>
        <p:spPr>
          <a:xfrm>
            <a:off x="11503152" y="6556248"/>
            <a:ext cx="182880" cy="146304"/>
          </a:xfrm>
          <a:prstGeom prst="rect">
            <a:avLst/>
          </a:prstGeom>
          <a:noFill/>
        </p:spPr>
        <p:txBody>
          <a:bodyPr wrap="none" lIns="27432" rIns="27432" tIns="27432" bIns="27432" anchor="t">
            <a:spAutoFit/>
          </a:bodyPr>
          <a:lstStyle/>
          <a:p>
            <a:pPr algn="r">
              <a:spcAft>
                <a:spcPts val="0"/>
              </a:spcAft>
            </a:pPr>
            <a:r>
              <a:rPr sz="650" b="0">
                <a:solidFill>
                  <a:srgbClr val="5B6A6F"/>
                </a:solidFill>
                <a:latin typeface="Aptos"/>
              </a:rPr>
              <a:t>7</a:t>
            </a:r>
          </a:p>
        </p:txBody>
      </p:sp>
      <p:sp>
        <p:nvSpPr>
          <p:cNvPr id="7" name="Rounded Rectangle 6"/>
          <p:cNvSpPr/>
          <p:nvPr/>
        </p:nvSpPr>
        <p:spPr>
          <a:xfrm>
            <a:off x="475488" y="1371600"/>
            <a:ext cx="5623560" cy="4041648"/>
          </a:xfrm>
          <a:prstGeom prst="roundRect">
            <a:avLst/>
          </a:prstGeom>
          <a:solidFill>
            <a:srgbClr val="FFFFFF"/>
          </a:solidFill>
          <a:ln w="10160">
            <a:solidFill>
              <a:srgbClr val="D8DC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ontroller_convergence_quadrant.png"/>
          <p:cNvPicPr>
            <a:picLocks noChangeAspect="1"/>
          </p:cNvPicPr>
          <p:nvPr/>
        </p:nvPicPr>
        <p:blipFill>
          <a:blip r:embed="rId2"/>
          <a:stretch>
            <a:fillRect/>
          </a:stretch>
        </p:blipFill>
        <p:spPr>
          <a:xfrm>
            <a:off x="860395" y="1453895"/>
            <a:ext cx="4853744" cy="3877056"/>
          </a:xfrm>
          <a:prstGeom prst="rect">
            <a:avLst/>
          </a:prstGeom>
        </p:spPr>
      </p:pic>
      <p:sp>
        <p:nvSpPr>
          <p:cNvPr id="9" name="Rounded Rectangle 8"/>
          <p:cNvSpPr/>
          <p:nvPr/>
        </p:nvSpPr>
        <p:spPr>
          <a:xfrm>
            <a:off x="6245352" y="1371600"/>
            <a:ext cx="5468112" cy="4041648"/>
          </a:xfrm>
          <a:prstGeom prst="roundRect">
            <a:avLst/>
          </a:prstGeom>
          <a:solidFill>
            <a:srgbClr val="FFFFFF"/>
          </a:solidFill>
          <a:ln w="10160">
            <a:solidFill>
              <a:srgbClr val="D8DC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ec_prediction.png"/>
          <p:cNvPicPr>
            <a:picLocks noChangeAspect="1"/>
          </p:cNvPicPr>
          <p:nvPr/>
        </p:nvPicPr>
        <p:blipFill>
          <a:blip r:embed="rId3"/>
          <a:stretch>
            <a:fillRect/>
          </a:stretch>
        </p:blipFill>
        <p:spPr>
          <a:xfrm>
            <a:off x="6327648" y="2342003"/>
            <a:ext cx="5303520" cy="2100840"/>
          </a:xfrm>
          <a:prstGeom prst="rect">
            <a:avLst/>
          </a:prstGeom>
        </p:spPr>
      </p:pic>
      <p:sp>
        <p:nvSpPr>
          <p:cNvPr id="11" name="Rounded Rectangle 10"/>
          <p:cNvSpPr/>
          <p:nvPr/>
        </p:nvSpPr>
        <p:spPr>
          <a:xfrm>
            <a:off x="658368" y="5541264"/>
            <a:ext cx="5248656" cy="566928"/>
          </a:xfrm>
          <a:prstGeom prst="roundRect">
            <a:avLst/>
          </a:prstGeom>
          <a:solidFill>
            <a:srgbClr val="FAEFCC"/>
          </a:solidFill>
          <a:ln w="10160">
            <a:solidFill>
              <a:srgbClr val="FAEF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5687568"/>
            <a:ext cx="4809744" cy="274320"/>
          </a:xfrm>
          <a:prstGeom prst="rect">
            <a:avLst/>
          </a:prstGeom>
          <a:noFill/>
        </p:spPr>
        <p:txBody>
          <a:bodyPr wrap="none" lIns="27432" rIns="27432" tIns="27432" bIns="27432" anchor="t">
            <a:spAutoFit/>
          </a:bodyPr>
          <a:lstStyle/>
          <a:p>
            <a:pPr algn="ctr">
              <a:spcAft>
                <a:spcPts val="0"/>
              </a:spcAft>
            </a:pPr>
            <a:r>
              <a:rPr sz="1040" b="1">
                <a:solidFill>
                  <a:srgbClr val="103446"/>
                </a:solidFill>
                <a:latin typeface="Aptos"/>
              </a:rPr>
              <a:t>IRF1 ranks #1 as a controller but points in an unfavorable intervention direction.</a:t>
            </a:r>
          </a:p>
        </p:txBody>
      </p:sp>
      <p:sp>
        <p:nvSpPr>
          <p:cNvPr id="13" name="Rounded Rectangle 12"/>
          <p:cNvSpPr/>
          <p:nvPr/>
        </p:nvSpPr>
        <p:spPr>
          <a:xfrm>
            <a:off x="6428232" y="5541264"/>
            <a:ext cx="5102352" cy="566928"/>
          </a:xfrm>
          <a:prstGeom prst="roundRect">
            <a:avLst/>
          </a:prstGeom>
          <a:solidFill>
            <a:srgbClr val="FAE2DE"/>
          </a:solidFill>
          <a:ln w="10160">
            <a:solidFill>
              <a:srgbClr val="FAE2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38544" y="5650992"/>
            <a:ext cx="4681728" cy="347472"/>
          </a:xfrm>
          <a:prstGeom prst="rect">
            <a:avLst/>
          </a:prstGeom>
          <a:noFill/>
        </p:spPr>
        <p:txBody>
          <a:bodyPr wrap="none" lIns="27432" rIns="27432" tIns="27432" bIns="27432" anchor="t">
            <a:spAutoFit/>
          </a:bodyPr>
          <a:lstStyle/>
          <a:p>
            <a:pPr algn="ctr">
              <a:spcAft>
                <a:spcPts val="0"/>
              </a:spcAft>
            </a:pPr>
            <a:r>
              <a:rPr sz="990" b="1">
                <a:solidFill>
                  <a:srgbClr val="C94A3D"/>
                </a:solidFill>
                <a:latin typeface="Aptos"/>
              </a:rPr>
              <a:t>CAR-T response: NULL · study-out AUROC 0.533 · CD8 baseline 0.585 · 87 patients / 9 studies</a:t>
            </a:r>
          </a:p>
        </p:txBody>
      </p:sp>
      <p:sp>
        <p:nvSpPr>
          <p:cNvPr id="15" name="TextBox 14"/>
          <p:cNvSpPr txBox="1"/>
          <p:nvPr/>
        </p:nvSpPr>
        <p:spPr>
          <a:xfrm>
            <a:off x="475488" y="6556248"/>
            <a:ext cx="6492240" cy="146304"/>
          </a:xfrm>
          <a:prstGeom prst="rect">
            <a:avLst/>
          </a:prstGeom>
          <a:noFill/>
        </p:spPr>
        <p:txBody>
          <a:bodyPr wrap="none" lIns="27432" rIns="27432" tIns="27432" bIns="27432" anchor="t">
            <a:spAutoFit/>
          </a:bodyPr>
          <a:lstStyle/>
          <a:p>
            <a:pPr algn="l">
              <a:spcAft>
                <a:spcPts val="0"/>
              </a:spcAft>
            </a:pPr>
            <a:r>
              <a:rPr sz="650" b="0">
                <a:solidFill>
                  <a:srgbClr val="5B6A6F"/>
                </a:solidFill>
                <a:latin typeface="Aptos"/>
              </a:rPr>
              <a:t>T-CTRL · powered by ISCI · Built with Claude: Life Sciences</a:t>
            </a:r>
          </a:p>
        </p:txBody>
      </p:sp>
      <p:sp>
        <p:nvSpPr>
          <p:cNvPr id="16" name="TextBox 15"/>
          <p:cNvSpPr txBox="1"/>
          <p:nvPr/>
        </p:nvSpPr>
        <p:spPr>
          <a:xfrm>
            <a:off x="6583680" y="6556248"/>
            <a:ext cx="4892040" cy="146304"/>
          </a:xfrm>
          <a:prstGeom prst="rect">
            <a:avLst/>
          </a:prstGeom>
          <a:noFill/>
        </p:spPr>
        <p:txBody>
          <a:bodyPr wrap="none" lIns="27432" rIns="27432" tIns="27432" bIns="27432" anchor="t">
            <a:spAutoFit/>
          </a:bodyPr>
          <a:lstStyle/>
          <a:p>
            <a:pPr algn="r">
              <a:spcAft>
                <a:spcPts val="0"/>
              </a:spcAft>
            </a:pPr>
            <a:r>
              <a:rPr sz="620" b="0">
                <a:solidFill>
                  <a:srgbClr val="5B6A6F"/>
                </a:solidFill>
                <a:latin typeface="Aptos"/>
              </a:rPr>
              <a:t>Sources: controller_convergence_quadrant.png · iec_clinical/verdict.json</a:t>
            </a:r>
          </a:p>
        </p:txBody>
      </p:sp>
      <p:sp>
        <p:nvSpPr>
          <p:cNvPr id="17" name="TextBox 16"/>
          <p:cNvSpPr txBox="1"/>
          <p:nvPr/>
        </p:nvSpPr>
        <p:spPr>
          <a:xfrm>
            <a:off x="11503152" y="6556248"/>
            <a:ext cx="182880" cy="146304"/>
          </a:xfrm>
          <a:prstGeom prst="rect">
            <a:avLst/>
          </a:prstGeom>
          <a:noFill/>
        </p:spPr>
        <p:txBody>
          <a:bodyPr wrap="none" lIns="27432" rIns="27432" tIns="27432" bIns="27432" anchor="t">
            <a:spAutoFit/>
          </a:bodyPr>
          <a:lstStyle/>
          <a:p>
            <a:pPr algn="r">
              <a:spcAft>
                <a:spcPts val="0"/>
              </a:spcAft>
            </a:pPr>
            <a:r>
              <a:rPr sz="650" b="0">
                <a:solidFill>
                  <a:srgbClr val="5B6A6F"/>
                </a:solidFill>
                <a:latin typeface="Aptos"/>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7F2"/>
        </a:solidFill>
        <a:effectLst/>
      </p:bgPr>
    </p:bg>
    <p:spTree>
      <p:nvGrpSpPr>
        <p:cNvPr id="1" name=""/>
        <p:cNvGrpSpPr/>
        <p:nvPr/>
      </p:nvGrpSpPr>
      <p:grpSpPr/>
      <p:sp>
        <p:nvSpPr>
          <p:cNvPr id="2" name="TextBox 1"/>
          <p:cNvSpPr txBox="1"/>
          <p:nvPr/>
        </p:nvSpPr>
        <p:spPr>
          <a:xfrm>
            <a:off x="475488" y="274320"/>
            <a:ext cx="6217920" cy="228600"/>
          </a:xfrm>
          <a:prstGeom prst="rect">
            <a:avLst/>
          </a:prstGeom>
          <a:noFill/>
        </p:spPr>
        <p:txBody>
          <a:bodyPr wrap="none" lIns="27432" rIns="27432" tIns="27432" bIns="27432" anchor="t">
            <a:spAutoFit/>
          </a:bodyPr>
          <a:lstStyle/>
          <a:p>
            <a:pPr algn="l">
              <a:spcAft>
                <a:spcPts val="0"/>
              </a:spcAft>
            </a:pPr>
            <a:r>
              <a:rPr sz="850" b="1">
                <a:solidFill>
                  <a:srgbClr val="007E79"/>
                </a:solidFill>
                <a:latin typeface="Aptos"/>
              </a:rPr>
              <a:t>THE INNOVATION IS JUDGMENT</a:t>
            </a:r>
          </a:p>
        </p:txBody>
      </p:sp>
      <p:sp>
        <p:nvSpPr>
          <p:cNvPr id="3" name="TextBox 2"/>
          <p:cNvSpPr txBox="1"/>
          <p:nvPr/>
        </p:nvSpPr>
        <p:spPr>
          <a:xfrm>
            <a:off x="475488" y="566928"/>
            <a:ext cx="11064240" cy="530352"/>
          </a:xfrm>
          <a:prstGeom prst="rect">
            <a:avLst/>
          </a:prstGeom>
          <a:noFill/>
        </p:spPr>
        <p:txBody>
          <a:bodyPr wrap="none" lIns="27432" rIns="27432" tIns="27432" bIns="27432" anchor="t">
            <a:spAutoFit/>
          </a:bodyPr>
          <a:lstStyle/>
          <a:p>
            <a:pPr algn="l">
              <a:spcAft>
                <a:spcPts val="0"/>
              </a:spcAft>
            </a:pPr>
            <a:r>
              <a:rPr sz="2500" b="1">
                <a:solidFill>
                  <a:srgbClr val="103446"/>
                </a:solidFill>
                <a:latin typeface="Aptos"/>
              </a:rPr>
              <a:t>The product also knows when to stop.</a:t>
            </a:r>
          </a:p>
        </p:txBody>
      </p:sp>
      <p:sp>
        <p:nvSpPr>
          <p:cNvPr id="4" name="Rectangle 3"/>
          <p:cNvSpPr/>
          <p:nvPr/>
        </p:nvSpPr>
        <p:spPr>
          <a:xfrm>
            <a:off x="475488" y="1143000"/>
            <a:ext cx="11228832" cy="16459"/>
          </a:xfrm>
          <a:prstGeom prst="rect">
            <a:avLst/>
          </a:prstGeom>
          <a:solidFill>
            <a:srgbClr val="007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75488" y="6556248"/>
            <a:ext cx="6492240" cy="146304"/>
          </a:xfrm>
          <a:prstGeom prst="rect">
            <a:avLst/>
          </a:prstGeom>
          <a:noFill/>
        </p:spPr>
        <p:txBody>
          <a:bodyPr wrap="none" lIns="27432" rIns="27432" tIns="27432" bIns="27432" anchor="t">
            <a:spAutoFit/>
          </a:bodyPr>
          <a:lstStyle/>
          <a:p>
            <a:pPr algn="l">
              <a:spcAft>
                <a:spcPts val="0"/>
              </a:spcAft>
            </a:pPr>
            <a:r>
              <a:rPr sz="650" b="0">
                <a:solidFill>
                  <a:srgbClr val="5B6A6F"/>
                </a:solidFill>
                <a:latin typeface="Aptos"/>
              </a:rPr>
              <a:t>T-CTRL · powered by ISCI · Built with Claude: Life Sciences</a:t>
            </a:r>
          </a:p>
        </p:txBody>
      </p:sp>
      <p:sp>
        <p:nvSpPr>
          <p:cNvPr id="6" name="TextBox 5"/>
          <p:cNvSpPr txBox="1"/>
          <p:nvPr/>
        </p:nvSpPr>
        <p:spPr>
          <a:xfrm>
            <a:off x="11503152" y="6556248"/>
            <a:ext cx="182880" cy="146304"/>
          </a:xfrm>
          <a:prstGeom prst="rect">
            <a:avLst/>
          </a:prstGeom>
          <a:noFill/>
        </p:spPr>
        <p:txBody>
          <a:bodyPr wrap="none" lIns="27432" rIns="27432" tIns="27432" bIns="27432" anchor="t">
            <a:spAutoFit/>
          </a:bodyPr>
          <a:lstStyle/>
          <a:p>
            <a:pPr algn="r">
              <a:spcAft>
                <a:spcPts val="0"/>
              </a:spcAft>
            </a:pPr>
            <a:r>
              <a:rPr sz="650" b="0">
                <a:solidFill>
                  <a:srgbClr val="5B6A6F"/>
                </a:solidFill>
                <a:latin typeface="Aptos"/>
              </a:rPr>
              <a:t>8</a:t>
            </a:r>
          </a:p>
        </p:txBody>
      </p:sp>
      <p:sp>
        <p:nvSpPr>
          <p:cNvPr id="7" name="Rounded Rectangle 6"/>
          <p:cNvSpPr/>
          <p:nvPr/>
        </p:nvSpPr>
        <p:spPr>
          <a:xfrm>
            <a:off x="475488" y="1408176"/>
            <a:ext cx="7790688" cy="4480560"/>
          </a:xfrm>
          <a:prstGeom prst="roundRect">
            <a:avLst/>
          </a:prstGeom>
          <a:solidFill>
            <a:srgbClr val="FFFFFF"/>
          </a:solidFill>
          <a:ln w="10160">
            <a:solidFill>
              <a:srgbClr val="D8DC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layer_verdict_map.png"/>
          <p:cNvPicPr>
            <a:picLocks noChangeAspect="1"/>
          </p:cNvPicPr>
          <p:nvPr/>
        </p:nvPicPr>
        <p:blipFill>
          <a:blip r:embed="rId2"/>
          <a:stretch>
            <a:fillRect/>
          </a:stretch>
        </p:blipFill>
        <p:spPr>
          <a:xfrm>
            <a:off x="557783" y="1624669"/>
            <a:ext cx="7626096" cy="4047572"/>
          </a:xfrm>
          <a:prstGeom prst="rect">
            <a:avLst/>
          </a:prstGeom>
        </p:spPr>
      </p:pic>
      <p:sp>
        <p:nvSpPr>
          <p:cNvPr id="9" name="Rounded Rectangle 8"/>
          <p:cNvSpPr/>
          <p:nvPr/>
        </p:nvSpPr>
        <p:spPr>
          <a:xfrm>
            <a:off x="8503920" y="1444752"/>
            <a:ext cx="3054096" cy="877824"/>
          </a:xfrm>
          <a:prstGeom prst="roundRect">
            <a:avLst/>
          </a:prstGeom>
          <a:solidFill>
            <a:srgbClr val="DAF1EB"/>
          </a:solidFill>
          <a:ln w="10160">
            <a:solidFill>
              <a:srgbClr val="DAF1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05088" y="1572768"/>
            <a:ext cx="2651760" cy="201168"/>
          </a:xfrm>
          <a:prstGeom prst="rect">
            <a:avLst/>
          </a:prstGeom>
          <a:noFill/>
        </p:spPr>
        <p:txBody>
          <a:bodyPr wrap="none" lIns="27432" rIns="27432" tIns="27432" bIns="27432" anchor="t">
            <a:spAutoFit/>
          </a:bodyPr>
          <a:lstStyle/>
          <a:p>
            <a:pPr algn="l">
              <a:spcAft>
                <a:spcPts val="0"/>
              </a:spcAft>
            </a:pPr>
            <a:r>
              <a:rPr sz="1050" b="1">
                <a:solidFill>
                  <a:srgbClr val="007E79"/>
                </a:solidFill>
                <a:latin typeface="Aptos"/>
              </a:rPr>
              <a:t>PASS</a:t>
            </a:r>
          </a:p>
        </p:txBody>
      </p:sp>
      <p:sp>
        <p:nvSpPr>
          <p:cNvPr id="11" name="TextBox 10"/>
          <p:cNvSpPr txBox="1"/>
          <p:nvPr/>
        </p:nvSpPr>
        <p:spPr>
          <a:xfrm>
            <a:off x="8705088" y="1847088"/>
            <a:ext cx="2651760" cy="347472"/>
          </a:xfrm>
          <a:prstGeom prst="rect">
            <a:avLst/>
          </a:prstGeom>
          <a:noFill/>
        </p:spPr>
        <p:txBody>
          <a:bodyPr wrap="none" lIns="27432" rIns="27432" tIns="27432" bIns="27432" anchor="t">
            <a:spAutoFit/>
          </a:bodyPr>
          <a:lstStyle/>
          <a:p>
            <a:pPr algn="l">
              <a:spcAft>
                <a:spcPts val="0"/>
              </a:spcAft>
            </a:pPr>
            <a:r>
              <a:rPr sz="880" b="0">
                <a:solidFill>
                  <a:srgbClr val="1F2B30"/>
                </a:solidFill>
                <a:latin typeface="Aptos"/>
              </a:rPr>
              <a:t>Prespecified direction and every required gate pass.</a:t>
            </a:r>
          </a:p>
        </p:txBody>
      </p:sp>
      <p:sp>
        <p:nvSpPr>
          <p:cNvPr id="12" name="Rounded Rectangle 11"/>
          <p:cNvSpPr/>
          <p:nvPr/>
        </p:nvSpPr>
        <p:spPr>
          <a:xfrm>
            <a:off x="8503920" y="2523744"/>
            <a:ext cx="3054096" cy="877824"/>
          </a:xfrm>
          <a:prstGeom prst="roundRect">
            <a:avLst/>
          </a:prstGeom>
          <a:solidFill>
            <a:srgbClr val="FAE2DE"/>
          </a:solidFill>
          <a:ln w="10160">
            <a:solidFill>
              <a:srgbClr val="FAE2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05088" y="2651760"/>
            <a:ext cx="2651760" cy="201168"/>
          </a:xfrm>
          <a:prstGeom prst="rect">
            <a:avLst/>
          </a:prstGeom>
          <a:noFill/>
        </p:spPr>
        <p:txBody>
          <a:bodyPr wrap="none" lIns="27432" rIns="27432" tIns="27432" bIns="27432" anchor="t">
            <a:spAutoFit/>
          </a:bodyPr>
          <a:lstStyle/>
          <a:p>
            <a:pPr algn="l">
              <a:spcAft>
                <a:spcPts val="0"/>
              </a:spcAft>
            </a:pPr>
            <a:r>
              <a:rPr sz="1050" b="1">
                <a:solidFill>
                  <a:srgbClr val="C94A3D"/>
                </a:solidFill>
                <a:latin typeface="Aptos"/>
              </a:rPr>
              <a:t>FAIL</a:t>
            </a:r>
          </a:p>
        </p:txBody>
      </p:sp>
      <p:sp>
        <p:nvSpPr>
          <p:cNvPr id="14" name="TextBox 13"/>
          <p:cNvSpPr txBox="1"/>
          <p:nvPr/>
        </p:nvSpPr>
        <p:spPr>
          <a:xfrm>
            <a:off x="8705088" y="2926079"/>
            <a:ext cx="2651760" cy="347472"/>
          </a:xfrm>
          <a:prstGeom prst="rect">
            <a:avLst/>
          </a:prstGeom>
          <a:noFill/>
        </p:spPr>
        <p:txBody>
          <a:bodyPr wrap="none" lIns="27432" rIns="27432" tIns="27432" bIns="27432" anchor="t">
            <a:spAutoFit/>
          </a:bodyPr>
          <a:lstStyle/>
          <a:p>
            <a:pPr algn="l">
              <a:spcAft>
                <a:spcPts val="0"/>
              </a:spcAft>
            </a:pPr>
            <a:r>
              <a:rPr sz="880" b="0">
                <a:solidFill>
                  <a:srgbClr val="1F2B30"/>
                </a:solidFill>
                <a:latin typeface="Aptos"/>
              </a:rPr>
              <a:t>The claim is testable and a required gate fails.</a:t>
            </a:r>
          </a:p>
        </p:txBody>
      </p:sp>
      <p:sp>
        <p:nvSpPr>
          <p:cNvPr id="15" name="Rounded Rectangle 14"/>
          <p:cNvSpPr/>
          <p:nvPr/>
        </p:nvSpPr>
        <p:spPr>
          <a:xfrm>
            <a:off x="8503920" y="3602736"/>
            <a:ext cx="3054096" cy="877824"/>
          </a:xfrm>
          <a:prstGeom prst="roundRect">
            <a:avLst/>
          </a:prstGeom>
          <a:solidFill>
            <a:srgbClr val="E3EBEF"/>
          </a:solidFill>
          <a:ln w="10160">
            <a:solidFill>
              <a:srgbClr val="E3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05088" y="3730752"/>
            <a:ext cx="2651760" cy="201168"/>
          </a:xfrm>
          <a:prstGeom prst="rect">
            <a:avLst/>
          </a:prstGeom>
          <a:noFill/>
        </p:spPr>
        <p:txBody>
          <a:bodyPr wrap="none" lIns="27432" rIns="27432" tIns="27432" bIns="27432" anchor="t">
            <a:spAutoFit/>
          </a:bodyPr>
          <a:lstStyle/>
          <a:p>
            <a:pPr algn="l">
              <a:spcAft>
                <a:spcPts val="0"/>
              </a:spcAft>
            </a:pPr>
            <a:r>
              <a:rPr sz="1050" b="1">
                <a:solidFill>
                  <a:srgbClr val="103446"/>
                </a:solidFill>
                <a:latin typeface="Aptos"/>
              </a:rPr>
              <a:t>NULL</a:t>
            </a:r>
          </a:p>
        </p:txBody>
      </p:sp>
      <p:sp>
        <p:nvSpPr>
          <p:cNvPr id="17" name="TextBox 16"/>
          <p:cNvSpPr txBox="1"/>
          <p:nvPr/>
        </p:nvSpPr>
        <p:spPr>
          <a:xfrm>
            <a:off x="8705088" y="4005072"/>
            <a:ext cx="2651760" cy="347472"/>
          </a:xfrm>
          <a:prstGeom prst="rect">
            <a:avLst/>
          </a:prstGeom>
          <a:noFill/>
        </p:spPr>
        <p:txBody>
          <a:bodyPr wrap="none" lIns="27432" rIns="27432" tIns="27432" bIns="27432" anchor="t">
            <a:spAutoFit/>
          </a:bodyPr>
          <a:lstStyle/>
          <a:p>
            <a:pPr algn="l">
              <a:spcAft>
                <a:spcPts val="0"/>
              </a:spcAft>
            </a:pPr>
            <a:r>
              <a:rPr sz="880" b="0">
                <a:solidFill>
                  <a:srgbClr val="1F2B30"/>
                </a:solidFill>
                <a:latin typeface="Aptos"/>
              </a:rPr>
              <a:t>The test is valid but adds no supported signal.</a:t>
            </a:r>
          </a:p>
        </p:txBody>
      </p:sp>
      <p:sp>
        <p:nvSpPr>
          <p:cNvPr id="18" name="Rounded Rectangle 17"/>
          <p:cNvSpPr/>
          <p:nvPr/>
        </p:nvSpPr>
        <p:spPr>
          <a:xfrm>
            <a:off x="8503920" y="4681728"/>
            <a:ext cx="3054096" cy="877824"/>
          </a:xfrm>
          <a:prstGeom prst="roundRect">
            <a:avLst/>
          </a:prstGeom>
          <a:solidFill>
            <a:srgbClr val="FAEFCC"/>
          </a:solidFill>
          <a:ln w="10160">
            <a:solidFill>
              <a:srgbClr val="FAEF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05088" y="4809744"/>
            <a:ext cx="2651760" cy="201168"/>
          </a:xfrm>
          <a:prstGeom prst="rect">
            <a:avLst/>
          </a:prstGeom>
          <a:noFill/>
        </p:spPr>
        <p:txBody>
          <a:bodyPr wrap="none" lIns="27432" rIns="27432" tIns="27432" bIns="27432" anchor="t">
            <a:spAutoFit/>
          </a:bodyPr>
          <a:lstStyle/>
          <a:p>
            <a:pPr algn="l">
              <a:spcAft>
                <a:spcPts val="0"/>
              </a:spcAft>
            </a:pPr>
            <a:r>
              <a:rPr sz="1050" b="1">
                <a:solidFill>
                  <a:srgbClr val="DA9F2A"/>
                </a:solidFill>
                <a:latin typeface="Aptos"/>
              </a:rPr>
              <a:t>NOT-EVALUABLE</a:t>
            </a:r>
          </a:p>
        </p:txBody>
      </p:sp>
      <p:sp>
        <p:nvSpPr>
          <p:cNvPr id="20" name="TextBox 19"/>
          <p:cNvSpPr txBox="1"/>
          <p:nvPr/>
        </p:nvSpPr>
        <p:spPr>
          <a:xfrm>
            <a:off x="8705088" y="5084064"/>
            <a:ext cx="2651760" cy="347472"/>
          </a:xfrm>
          <a:prstGeom prst="rect">
            <a:avLst/>
          </a:prstGeom>
          <a:noFill/>
        </p:spPr>
        <p:txBody>
          <a:bodyPr wrap="none" lIns="27432" rIns="27432" tIns="27432" bIns="27432" anchor="t">
            <a:spAutoFit/>
          </a:bodyPr>
          <a:lstStyle/>
          <a:p>
            <a:pPr algn="l">
              <a:spcAft>
                <a:spcPts val="0"/>
              </a:spcAft>
            </a:pPr>
            <a:r>
              <a:rPr sz="880" b="0">
                <a:solidFill>
                  <a:srgbClr val="1F2B30"/>
                </a:solidFill>
                <a:latin typeface="Aptos"/>
              </a:rPr>
              <a:t>A required input is absent; no biology is forced.</a:t>
            </a:r>
          </a:p>
        </p:txBody>
      </p:sp>
      <p:sp>
        <p:nvSpPr>
          <p:cNvPr id="21" name="Rounded Rectangle 20"/>
          <p:cNvSpPr/>
          <p:nvPr/>
        </p:nvSpPr>
        <p:spPr>
          <a:xfrm>
            <a:off x="1115568" y="5989320"/>
            <a:ext cx="9966960" cy="347472"/>
          </a:xfrm>
          <a:prstGeom prst="roundRect">
            <a:avLst/>
          </a:prstGeom>
          <a:solidFill>
            <a:srgbClr val="103446"/>
          </a:solidFill>
          <a:ln w="10160">
            <a:solidFill>
              <a:srgbClr val="1034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53312" y="6071616"/>
            <a:ext cx="9491472" cy="164592"/>
          </a:xfrm>
          <a:prstGeom prst="rect">
            <a:avLst/>
          </a:prstGeom>
          <a:noFill/>
        </p:spPr>
        <p:txBody>
          <a:bodyPr wrap="none" lIns="27432" rIns="27432" tIns="27432" bIns="27432" anchor="t">
            <a:spAutoFit/>
          </a:bodyPr>
          <a:lstStyle/>
          <a:p>
            <a:pPr algn="ctr">
              <a:spcAft>
                <a:spcPts val="0"/>
              </a:spcAft>
            </a:pPr>
            <a:r>
              <a:rPr sz="1030" b="1">
                <a:solidFill>
                  <a:srgbClr val="FFFFFF"/>
                </a:solidFill>
                <a:latin typeface="Aptos"/>
              </a:rPr>
              <a:t>Strong science does not maximize positive results; it makes every conclusion auditable and falsifiable.</a:t>
            </a:r>
          </a:p>
        </p:txBody>
      </p:sp>
      <p:sp>
        <p:nvSpPr>
          <p:cNvPr id="23" name="TextBox 22"/>
          <p:cNvSpPr txBox="1"/>
          <p:nvPr/>
        </p:nvSpPr>
        <p:spPr>
          <a:xfrm>
            <a:off x="475488" y="6556248"/>
            <a:ext cx="6492240" cy="146304"/>
          </a:xfrm>
          <a:prstGeom prst="rect">
            <a:avLst/>
          </a:prstGeom>
          <a:noFill/>
        </p:spPr>
        <p:txBody>
          <a:bodyPr wrap="none" lIns="27432" rIns="27432" tIns="27432" bIns="27432" anchor="t">
            <a:spAutoFit/>
          </a:bodyPr>
          <a:lstStyle/>
          <a:p>
            <a:pPr algn="l">
              <a:spcAft>
                <a:spcPts val="0"/>
              </a:spcAft>
            </a:pPr>
            <a:r>
              <a:rPr sz="650" b="0">
                <a:solidFill>
                  <a:srgbClr val="5B6A6F"/>
                </a:solidFill>
                <a:latin typeface="Aptos"/>
              </a:rPr>
              <a:t>T-CTRL · powered by ISCI · Built with Claude: Life Sciences</a:t>
            </a:r>
          </a:p>
        </p:txBody>
      </p:sp>
      <p:sp>
        <p:nvSpPr>
          <p:cNvPr id="24" name="TextBox 23"/>
          <p:cNvSpPr txBox="1"/>
          <p:nvPr/>
        </p:nvSpPr>
        <p:spPr>
          <a:xfrm>
            <a:off x="6583680" y="6556248"/>
            <a:ext cx="4892040" cy="146304"/>
          </a:xfrm>
          <a:prstGeom prst="rect">
            <a:avLst/>
          </a:prstGeom>
          <a:noFill/>
        </p:spPr>
        <p:txBody>
          <a:bodyPr wrap="none" lIns="27432" rIns="27432" tIns="27432" bIns="27432" anchor="t">
            <a:spAutoFit/>
          </a:bodyPr>
          <a:lstStyle/>
          <a:p>
            <a:pPr algn="r">
              <a:spcAft>
                <a:spcPts val="0"/>
              </a:spcAft>
            </a:pPr>
            <a:r>
              <a:rPr sz="620" b="0">
                <a:solidFill>
                  <a:srgbClr val="5B6A6F"/>
                </a:solidFill>
                <a:latin typeface="Aptos"/>
              </a:rPr>
              <a:t>Source: outputs/hackathon/claim_manifest.json</a:t>
            </a:r>
          </a:p>
        </p:txBody>
      </p:sp>
      <p:sp>
        <p:nvSpPr>
          <p:cNvPr id="25" name="TextBox 24"/>
          <p:cNvSpPr txBox="1"/>
          <p:nvPr/>
        </p:nvSpPr>
        <p:spPr>
          <a:xfrm>
            <a:off x="11503152" y="6556248"/>
            <a:ext cx="182880" cy="146304"/>
          </a:xfrm>
          <a:prstGeom prst="rect">
            <a:avLst/>
          </a:prstGeom>
          <a:noFill/>
        </p:spPr>
        <p:txBody>
          <a:bodyPr wrap="none" lIns="27432" rIns="27432" tIns="27432" bIns="27432" anchor="t">
            <a:spAutoFit/>
          </a:bodyPr>
          <a:lstStyle/>
          <a:p>
            <a:pPr algn="r">
              <a:spcAft>
                <a:spcPts val="0"/>
              </a:spcAft>
            </a:pPr>
            <a:r>
              <a:rPr sz="650" b="0">
                <a:solidFill>
                  <a:srgbClr val="5B6A6F"/>
                </a:solidFill>
                <a:latin typeface="Aptos"/>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7F2"/>
        </a:solidFill>
        <a:effectLst/>
      </p:bgPr>
    </p:bg>
    <p:spTree>
      <p:nvGrpSpPr>
        <p:cNvPr id="1" name=""/>
        <p:cNvGrpSpPr/>
        <p:nvPr/>
      </p:nvGrpSpPr>
      <p:grpSpPr/>
      <p:sp>
        <p:nvSpPr>
          <p:cNvPr id="2" name="TextBox 1"/>
          <p:cNvSpPr txBox="1"/>
          <p:nvPr/>
        </p:nvSpPr>
        <p:spPr>
          <a:xfrm>
            <a:off x="475488" y="274320"/>
            <a:ext cx="6217920" cy="228600"/>
          </a:xfrm>
          <a:prstGeom prst="rect">
            <a:avLst/>
          </a:prstGeom>
          <a:noFill/>
        </p:spPr>
        <p:txBody>
          <a:bodyPr wrap="none" lIns="27432" rIns="27432" tIns="27432" bIns="27432" anchor="t">
            <a:spAutoFit/>
          </a:bodyPr>
          <a:lstStyle/>
          <a:p>
            <a:pPr algn="l">
              <a:spcAft>
                <a:spcPts val="0"/>
              </a:spcAft>
            </a:pPr>
            <a:r>
              <a:rPr sz="850" b="1">
                <a:solidFill>
                  <a:srgbClr val="007E79"/>
                </a:solidFill>
                <a:latin typeface="Aptos"/>
              </a:rPr>
              <a:t>GLADSTONE BRIDGE</a:t>
            </a:r>
          </a:p>
        </p:txBody>
      </p:sp>
      <p:sp>
        <p:nvSpPr>
          <p:cNvPr id="3" name="TextBox 2"/>
          <p:cNvSpPr txBox="1"/>
          <p:nvPr/>
        </p:nvSpPr>
        <p:spPr>
          <a:xfrm>
            <a:off x="475488" y="566928"/>
            <a:ext cx="11064240" cy="530352"/>
          </a:xfrm>
          <a:prstGeom prst="rect">
            <a:avLst/>
          </a:prstGeom>
          <a:noFill/>
        </p:spPr>
        <p:txBody>
          <a:bodyPr wrap="none" lIns="27432" rIns="27432" tIns="27432" bIns="27432" anchor="t">
            <a:spAutoFit/>
          </a:bodyPr>
          <a:lstStyle/>
          <a:p>
            <a:pPr algn="l">
              <a:spcAft>
                <a:spcPts val="0"/>
              </a:spcAft>
            </a:pPr>
            <a:r>
              <a:rPr sz="2500" b="1">
                <a:solidFill>
                  <a:srgbClr val="103446"/>
                </a:solidFill>
                <a:latin typeface="Aptos"/>
              </a:rPr>
              <a:t>A prospective experiment that can falsify the next claim.</a:t>
            </a:r>
          </a:p>
        </p:txBody>
      </p:sp>
      <p:sp>
        <p:nvSpPr>
          <p:cNvPr id="4" name="Rectangle 3"/>
          <p:cNvSpPr/>
          <p:nvPr/>
        </p:nvSpPr>
        <p:spPr>
          <a:xfrm>
            <a:off x="475488" y="1143000"/>
            <a:ext cx="11228832" cy="16459"/>
          </a:xfrm>
          <a:prstGeom prst="rect">
            <a:avLst/>
          </a:prstGeom>
          <a:solidFill>
            <a:srgbClr val="007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75488" y="6556248"/>
            <a:ext cx="6492240" cy="146304"/>
          </a:xfrm>
          <a:prstGeom prst="rect">
            <a:avLst/>
          </a:prstGeom>
          <a:noFill/>
        </p:spPr>
        <p:txBody>
          <a:bodyPr wrap="none" lIns="27432" rIns="27432" tIns="27432" bIns="27432" anchor="t">
            <a:spAutoFit/>
          </a:bodyPr>
          <a:lstStyle/>
          <a:p>
            <a:pPr algn="l">
              <a:spcAft>
                <a:spcPts val="0"/>
              </a:spcAft>
            </a:pPr>
            <a:r>
              <a:rPr sz="650" b="0">
                <a:solidFill>
                  <a:srgbClr val="5B6A6F"/>
                </a:solidFill>
                <a:latin typeface="Aptos"/>
              </a:rPr>
              <a:t>T-CTRL · powered by ISCI · Built with Claude: Life Sciences</a:t>
            </a:r>
          </a:p>
        </p:txBody>
      </p:sp>
      <p:sp>
        <p:nvSpPr>
          <p:cNvPr id="6" name="TextBox 5"/>
          <p:cNvSpPr txBox="1"/>
          <p:nvPr/>
        </p:nvSpPr>
        <p:spPr>
          <a:xfrm>
            <a:off x="11503152" y="6556248"/>
            <a:ext cx="182880" cy="146304"/>
          </a:xfrm>
          <a:prstGeom prst="rect">
            <a:avLst/>
          </a:prstGeom>
          <a:noFill/>
        </p:spPr>
        <p:txBody>
          <a:bodyPr wrap="none" lIns="27432" rIns="27432" tIns="27432" bIns="27432" anchor="t">
            <a:spAutoFit/>
          </a:bodyPr>
          <a:lstStyle/>
          <a:p>
            <a:pPr algn="r">
              <a:spcAft>
                <a:spcPts val="0"/>
              </a:spcAft>
            </a:pPr>
            <a:r>
              <a:rPr sz="650" b="0">
                <a:solidFill>
                  <a:srgbClr val="5B6A6F"/>
                </a:solidFill>
                <a:latin typeface="Aptos"/>
              </a:rPr>
              <a:t>9</a:t>
            </a:r>
          </a:p>
        </p:txBody>
      </p:sp>
      <p:sp>
        <p:nvSpPr>
          <p:cNvPr id="7" name="Rounded Rectangle 6"/>
          <p:cNvSpPr/>
          <p:nvPr/>
        </p:nvSpPr>
        <p:spPr>
          <a:xfrm>
            <a:off x="566928" y="1481328"/>
            <a:ext cx="2395728" cy="1097280"/>
          </a:xfrm>
          <a:prstGeom prst="roundRect">
            <a:avLst/>
          </a:prstGeom>
          <a:solidFill>
            <a:srgbClr val="DAF1EB"/>
          </a:solidFill>
          <a:ln w="10160">
            <a:solidFill>
              <a:srgbClr val="D8DC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682496"/>
            <a:ext cx="2066543" cy="347472"/>
          </a:xfrm>
          <a:prstGeom prst="rect">
            <a:avLst/>
          </a:prstGeom>
          <a:noFill/>
        </p:spPr>
        <p:txBody>
          <a:bodyPr wrap="none" lIns="27432" rIns="27432" tIns="27432" bIns="27432" anchor="t">
            <a:spAutoFit/>
          </a:bodyPr>
          <a:lstStyle/>
          <a:p>
            <a:pPr algn="ctr">
              <a:spcAft>
                <a:spcPts val="0"/>
              </a:spcAft>
            </a:pPr>
            <a:r>
              <a:rPr sz="2200" b="1">
                <a:solidFill>
                  <a:srgbClr val="007E79"/>
                </a:solidFill>
                <a:latin typeface="Aptos"/>
              </a:rPr>
              <a:t>25</a:t>
            </a:r>
          </a:p>
        </p:txBody>
      </p:sp>
      <p:sp>
        <p:nvSpPr>
          <p:cNvPr id="9" name="TextBox 8"/>
          <p:cNvSpPr txBox="1"/>
          <p:nvPr/>
        </p:nvSpPr>
        <p:spPr>
          <a:xfrm>
            <a:off x="731520" y="2084831"/>
            <a:ext cx="2066543" cy="219456"/>
          </a:xfrm>
          <a:prstGeom prst="rect">
            <a:avLst/>
          </a:prstGeom>
          <a:noFill/>
        </p:spPr>
        <p:txBody>
          <a:bodyPr wrap="none" lIns="27432" rIns="27432" tIns="27432" bIns="27432" anchor="t">
            <a:spAutoFit/>
          </a:bodyPr>
          <a:lstStyle/>
          <a:p>
            <a:pPr algn="ctr">
              <a:spcAft>
                <a:spcPts val="0"/>
              </a:spcAft>
            </a:pPr>
            <a:r>
              <a:rPr sz="940" b="0">
                <a:solidFill>
                  <a:srgbClr val="1F2B30"/>
                </a:solidFill>
                <a:latin typeface="Aptos"/>
              </a:rPr>
              <a:t>target genes</a:t>
            </a:r>
          </a:p>
        </p:txBody>
      </p:sp>
      <p:sp>
        <p:nvSpPr>
          <p:cNvPr id="10" name="Rounded Rectangle 9"/>
          <p:cNvSpPr/>
          <p:nvPr/>
        </p:nvSpPr>
        <p:spPr>
          <a:xfrm>
            <a:off x="3346704" y="1481328"/>
            <a:ext cx="2395728" cy="1097280"/>
          </a:xfrm>
          <a:prstGeom prst="roundRect">
            <a:avLst/>
          </a:prstGeom>
          <a:solidFill>
            <a:srgbClr val="DAF1EB"/>
          </a:solidFill>
          <a:ln w="10160">
            <a:solidFill>
              <a:srgbClr val="D8DC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11296" y="1682496"/>
            <a:ext cx="2066543" cy="347472"/>
          </a:xfrm>
          <a:prstGeom prst="rect">
            <a:avLst/>
          </a:prstGeom>
          <a:noFill/>
        </p:spPr>
        <p:txBody>
          <a:bodyPr wrap="none" lIns="27432" rIns="27432" tIns="27432" bIns="27432" anchor="t">
            <a:spAutoFit/>
          </a:bodyPr>
          <a:lstStyle/>
          <a:p>
            <a:pPr algn="ctr">
              <a:spcAft>
                <a:spcPts val="0"/>
              </a:spcAft>
            </a:pPr>
            <a:r>
              <a:rPr sz="2200" b="1">
                <a:solidFill>
                  <a:srgbClr val="007E79"/>
                </a:solidFill>
                <a:latin typeface="Aptos"/>
              </a:rPr>
              <a:t>54</a:t>
            </a:r>
          </a:p>
        </p:txBody>
      </p:sp>
      <p:sp>
        <p:nvSpPr>
          <p:cNvPr id="12" name="TextBox 11"/>
          <p:cNvSpPr txBox="1"/>
          <p:nvPr/>
        </p:nvSpPr>
        <p:spPr>
          <a:xfrm>
            <a:off x="3511296" y="2084831"/>
            <a:ext cx="2066543" cy="219456"/>
          </a:xfrm>
          <a:prstGeom prst="rect">
            <a:avLst/>
          </a:prstGeom>
          <a:noFill/>
        </p:spPr>
        <p:txBody>
          <a:bodyPr wrap="none" lIns="27432" rIns="27432" tIns="27432" bIns="27432" anchor="t">
            <a:spAutoFit/>
          </a:bodyPr>
          <a:lstStyle/>
          <a:p>
            <a:pPr algn="ctr">
              <a:spcAft>
                <a:spcPts val="0"/>
              </a:spcAft>
            </a:pPr>
            <a:r>
              <a:rPr sz="940" b="0">
                <a:solidFill>
                  <a:srgbClr val="1F2B30"/>
                </a:solidFill>
                <a:latin typeface="Aptos"/>
              </a:rPr>
              <a:t>CRISPR guides</a:t>
            </a:r>
          </a:p>
        </p:txBody>
      </p:sp>
      <p:sp>
        <p:nvSpPr>
          <p:cNvPr id="13" name="Rounded Rectangle 12"/>
          <p:cNvSpPr/>
          <p:nvPr/>
        </p:nvSpPr>
        <p:spPr>
          <a:xfrm>
            <a:off x="6126480" y="1481328"/>
            <a:ext cx="2395728" cy="1097280"/>
          </a:xfrm>
          <a:prstGeom prst="roundRect">
            <a:avLst/>
          </a:prstGeom>
          <a:solidFill>
            <a:srgbClr val="FAEFCC"/>
          </a:solidFill>
          <a:ln w="10160">
            <a:solidFill>
              <a:srgbClr val="D8DC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91072" y="1682496"/>
            <a:ext cx="2066543" cy="347472"/>
          </a:xfrm>
          <a:prstGeom prst="rect">
            <a:avLst/>
          </a:prstGeom>
          <a:noFill/>
        </p:spPr>
        <p:txBody>
          <a:bodyPr wrap="none" lIns="27432" rIns="27432" tIns="27432" bIns="27432" anchor="t">
            <a:spAutoFit/>
          </a:bodyPr>
          <a:lstStyle/>
          <a:p>
            <a:pPr algn="ctr">
              <a:spcAft>
                <a:spcPts val="0"/>
              </a:spcAft>
            </a:pPr>
            <a:r>
              <a:rPr sz="2200" b="1">
                <a:solidFill>
                  <a:srgbClr val="DA9F2A"/>
                </a:solidFill>
                <a:latin typeface="Aptos"/>
              </a:rPr>
              <a:t>8–12</a:t>
            </a:r>
          </a:p>
        </p:txBody>
      </p:sp>
      <p:sp>
        <p:nvSpPr>
          <p:cNvPr id="15" name="TextBox 14"/>
          <p:cNvSpPr txBox="1"/>
          <p:nvPr/>
        </p:nvSpPr>
        <p:spPr>
          <a:xfrm>
            <a:off x="6291072" y="2084831"/>
            <a:ext cx="2066543" cy="219456"/>
          </a:xfrm>
          <a:prstGeom prst="rect">
            <a:avLst/>
          </a:prstGeom>
          <a:noFill/>
        </p:spPr>
        <p:txBody>
          <a:bodyPr wrap="none" lIns="27432" rIns="27432" tIns="27432" bIns="27432" anchor="t">
            <a:spAutoFit/>
          </a:bodyPr>
          <a:lstStyle/>
          <a:p>
            <a:pPr algn="ctr">
              <a:spcAft>
                <a:spcPts val="0"/>
              </a:spcAft>
            </a:pPr>
            <a:r>
              <a:rPr sz="940" b="0">
                <a:solidFill>
                  <a:srgbClr val="1F2B30"/>
                </a:solidFill>
                <a:latin typeface="Aptos"/>
              </a:rPr>
              <a:t>independent donors</a:t>
            </a:r>
          </a:p>
        </p:txBody>
      </p:sp>
      <p:sp>
        <p:nvSpPr>
          <p:cNvPr id="16" name="Rounded Rectangle 15"/>
          <p:cNvSpPr/>
          <p:nvPr/>
        </p:nvSpPr>
        <p:spPr>
          <a:xfrm>
            <a:off x="8906256" y="1481328"/>
            <a:ext cx="2395728" cy="1097280"/>
          </a:xfrm>
          <a:prstGeom prst="roundRect">
            <a:avLst/>
          </a:prstGeom>
          <a:solidFill>
            <a:srgbClr val="FAEFCC"/>
          </a:solidFill>
          <a:ln w="10160">
            <a:solidFill>
              <a:srgbClr val="D8DC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70848" y="1682496"/>
            <a:ext cx="2066543" cy="347472"/>
          </a:xfrm>
          <a:prstGeom prst="rect">
            <a:avLst/>
          </a:prstGeom>
          <a:noFill/>
        </p:spPr>
        <p:txBody>
          <a:bodyPr wrap="none" lIns="27432" rIns="27432" tIns="27432" bIns="27432" anchor="t">
            <a:spAutoFit/>
          </a:bodyPr>
          <a:lstStyle/>
          <a:p>
            <a:pPr algn="ctr">
              <a:spcAft>
                <a:spcPts val="0"/>
              </a:spcAft>
            </a:pPr>
            <a:r>
              <a:rPr sz="2200" b="1">
                <a:solidFill>
                  <a:srgbClr val="DA9F2A"/>
                </a:solidFill>
                <a:latin typeface="Aptos"/>
              </a:rPr>
              <a:t>2</a:t>
            </a:r>
          </a:p>
        </p:txBody>
      </p:sp>
      <p:sp>
        <p:nvSpPr>
          <p:cNvPr id="18" name="TextBox 17"/>
          <p:cNvSpPr txBox="1"/>
          <p:nvPr/>
        </p:nvSpPr>
        <p:spPr>
          <a:xfrm>
            <a:off x="9070848" y="2084831"/>
            <a:ext cx="2066543" cy="219456"/>
          </a:xfrm>
          <a:prstGeom prst="rect">
            <a:avLst/>
          </a:prstGeom>
          <a:noFill/>
        </p:spPr>
        <p:txBody>
          <a:bodyPr wrap="none" lIns="27432" rIns="27432" tIns="27432" bIns="27432" anchor="t">
            <a:spAutoFit/>
          </a:bodyPr>
          <a:lstStyle/>
          <a:p>
            <a:pPr algn="ctr">
              <a:spcAft>
                <a:spcPts val="0"/>
              </a:spcAft>
            </a:pPr>
            <a:r>
              <a:rPr sz="940" b="0">
                <a:solidFill>
                  <a:srgbClr val="1F2B30"/>
                </a:solidFill>
                <a:latin typeface="Aptos"/>
              </a:rPr>
              <a:t>paired contexts</a:t>
            </a:r>
          </a:p>
        </p:txBody>
      </p:sp>
      <p:sp>
        <p:nvSpPr>
          <p:cNvPr id="19" name="Rounded Rectangle 18"/>
          <p:cNvSpPr/>
          <p:nvPr/>
        </p:nvSpPr>
        <p:spPr>
          <a:xfrm>
            <a:off x="566928" y="2907792"/>
            <a:ext cx="6986016" cy="2267712"/>
          </a:xfrm>
          <a:prstGeom prst="roundRect">
            <a:avLst/>
          </a:prstGeom>
          <a:solidFill>
            <a:srgbClr val="FFFFFF"/>
          </a:solidFill>
          <a:ln w="10160">
            <a:solidFill>
              <a:srgbClr val="D8DC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1248" y="3163824"/>
            <a:ext cx="3108960" cy="256032"/>
          </a:xfrm>
          <a:prstGeom prst="rect">
            <a:avLst/>
          </a:prstGeom>
          <a:noFill/>
        </p:spPr>
        <p:txBody>
          <a:bodyPr wrap="none" lIns="27432" rIns="27432" tIns="27432" bIns="27432" anchor="t">
            <a:spAutoFit/>
          </a:bodyPr>
          <a:lstStyle/>
          <a:p>
            <a:pPr algn="l">
              <a:spcAft>
                <a:spcPts val="0"/>
              </a:spcAft>
            </a:pPr>
            <a:r>
              <a:rPr sz="1000" b="1">
                <a:solidFill>
                  <a:srgbClr val="007E79"/>
                </a:solidFill>
                <a:latin typeface="Aptos"/>
              </a:rPr>
              <a:t>DONOR-RESOLVED DESIGN</a:t>
            </a:r>
          </a:p>
        </p:txBody>
      </p:sp>
      <p:sp>
        <p:nvSpPr>
          <p:cNvPr id="21" name="TextBox 20"/>
          <p:cNvSpPr txBox="1"/>
          <p:nvPr/>
        </p:nvSpPr>
        <p:spPr>
          <a:xfrm>
            <a:off x="841248" y="3584448"/>
            <a:ext cx="6382512" cy="987552"/>
          </a:xfrm>
          <a:prstGeom prst="rect">
            <a:avLst/>
          </a:prstGeom>
          <a:noFill/>
        </p:spPr>
        <p:txBody>
          <a:bodyPr wrap="none" lIns="27432" rIns="27432" tIns="27432" bIns="27432" anchor="t">
            <a:spAutoFit/>
          </a:bodyPr>
          <a:lstStyle/>
          <a:p>
            <a:pPr algn="l">
              <a:spcAft>
                <a:spcPts val="0"/>
              </a:spcAft>
            </a:pPr>
            <a:r>
              <a:rPr sz="1400" b="1">
                <a:solidFill>
                  <a:srgbClr val="103446"/>
                </a:solidFill>
                <a:latin typeface="Aptos"/>
              </a:rPr>
              <a:t>The donor is the biological replicate. Guides, wells and sequencing channels do not increase n. Each donor contributes matched rest and stimulation contexts, and promotion requires concordant direction across the predeclared panel.</a:t>
            </a:r>
          </a:p>
        </p:txBody>
      </p:sp>
      <p:sp>
        <p:nvSpPr>
          <p:cNvPr id="22" name="TextBox 21"/>
          <p:cNvSpPr txBox="1"/>
          <p:nvPr/>
        </p:nvSpPr>
        <p:spPr>
          <a:xfrm>
            <a:off x="841248" y="4626864"/>
            <a:ext cx="6382512" cy="365760"/>
          </a:xfrm>
          <a:prstGeom prst="rect">
            <a:avLst/>
          </a:prstGeom>
          <a:noFill/>
        </p:spPr>
        <p:txBody>
          <a:bodyPr wrap="none" lIns="27432" rIns="27432" tIns="27432" bIns="27432" anchor="t">
            <a:spAutoFit/>
          </a:bodyPr>
          <a:lstStyle/>
          <a:p>
            <a:pPr algn="l">
              <a:spcAft>
                <a:spcPts val="0"/>
              </a:spcAft>
            </a:pPr>
            <a:r>
              <a:rPr sz="940" b="0">
                <a:solidFill>
                  <a:srgbClr val="5B6A6F"/>
                </a:solidFill>
                <a:latin typeface="Aptos"/>
              </a:rPr>
              <a:t>Falsification: a residual precision gain below the frozen lower bound, donor-bootstrap interval crossing zero, or gene-label/context exchange p≥0.05 blocks promotion.</a:t>
            </a:r>
          </a:p>
        </p:txBody>
      </p:sp>
      <p:sp>
        <p:nvSpPr>
          <p:cNvPr id="23" name="Rounded Rectangle 22"/>
          <p:cNvSpPr/>
          <p:nvPr/>
        </p:nvSpPr>
        <p:spPr>
          <a:xfrm>
            <a:off x="7845552" y="2907792"/>
            <a:ext cx="3822191" cy="2267712"/>
          </a:xfrm>
          <a:prstGeom prst="roundRect">
            <a:avLst/>
          </a:prstGeom>
          <a:solidFill>
            <a:srgbClr val="FAE2DE"/>
          </a:solidFill>
          <a:ln w="10160">
            <a:solidFill>
              <a:srgbClr val="FAE2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19872" y="3182112"/>
            <a:ext cx="3273552" cy="274320"/>
          </a:xfrm>
          <a:prstGeom prst="rect">
            <a:avLst/>
          </a:prstGeom>
          <a:noFill/>
        </p:spPr>
        <p:txBody>
          <a:bodyPr wrap="none" lIns="27432" rIns="27432" tIns="27432" bIns="27432" anchor="t">
            <a:spAutoFit/>
          </a:bodyPr>
          <a:lstStyle/>
          <a:p>
            <a:pPr algn="l">
              <a:spcAft>
                <a:spcPts val="0"/>
              </a:spcAft>
            </a:pPr>
            <a:r>
              <a:rPr sz="1100" b="1">
                <a:solidFill>
                  <a:srgbClr val="C94A3D"/>
                </a:solidFill>
                <a:latin typeface="Aptos"/>
              </a:rPr>
              <a:t>STOP BEFORE SYNTHESIS</a:t>
            </a:r>
          </a:p>
        </p:txBody>
      </p:sp>
      <p:sp>
        <p:nvSpPr>
          <p:cNvPr id="25" name="TextBox 24"/>
          <p:cNvSpPr txBox="1"/>
          <p:nvPr/>
        </p:nvSpPr>
        <p:spPr>
          <a:xfrm>
            <a:off x="8119872" y="3675887"/>
            <a:ext cx="3273552" cy="1024128"/>
          </a:xfrm>
          <a:prstGeom prst="rect">
            <a:avLst/>
          </a:prstGeom>
          <a:noFill/>
        </p:spPr>
        <p:txBody>
          <a:bodyPr wrap="none" lIns="27432" rIns="27432" tIns="27432" bIns="27432" anchor="t">
            <a:spAutoFit/>
          </a:bodyPr>
          <a:lstStyle/>
          <a:p>
            <a:pPr algn="l">
              <a:spcAft>
                <a:spcPts val="0"/>
              </a:spcAft>
            </a:pPr>
            <a:r>
              <a:rPr sz="1220" b="1">
                <a:solidFill>
                  <a:srgbClr val="1F2B30"/>
                </a:solidFill>
                <a:latin typeface="Aptos"/>
              </a:rPr>
              <a:t>Reference sequence, vector compatibility, on-target activity and off-target risk must pass first. PAPOLG-1 remains low-support. A proposed panel is not an experimentally validated result.</a:t>
            </a:r>
          </a:p>
        </p:txBody>
      </p:sp>
      <p:sp>
        <p:nvSpPr>
          <p:cNvPr id="26" name="TextBox 25"/>
          <p:cNvSpPr txBox="1"/>
          <p:nvPr/>
        </p:nvSpPr>
        <p:spPr>
          <a:xfrm>
            <a:off x="475488" y="6556248"/>
            <a:ext cx="6492240" cy="146304"/>
          </a:xfrm>
          <a:prstGeom prst="rect">
            <a:avLst/>
          </a:prstGeom>
          <a:noFill/>
        </p:spPr>
        <p:txBody>
          <a:bodyPr wrap="none" lIns="27432" rIns="27432" tIns="27432" bIns="27432" anchor="t">
            <a:spAutoFit/>
          </a:bodyPr>
          <a:lstStyle/>
          <a:p>
            <a:pPr algn="l">
              <a:spcAft>
                <a:spcPts val="0"/>
              </a:spcAft>
            </a:pPr>
            <a:r>
              <a:rPr sz="650" b="0">
                <a:solidFill>
                  <a:srgbClr val="5B6A6F"/>
                </a:solidFill>
                <a:latin typeface="Aptos"/>
              </a:rPr>
              <a:t>T-CTRL · powered by ISCI · Built with Claude: Life Sciences</a:t>
            </a:r>
          </a:p>
        </p:txBody>
      </p:sp>
      <p:sp>
        <p:nvSpPr>
          <p:cNvPr id="27" name="TextBox 26"/>
          <p:cNvSpPr txBox="1"/>
          <p:nvPr/>
        </p:nvSpPr>
        <p:spPr>
          <a:xfrm>
            <a:off x="6583680" y="6556248"/>
            <a:ext cx="4892040" cy="146304"/>
          </a:xfrm>
          <a:prstGeom prst="rect">
            <a:avLst/>
          </a:prstGeom>
          <a:noFill/>
        </p:spPr>
        <p:txBody>
          <a:bodyPr wrap="none" lIns="27432" rIns="27432" tIns="27432" bIns="27432" anchor="t">
            <a:spAutoFit/>
          </a:bodyPr>
          <a:lstStyle/>
          <a:p>
            <a:pPr algn="r">
              <a:spcAft>
                <a:spcPts val="0"/>
              </a:spcAft>
            </a:pPr>
            <a:r>
              <a:rPr sz="620" b="0">
                <a:solidFill>
                  <a:srgbClr val="5B6A6F"/>
                </a:solidFill>
                <a:latin typeface="Aptos"/>
              </a:rPr>
              <a:t>Source: reports/PROSPECTIVE_DONOR_PANEL_PROTOCOL.md</a:t>
            </a:r>
          </a:p>
        </p:txBody>
      </p:sp>
      <p:sp>
        <p:nvSpPr>
          <p:cNvPr id="28" name="TextBox 27"/>
          <p:cNvSpPr txBox="1"/>
          <p:nvPr/>
        </p:nvSpPr>
        <p:spPr>
          <a:xfrm>
            <a:off x="11503152" y="6556248"/>
            <a:ext cx="182880" cy="146304"/>
          </a:xfrm>
          <a:prstGeom prst="rect">
            <a:avLst/>
          </a:prstGeom>
          <a:noFill/>
        </p:spPr>
        <p:txBody>
          <a:bodyPr wrap="none" lIns="27432" rIns="27432" tIns="27432" bIns="27432" anchor="t">
            <a:spAutoFit/>
          </a:bodyPr>
          <a:lstStyle/>
          <a:p>
            <a:pPr algn="r">
              <a:spcAft>
                <a:spcPts val="0"/>
              </a:spcAft>
            </a:pPr>
            <a:r>
              <a:rPr sz="650" b="0">
                <a:solidFill>
                  <a:srgbClr val="5B6A6F"/>
                </a:solidFill>
                <a:latin typeface="Aptos"/>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7F2"/>
        </a:solidFill>
        <a:effectLst/>
      </p:bgPr>
    </p:bg>
    <p:spTree>
      <p:nvGrpSpPr>
        <p:cNvPr id="1" name=""/>
        <p:cNvGrpSpPr/>
        <p:nvPr/>
      </p:nvGrpSpPr>
      <p:grpSpPr/>
      <p:sp>
        <p:nvSpPr>
          <p:cNvPr id="2" name="TextBox 1"/>
          <p:cNvSpPr txBox="1"/>
          <p:nvPr/>
        </p:nvSpPr>
        <p:spPr>
          <a:xfrm>
            <a:off x="475488" y="274320"/>
            <a:ext cx="6217920" cy="228600"/>
          </a:xfrm>
          <a:prstGeom prst="rect">
            <a:avLst/>
          </a:prstGeom>
          <a:noFill/>
        </p:spPr>
        <p:txBody>
          <a:bodyPr wrap="none" lIns="27432" rIns="27432" tIns="27432" bIns="27432" anchor="t">
            <a:spAutoFit/>
          </a:bodyPr>
          <a:lstStyle/>
          <a:p>
            <a:pPr algn="l">
              <a:spcAft>
                <a:spcPts val="0"/>
              </a:spcAft>
            </a:pPr>
            <a:r>
              <a:rPr sz="850" b="1">
                <a:solidFill>
                  <a:srgbClr val="007E79"/>
                </a:solidFill>
                <a:latin typeface="Aptos"/>
              </a:rPr>
              <a:t>OPEN-SOURCE DELIVERY</a:t>
            </a:r>
          </a:p>
        </p:txBody>
      </p:sp>
      <p:sp>
        <p:nvSpPr>
          <p:cNvPr id="3" name="TextBox 2"/>
          <p:cNvSpPr txBox="1"/>
          <p:nvPr/>
        </p:nvSpPr>
        <p:spPr>
          <a:xfrm>
            <a:off x="475488" y="566928"/>
            <a:ext cx="11064240" cy="530352"/>
          </a:xfrm>
          <a:prstGeom prst="rect">
            <a:avLst/>
          </a:prstGeom>
          <a:noFill/>
        </p:spPr>
        <p:txBody>
          <a:bodyPr wrap="none" lIns="27432" rIns="27432" tIns="27432" bIns="27432" anchor="t">
            <a:spAutoFit/>
          </a:bodyPr>
          <a:lstStyle/>
          <a:p>
            <a:pPr algn="l">
              <a:spcAft>
                <a:spcPts val="0"/>
              </a:spcAft>
            </a:pPr>
            <a:r>
              <a:rPr sz="2500" b="1">
                <a:solidFill>
                  <a:srgbClr val="103446"/>
                </a:solidFill>
                <a:latin typeface="Aptos"/>
              </a:rPr>
              <a:t>The artifact is executable, reusable and auditable.</a:t>
            </a:r>
          </a:p>
        </p:txBody>
      </p:sp>
      <p:sp>
        <p:nvSpPr>
          <p:cNvPr id="4" name="Rectangle 3"/>
          <p:cNvSpPr/>
          <p:nvPr/>
        </p:nvSpPr>
        <p:spPr>
          <a:xfrm>
            <a:off x="475488" y="1143000"/>
            <a:ext cx="11228832" cy="16459"/>
          </a:xfrm>
          <a:prstGeom prst="rect">
            <a:avLst/>
          </a:prstGeom>
          <a:solidFill>
            <a:srgbClr val="007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75488" y="6556248"/>
            <a:ext cx="6492240" cy="146304"/>
          </a:xfrm>
          <a:prstGeom prst="rect">
            <a:avLst/>
          </a:prstGeom>
          <a:noFill/>
        </p:spPr>
        <p:txBody>
          <a:bodyPr wrap="none" lIns="27432" rIns="27432" tIns="27432" bIns="27432" anchor="t">
            <a:spAutoFit/>
          </a:bodyPr>
          <a:lstStyle/>
          <a:p>
            <a:pPr algn="l">
              <a:spcAft>
                <a:spcPts val="0"/>
              </a:spcAft>
            </a:pPr>
            <a:r>
              <a:rPr sz="650" b="0">
                <a:solidFill>
                  <a:srgbClr val="5B6A6F"/>
                </a:solidFill>
                <a:latin typeface="Aptos"/>
              </a:rPr>
              <a:t>T-CTRL · powered by ISCI · Built with Claude: Life Sciences</a:t>
            </a:r>
          </a:p>
        </p:txBody>
      </p:sp>
      <p:sp>
        <p:nvSpPr>
          <p:cNvPr id="6" name="TextBox 5"/>
          <p:cNvSpPr txBox="1"/>
          <p:nvPr/>
        </p:nvSpPr>
        <p:spPr>
          <a:xfrm>
            <a:off x="11503152" y="6556248"/>
            <a:ext cx="182880" cy="146304"/>
          </a:xfrm>
          <a:prstGeom prst="rect">
            <a:avLst/>
          </a:prstGeom>
          <a:noFill/>
        </p:spPr>
        <p:txBody>
          <a:bodyPr wrap="none" lIns="27432" rIns="27432" tIns="27432" bIns="27432" anchor="t">
            <a:spAutoFit/>
          </a:bodyPr>
          <a:lstStyle/>
          <a:p>
            <a:pPr algn="r">
              <a:spcAft>
                <a:spcPts val="0"/>
              </a:spcAft>
            </a:pPr>
            <a:r>
              <a:rPr sz="650" b="0">
                <a:solidFill>
                  <a:srgbClr val="5B6A6F"/>
                </a:solidFill>
                <a:latin typeface="Aptos"/>
              </a:rPr>
              <a:t>10</a:t>
            </a:r>
          </a:p>
        </p:txBody>
      </p:sp>
      <p:sp>
        <p:nvSpPr>
          <p:cNvPr id="7" name="Rounded Rectangle 6"/>
          <p:cNvSpPr/>
          <p:nvPr/>
        </p:nvSpPr>
        <p:spPr>
          <a:xfrm>
            <a:off x="475488" y="1517904"/>
            <a:ext cx="2542032" cy="1572768"/>
          </a:xfrm>
          <a:prstGeom prst="roundRect">
            <a:avLst/>
          </a:prstGeom>
          <a:solidFill>
            <a:srgbClr val="FAEFCC"/>
          </a:solidFill>
          <a:ln w="10160">
            <a:solidFill>
              <a:srgbClr val="D8DC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1755648"/>
            <a:ext cx="2176272" cy="256032"/>
          </a:xfrm>
          <a:prstGeom prst="rect">
            <a:avLst/>
          </a:prstGeom>
          <a:noFill/>
        </p:spPr>
        <p:txBody>
          <a:bodyPr wrap="none" lIns="27432" rIns="27432" tIns="27432" bIns="27432" anchor="t">
            <a:spAutoFit/>
          </a:bodyPr>
          <a:lstStyle/>
          <a:p>
            <a:pPr algn="ctr">
              <a:spcAft>
                <a:spcPts val="0"/>
              </a:spcAft>
            </a:pPr>
            <a:r>
              <a:rPr sz="950" b="1">
                <a:solidFill>
                  <a:srgbClr val="103446"/>
                </a:solidFill>
                <a:latin typeface="Aptos"/>
              </a:rPr>
              <a:t>1 · CONTRACTS</a:t>
            </a:r>
          </a:p>
        </p:txBody>
      </p:sp>
      <p:sp>
        <p:nvSpPr>
          <p:cNvPr id="9" name="TextBox 8"/>
          <p:cNvSpPr txBox="1"/>
          <p:nvPr/>
        </p:nvSpPr>
        <p:spPr>
          <a:xfrm>
            <a:off x="658368" y="2221992"/>
            <a:ext cx="2176272" cy="530352"/>
          </a:xfrm>
          <a:prstGeom prst="rect">
            <a:avLst/>
          </a:prstGeom>
          <a:noFill/>
        </p:spPr>
        <p:txBody>
          <a:bodyPr wrap="none" lIns="27432" rIns="27432" tIns="27432" bIns="27432" anchor="t">
            <a:spAutoFit/>
          </a:bodyPr>
          <a:lstStyle/>
          <a:p>
            <a:pPr algn="ctr">
              <a:spcAft>
                <a:spcPts val="0"/>
              </a:spcAft>
            </a:pPr>
            <a:r>
              <a:rPr sz="1000" b="0">
                <a:solidFill>
                  <a:srgbClr val="1F2B30"/>
                </a:solidFill>
                <a:latin typeface="Aptos"/>
              </a:rPr>
              <a:t>Frozen axes, claims, gates and DatasetSpec</a:t>
            </a:r>
          </a:p>
        </p:txBody>
      </p:sp>
      <p:sp>
        <p:nvSpPr>
          <p:cNvPr id="10" name="Rounded Rectangle 9"/>
          <p:cNvSpPr/>
          <p:nvPr/>
        </p:nvSpPr>
        <p:spPr>
          <a:xfrm>
            <a:off x="3355848" y="1517904"/>
            <a:ext cx="2542032" cy="1572768"/>
          </a:xfrm>
          <a:prstGeom prst="roundRect">
            <a:avLst/>
          </a:prstGeom>
          <a:solidFill>
            <a:srgbClr val="DAF1EB"/>
          </a:solidFill>
          <a:ln w="10160">
            <a:solidFill>
              <a:srgbClr val="D8DC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38728" y="1755648"/>
            <a:ext cx="2176272" cy="256032"/>
          </a:xfrm>
          <a:prstGeom prst="rect">
            <a:avLst/>
          </a:prstGeom>
          <a:noFill/>
        </p:spPr>
        <p:txBody>
          <a:bodyPr wrap="none" lIns="27432" rIns="27432" tIns="27432" bIns="27432" anchor="t">
            <a:spAutoFit/>
          </a:bodyPr>
          <a:lstStyle/>
          <a:p>
            <a:pPr algn="ctr">
              <a:spcAft>
                <a:spcPts val="0"/>
              </a:spcAft>
            </a:pPr>
            <a:r>
              <a:rPr sz="950" b="1">
                <a:solidFill>
                  <a:srgbClr val="103446"/>
                </a:solidFill>
                <a:latin typeface="Aptos"/>
              </a:rPr>
              <a:t>2 · PYTHON ENGINE</a:t>
            </a:r>
          </a:p>
        </p:txBody>
      </p:sp>
      <p:sp>
        <p:nvSpPr>
          <p:cNvPr id="12" name="TextBox 11"/>
          <p:cNvSpPr txBox="1"/>
          <p:nvPr/>
        </p:nvSpPr>
        <p:spPr>
          <a:xfrm>
            <a:off x="3538728" y="2221992"/>
            <a:ext cx="2176272" cy="530352"/>
          </a:xfrm>
          <a:prstGeom prst="rect">
            <a:avLst/>
          </a:prstGeom>
          <a:noFill/>
        </p:spPr>
        <p:txBody>
          <a:bodyPr wrap="none" lIns="27432" rIns="27432" tIns="27432" bIns="27432" anchor="t">
            <a:spAutoFit/>
          </a:bodyPr>
          <a:lstStyle/>
          <a:p>
            <a:pPr algn="ctr">
              <a:spcAft>
                <a:spcPts val="0"/>
              </a:spcAft>
            </a:pPr>
            <a:r>
              <a:rPr sz="1000" b="0">
                <a:solidFill>
                  <a:srgbClr val="1F2B30"/>
                </a:solidFill>
                <a:latin typeface="Aptos"/>
              </a:rPr>
              <a:t>CLI, adapters, block-bounded H5AD processing</a:t>
            </a:r>
          </a:p>
        </p:txBody>
      </p:sp>
      <p:sp>
        <p:nvSpPr>
          <p:cNvPr id="13" name="Rounded Rectangle 12"/>
          <p:cNvSpPr/>
          <p:nvPr/>
        </p:nvSpPr>
        <p:spPr>
          <a:xfrm>
            <a:off x="6236208" y="1517904"/>
            <a:ext cx="2542032" cy="1572768"/>
          </a:xfrm>
          <a:prstGeom prst="roundRect">
            <a:avLst/>
          </a:prstGeom>
          <a:solidFill>
            <a:srgbClr val="FFFFFF"/>
          </a:solidFill>
          <a:ln w="10160">
            <a:solidFill>
              <a:srgbClr val="D8DC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19088" y="1755648"/>
            <a:ext cx="2176272" cy="256032"/>
          </a:xfrm>
          <a:prstGeom prst="rect">
            <a:avLst/>
          </a:prstGeom>
          <a:noFill/>
        </p:spPr>
        <p:txBody>
          <a:bodyPr wrap="none" lIns="27432" rIns="27432" tIns="27432" bIns="27432" anchor="t">
            <a:spAutoFit/>
          </a:bodyPr>
          <a:lstStyle/>
          <a:p>
            <a:pPr algn="ctr">
              <a:spcAft>
                <a:spcPts val="0"/>
              </a:spcAft>
            </a:pPr>
            <a:r>
              <a:rPr sz="950" b="1">
                <a:solidFill>
                  <a:srgbClr val="103446"/>
                </a:solidFill>
                <a:latin typeface="Aptos"/>
              </a:rPr>
              <a:t>3 · EVIDENCE</a:t>
            </a:r>
          </a:p>
        </p:txBody>
      </p:sp>
      <p:sp>
        <p:nvSpPr>
          <p:cNvPr id="15" name="TextBox 14"/>
          <p:cNvSpPr txBox="1"/>
          <p:nvPr/>
        </p:nvSpPr>
        <p:spPr>
          <a:xfrm>
            <a:off x="6419088" y="2221992"/>
            <a:ext cx="2176272" cy="530352"/>
          </a:xfrm>
          <a:prstGeom prst="rect">
            <a:avLst/>
          </a:prstGeom>
          <a:noFill/>
        </p:spPr>
        <p:txBody>
          <a:bodyPr wrap="none" lIns="27432" rIns="27432" tIns="27432" bIns="27432" anchor="t">
            <a:spAutoFit/>
          </a:bodyPr>
          <a:lstStyle/>
          <a:p>
            <a:pPr algn="ctr">
              <a:spcAft>
                <a:spcPts val="0"/>
              </a:spcAft>
            </a:pPr>
            <a:r>
              <a:rPr sz="1000" b="0">
                <a:solidFill>
                  <a:srgbClr val="1F2B30"/>
                </a:solidFill>
                <a:latin typeface="Aptos"/>
              </a:rPr>
              <a:t>JSON/CSV, figures, hashes, tests and claim ledger</a:t>
            </a:r>
          </a:p>
        </p:txBody>
      </p:sp>
      <p:sp>
        <p:nvSpPr>
          <p:cNvPr id="16" name="Rounded Rectangle 15"/>
          <p:cNvSpPr/>
          <p:nvPr/>
        </p:nvSpPr>
        <p:spPr>
          <a:xfrm>
            <a:off x="9116567" y="1517904"/>
            <a:ext cx="2542032" cy="1572768"/>
          </a:xfrm>
          <a:prstGeom prst="roundRect">
            <a:avLst/>
          </a:prstGeom>
          <a:solidFill>
            <a:srgbClr val="FAE2DE"/>
          </a:solidFill>
          <a:ln w="10160">
            <a:solidFill>
              <a:srgbClr val="D8DC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99447" y="1755648"/>
            <a:ext cx="2176272" cy="256032"/>
          </a:xfrm>
          <a:prstGeom prst="rect">
            <a:avLst/>
          </a:prstGeom>
          <a:noFill/>
        </p:spPr>
        <p:txBody>
          <a:bodyPr wrap="none" lIns="27432" rIns="27432" tIns="27432" bIns="27432" anchor="t">
            <a:spAutoFit/>
          </a:bodyPr>
          <a:lstStyle/>
          <a:p>
            <a:pPr algn="ctr">
              <a:spcAft>
                <a:spcPts val="0"/>
              </a:spcAft>
            </a:pPr>
            <a:r>
              <a:rPr sz="950" b="1">
                <a:solidFill>
                  <a:srgbClr val="103446"/>
                </a:solidFill>
                <a:latin typeface="Aptos"/>
              </a:rPr>
              <a:t>4 · EXPERIENCE</a:t>
            </a:r>
          </a:p>
        </p:txBody>
      </p:sp>
      <p:sp>
        <p:nvSpPr>
          <p:cNvPr id="18" name="TextBox 17"/>
          <p:cNvSpPr txBox="1"/>
          <p:nvPr/>
        </p:nvSpPr>
        <p:spPr>
          <a:xfrm>
            <a:off x="9299447" y="2221992"/>
            <a:ext cx="2176272" cy="530352"/>
          </a:xfrm>
          <a:prstGeom prst="rect">
            <a:avLst/>
          </a:prstGeom>
          <a:noFill/>
        </p:spPr>
        <p:txBody>
          <a:bodyPr wrap="none" lIns="27432" rIns="27432" tIns="27432" bIns="27432" anchor="t">
            <a:spAutoFit/>
          </a:bodyPr>
          <a:lstStyle/>
          <a:p>
            <a:pPr algn="ctr">
              <a:spcAft>
                <a:spcPts val="0"/>
              </a:spcAft>
            </a:pPr>
            <a:r>
              <a:rPr sz="1000" b="0">
                <a:solidFill>
                  <a:srgbClr val="1F2B30"/>
                </a:solidFill>
                <a:latin typeface="Aptos"/>
              </a:rPr>
              <a:t>Notebook, offline HTML, Full-HD video and deck</a:t>
            </a:r>
          </a:p>
        </p:txBody>
      </p:sp>
      <p:sp>
        <p:nvSpPr>
          <p:cNvPr id="19" name="Rounded Rectangle 18"/>
          <p:cNvSpPr/>
          <p:nvPr/>
        </p:nvSpPr>
        <p:spPr>
          <a:xfrm>
            <a:off x="658368" y="3511296"/>
            <a:ext cx="6986016" cy="1389888"/>
          </a:xfrm>
          <a:prstGeom prst="roundRect">
            <a:avLst/>
          </a:prstGeom>
          <a:solidFill>
            <a:srgbClr val="103446"/>
          </a:solidFill>
          <a:ln w="10160">
            <a:solidFill>
              <a:srgbClr val="1034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2688" y="3730752"/>
            <a:ext cx="2926080" cy="237744"/>
          </a:xfrm>
          <a:prstGeom prst="rect">
            <a:avLst/>
          </a:prstGeom>
          <a:noFill/>
        </p:spPr>
        <p:txBody>
          <a:bodyPr wrap="none" lIns="27432" rIns="27432" tIns="27432" bIns="27432" anchor="t">
            <a:spAutoFit/>
          </a:bodyPr>
          <a:lstStyle/>
          <a:p>
            <a:pPr algn="l">
              <a:spcAft>
                <a:spcPts val="0"/>
              </a:spcAft>
            </a:pPr>
            <a:r>
              <a:rPr sz="950" b="1">
                <a:solidFill>
                  <a:srgbClr val="DAF1EB"/>
                </a:solidFill>
                <a:latin typeface="Aptos"/>
              </a:rPr>
              <a:t>RUN IT ON A NEW DATASET</a:t>
            </a:r>
          </a:p>
        </p:txBody>
      </p:sp>
      <p:sp>
        <p:nvSpPr>
          <p:cNvPr id="21" name="TextBox 20"/>
          <p:cNvSpPr txBox="1"/>
          <p:nvPr/>
        </p:nvSpPr>
        <p:spPr>
          <a:xfrm>
            <a:off x="932688" y="4142232"/>
            <a:ext cx="6382512" cy="384048"/>
          </a:xfrm>
          <a:prstGeom prst="rect">
            <a:avLst/>
          </a:prstGeom>
          <a:noFill/>
        </p:spPr>
        <p:txBody>
          <a:bodyPr wrap="none" lIns="27432" rIns="27432" tIns="27432" bIns="27432" anchor="t">
            <a:spAutoFit/>
          </a:bodyPr>
          <a:lstStyle/>
          <a:p>
            <a:pPr algn="l">
              <a:spcAft>
                <a:spcPts val="0"/>
              </a:spcAft>
            </a:pPr>
            <a:r>
              <a:rPr sz="2000" b="1">
                <a:solidFill>
                  <a:srgbClr val="FFFFFF"/>
                </a:solidFill>
                <a:latin typeface="Aptos Mono"/>
              </a:rPr>
              <a:t>uv run isci pipeline dataset.yaml</a:t>
            </a:r>
          </a:p>
        </p:txBody>
      </p:sp>
      <p:sp>
        <p:nvSpPr>
          <p:cNvPr id="22" name="TextBox 21"/>
          <p:cNvSpPr txBox="1"/>
          <p:nvPr/>
        </p:nvSpPr>
        <p:spPr>
          <a:xfrm>
            <a:off x="932688" y="4590288"/>
            <a:ext cx="6382512" cy="219456"/>
          </a:xfrm>
          <a:prstGeom prst="rect">
            <a:avLst/>
          </a:prstGeom>
          <a:noFill/>
        </p:spPr>
        <p:txBody>
          <a:bodyPr wrap="none" lIns="27432" rIns="27432" tIns="27432" bIns="27432" anchor="t">
            <a:spAutoFit/>
          </a:bodyPr>
          <a:lstStyle/>
          <a:p>
            <a:pPr algn="l">
              <a:spcAft>
                <a:spcPts val="0"/>
              </a:spcAft>
            </a:pPr>
            <a:r>
              <a:rPr sz="950" b="0">
                <a:solidFill>
                  <a:srgbClr val="FFFFFF"/>
                </a:solidFill>
                <a:latin typeface="Aptos"/>
              </a:rPr>
              <a:t>Validate → inspect → construct effects → extract features → audit output</a:t>
            </a:r>
          </a:p>
        </p:txBody>
      </p:sp>
      <p:sp>
        <p:nvSpPr>
          <p:cNvPr id="23" name="Rounded Rectangle 22"/>
          <p:cNvSpPr/>
          <p:nvPr/>
        </p:nvSpPr>
        <p:spPr>
          <a:xfrm>
            <a:off x="7918704" y="3511296"/>
            <a:ext cx="3675887" cy="1389888"/>
          </a:xfrm>
          <a:prstGeom prst="roundRect">
            <a:avLst/>
          </a:prstGeom>
          <a:solidFill>
            <a:srgbClr val="DAF1EB"/>
          </a:solidFill>
          <a:ln w="10160">
            <a:solidFill>
              <a:srgbClr val="DAF1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3675887"/>
            <a:ext cx="3072384" cy="384048"/>
          </a:xfrm>
          <a:prstGeom prst="rect">
            <a:avLst/>
          </a:prstGeom>
          <a:noFill/>
        </p:spPr>
        <p:txBody>
          <a:bodyPr wrap="none" lIns="27432" rIns="27432" tIns="27432" bIns="27432" anchor="t">
            <a:spAutoFit/>
          </a:bodyPr>
          <a:lstStyle/>
          <a:p>
            <a:pPr algn="l">
              <a:spcAft>
                <a:spcPts val="0"/>
              </a:spcAft>
            </a:pPr>
            <a:r>
              <a:rPr sz="2200" b="1">
                <a:solidFill>
                  <a:srgbClr val="007E79"/>
                </a:solidFill>
                <a:latin typeface="Aptos"/>
              </a:rPr>
              <a:t>21/21</a:t>
            </a:r>
          </a:p>
        </p:txBody>
      </p:sp>
      <p:sp>
        <p:nvSpPr>
          <p:cNvPr id="25" name="TextBox 24"/>
          <p:cNvSpPr txBox="1"/>
          <p:nvPr/>
        </p:nvSpPr>
        <p:spPr>
          <a:xfrm>
            <a:off x="8229600" y="4078224"/>
            <a:ext cx="3072384" cy="566928"/>
          </a:xfrm>
          <a:prstGeom prst="rect">
            <a:avLst/>
          </a:prstGeom>
          <a:noFill/>
        </p:spPr>
        <p:txBody>
          <a:bodyPr wrap="none" lIns="27432" rIns="27432" tIns="27432" bIns="27432" anchor="t">
            <a:spAutoFit/>
          </a:bodyPr>
          <a:lstStyle/>
          <a:p>
            <a:pPr algn="l">
              <a:spcAft>
                <a:spcPts val="0"/>
              </a:spcAft>
            </a:pPr>
            <a:r>
              <a:rPr sz="919" b="0">
                <a:solidFill>
                  <a:srgbClr val="1F2B30"/>
                </a:solidFill>
                <a:latin typeface="Aptos"/>
              </a:rPr>
              <a:t>automated release gates passed</a:t>
            </a:r>
            <a:br/>
            <a:r>
              <a:rPr sz="919" b="0">
                <a:solidFill>
                  <a:srgbClr val="1F2B30"/>
                </a:solidFill>
                <a:latin typeface="Aptos"/>
              </a:rPr>
              <a:t>Human rehearsal and PI wording gates remain explicit</a:t>
            </a:r>
          </a:p>
        </p:txBody>
      </p:sp>
      <p:sp>
        <p:nvSpPr>
          <p:cNvPr id="26" name="Rounded Rectangle 25"/>
          <p:cNvSpPr/>
          <p:nvPr/>
        </p:nvSpPr>
        <p:spPr>
          <a:xfrm>
            <a:off x="1115568" y="5330952"/>
            <a:ext cx="9966960" cy="640080"/>
          </a:xfrm>
          <a:prstGeom prst="roundRect">
            <a:avLst/>
          </a:prstGeom>
          <a:solidFill>
            <a:srgbClr val="007E79"/>
          </a:solidFill>
          <a:ln w="10160">
            <a:solidFill>
              <a:srgbClr val="007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53312" y="5522976"/>
            <a:ext cx="9491472" cy="274320"/>
          </a:xfrm>
          <a:prstGeom prst="rect">
            <a:avLst/>
          </a:prstGeom>
          <a:noFill/>
        </p:spPr>
        <p:txBody>
          <a:bodyPr wrap="none" lIns="27432" rIns="27432" tIns="27432" bIns="27432" anchor="t">
            <a:spAutoFit/>
          </a:bodyPr>
          <a:lstStyle/>
          <a:p>
            <a:pPr algn="ctr">
              <a:spcAft>
                <a:spcPts val="0"/>
              </a:spcAft>
            </a:pPr>
            <a:r>
              <a:rPr sz="1320" b="1">
                <a:solidFill>
                  <a:srgbClr val="FFFFFF"/>
                </a:solidFill>
                <a:latin typeface="Aptos"/>
              </a:rPr>
              <a:t>Delivery = scientific software + frozen evidence + visual explanation + an honest stopping rule.</a:t>
            </a:r>
          </a:p>
        </p:txBody>
      </p:sp>
      <p:sp>
        <p:nvSpPr>
          <p:cNvPr id="28" name="TextBox 27"/>
          <p:cNvSpPr txBox="1"/>
          <p:nvPr/>
        </p:nvSpPr>
        <p:spPr>
          <a:xfrm>
            <a:off x="475488" y="6556248"/>
            <a:ext cx="6492240" cy="146304"/>
          </a:xfrm>
          <a:prstGeom prst="rect">
            <a:avLst/>
          </a:prstGeom>
          <a:noFill/>
        </p:spPr>
        <p:txBody>
          <a:bodyPr wrap="none" lIns="27432" rIns="27432" tIns="27432" bIns="27432" anchor="t">
            <a:spAutoFit/>
          </a:bodyPr>
          <a:lstStyle/>
          <a:p>
            <a:pPr algn="l">
              <a:spcAft>
                <a:spcPts val="0"/>
              </a:spcAft>
            </a:pPr>
            <a:r>
              <a:rPr sz="650" b="0">
                <a:solidFill>
                  <a:srgbClr val="5B6A6F"/>
                </a:solidFill>
                <a:latin typeface="Aptos"/>
              </a:rPr>
              <a:t>T-CTRL · powered by ISCI · Built with Claude: Life Sciences</a:t>
            </a:r>
          </a:p>
        </p:txBody>
      </p:sp>
      <p:sp>
        <p:nvSpPr>
          <p:cNvPr id="29" name="TextBox 28"/>
          <p:cNvSpPr txBox="1"/>
          <p:nvPr/>
        </p:nvSpPr>
        <p:spPr>
          <a:xfrm>
            <a:off x="6583680" y="6556248"/>
            <a:ext cx="4892040" cy="146304"/>
          </a:xfrm>
          <a:prstGeom prst="rect">
            <a:avLst/>
          </a:prstGeom>
          <a:noFill/>
        </p:spPr>
        <p:txBody>
          <a:bodyPr wrap="none" lIns="27432" rIns="27432" tIns="27432" bIns="27432" anchor="t">
            <a:spAutoFit/>
          </a:bodyPr>
          <a:lstStyle/>
          <a:p>
            <a:pPr algn="r">
              <a:spcAft>
                <a:spcPts val="0"/>
              </a:spcAft>
            </a:pPr>
            <a:r>
              <a:rPr sz="620" b="0">
                <a:solidFill>
                  <a:srgbClr val="5B6A6F"/>
                </a:solidFill>
                <a:latin typeface="Aptos"/>
              </a:rPr>
              <a:t>MIT code · third-party data retain source terms · CITATION.cff</a:t>
            </a:r>
          </a:p>
        </p:txBody>
      </p:sp>
      <p:sp>
        <p:nvSpPr>
          <p:cNvPr id="30" name="TextBox 29"/>
          <p:cNvSpPr txBox="1"/>
          <p:nvPr/>
        </p:nvSpPr>
        <p:spPr>
          <a:xfrm>
            <a:off x="11503152" y="6556248"/>
            <a:ext cx="182880" cy="146304"/>
          </a:xfrm>
          <a:prstGeom prst="rect">
            <a:avLst/>
          </a:prstGeom>
          <a:noFill/>
        </p:spPr>
        <p:txBody>
          <a:bodyPr wrap="none" lIns="27432" rIns="27432" tIns="27432" bIns="27432" anchor="t">
            <a:spAutoFit/>
          </a:bodyPr>
          <a:lstStyle/>
          <a:p>
            <a:pPr algn="r">
              <a:spcAft>
                <a:spcPts val="0"/>
              </a:spcAft>
            </a:pPr>
            <a:r>
              <a:rPr sz="650" b="0">
                <a:solidFill>
                  <a:srgbClr val="5B6A6F"/>
                </a:solidFill>
                <a:latin typeface="Aptos"/>
              </a:rPr>
              <a:t>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T-CTRL, powered by ISCI — Hackathon judge deck</dc:title>
  <dc:subject>Auditable T-cell controllability analysis</dc:subject>
  <dc:creator>Abel Costa</dc:creator>
  <cp:keywords/>
  <dc:description>Generated by scripts/build_tctrl_deck.py from committed evidence.</dc:description>
  <cp:lastModifiedBy>Abel Costa</cp:lastModifiedBy>
  <cp:revision>1</cp:revision>
  <dcterms:created xsi:type="dcterms:W3CDTF">2013-01-27T09:14:16Z</dcterms:created>
  <dcterms:modified xsi:type="dcterms:W3CDTF">2013-01-27T09:15:58Z</dcterms:modified>
  <cp:category/>
</cp:coreProperties>
</file>