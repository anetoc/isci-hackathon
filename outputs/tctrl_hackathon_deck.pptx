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270955200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48840"/>
            <a:ext cx="7315200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T-CTRL</a:t>
            </a:r>
            <a:r>
              <a:rPr sz="1500" b="0">
                <a:solidFill>
                  <a:srgbClr val="515A6B"/>
                </a:solidFill>
                <a:latin typeface="Arial"/>
              </a:rPr>
              <a:t>   ·   ISCI method   ·   Researcher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1A202C"/>
                </a:solidFill>
                <a:latin typeface="Arial"/>
              </a:rPr>
              <a:t>Which genes actually </a:t>
            </a:r>
            <a:r>
              <a:rPr sz="4000" b="1">
                <a:solidFill>
                  <a:srgbClr val="1F5FA8"/>
                </a:solidFill>
                <a:latin typeface="Arial"/>
              </a:rPr>
              <a:t>steer</a:t>
            </a:r>
            <a:r>
              <a:rPr sz="4000" b="1">
                <a:solidFill>
                  <a:srgbClr val="1A202C"/>
                </a:solidFill>
                <a:latin typeface="Arial"/>
              </a:rPr>
              <a:t> a T cell —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1A202C"/>
                </a:solidFill>
                <a:latin typeface="Arial"/>
              </a:rPr>
              <a:t>and which just change the most?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>
                <a:solidFill>
                  <a:srgbClr val="515A6B"/>
                </a:solidFill>
                <a:latin typeface="Arial"/>
              </a:rPr>
              <a:t>An auditable method that separates effect size from functional direction and cross-donor repeatability in CD4+ T-cell Perturb-seq. The deliverable is not a target list — it is a tested scope map that knows when to call PASS, and when to stop.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A202C"/>
                </a:solidFill>
                <a:latin typeface="Arial"/>
              </a:rPr>
              <a:t>Abel Costa  ·  clinical research &amp; hematology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T-CTRL  ·  ISCI method  ·  Built with Claude: Life Sciences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486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THE CLINICAL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1430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A202C"/>
                </a:solidFill>
                <a:latin typeface="Arial"/>
              </a:rPr>
              <a:t>A large effect can still be the wrong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74519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515A6B"/>
                </a:solidFill>
                <a:latin typeface="Arial"/>
              </a:rPr>
              <a:t>Some patients respond to a T-cell therapy, then relapse. To engineer better T cells we must tell apart the genes that </a:t>
            </a:r>
            <a:r>
              <a:rPr sz="1700" b="1">
                <a:solidFill>
                  <a:srgbClr val="1F5FA8"/>
                </a:solidFill>
                <a:latin typeface="Arial"/>
              </a:rPr>
              <a:t>control</a:t>
            </a:r>
            <a:r>
              <a:rPr sz="1700" b="0">
                <a:solidFill>
                  <a:srgbClr val="515A6B"/>
                </a:solidFill>
                <a:latin typeface="Arial"/>
              </a:rPr>
              <a:t> a cell's state from those that merely </a:t>
            </a:r>
            <a:r>
              <a:rPr sz="1700" b="1">
                <a:solidFill>
                  <a:srgbClr val="1A202C"/>
                </a:solidFill>
                <a:latin typeface="Arial"/>
              </a:rPr>
              <a:t>change</a:t>
            </a:r>
            <a:r>
              <a:rPr sz="1700" b="0">
                <a:solidFill>
                  <a:srgbClr val="515A6B"/>
                </a:solidFill>
                <a:latin typeface="Arial"/>
              </a:rPr>
              <a:t> when perturbed. A candidate controller must answer three questions: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91840"/>
            <a:ext cx="3401568" cy="233172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3291840"/>
            <a:ext cx="3401568" cy="109728"/>
          </a:xfrm>
          <a:prstGeom prst="rect">
            <a:avLst/>
          </a:prstGeom>
          <a:solidFill>
            <a:srgbClr val="51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547872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515A6B"/>
                </a:solidFill>
                <a:latin typeface="Arial"/>
              </a:rPr>
              <a:t>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4023360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A202C"/>
                </a:solidFill>
                <a:latin typeface="Arial"/>
              </a:rPr>
              <a:t>How much did the cell move?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470916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The size of the abnormal result — necessary, not sufficient.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291840"/>
            <a:ext cx="3401568" cy="233172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3291840"/>
            <a:ext cx="3401568" cy="10972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547872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023360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A202C"/>
                </a:solidFill>
                <a:latin typeface="Arial"/>
              </a:rPr>
              <a:t>Which state program moved?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70916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Direction toward activation, Th1/Th2, memory, Treg or exhaustion.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8" y="3291840"/>
            <a:ext cx="3401568" cy="233172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9328" y="3291840"/>
            <a:ext cx="3401568" cy="10972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3547872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REPEATABILITY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4023360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A202C"/>
                </a:solidFill>
                <a:latin typeface="Arial"/>
              </a:rPr>
              <a:t>Did independent units agree?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470916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Different guides and donors must reproduce the direction.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8521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1">
                <a:solidFill>
                  <a:srgbClr val="1A202C"/>
                </a:solidFill>
                <a:latin typeface="Arial"/>
              </a:rPr>
              <a:t>Magnitude alone is necessary — but not sufficient. Most screens stop at magnitude.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T-CTRL  ·  ISCI method  ·  Built with Claude: Life Sciences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486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HOW THE STUDY READS A PERTURBATION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1430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A202C"/>
                </a:solidFill>
                <a:latin typeface="Arial"/>
              </a:rPr>
              <a:t>The useful question is: </a:t>
            </a:r>
            <a:r>
              <a:rPr sz="3000" b="1">
                <a:solidFill>
                  <a:srgbClr val="1F5FA8"/>
                </a:solidFill>
                <a:latin typeface="Arial"/>
              </a:rPr>
              <a:t>where did the T cell go?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286000"/>
            <a:ext cx="2487168" cy="123444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50592"/>
            <a:ext cx="212140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F5FA8"/>
                </a:solidFill>
                <a:latin typeface="Arial"/>
              </a:rPr>
              <a:t>CRISPR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515A6B"/>
                </a:solidFill>
                <a:latin typeface="Arial"/>
              </a:rPr>
              <a:t>silence one gene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2286000"/>
            <a:ext cx="34747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000" b="0">
                <a:solidFill>
                  <a:srgbClr val="515A6B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7328" y="2286000"/>
            <a:ext cx="2487168" cy="123444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8" y="2450592"/>
            <a:ext cx="212140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F5FA8"/>
                </a:solidFill>
                <a:latin typeface="Arial"/>
              </a:rPr>
              <a:t>PRIMARY CD4+ T CELL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515A6B"/>
                </a:solidFill>
                <a:latin typeface="Arial"/>
              </a:rPr>
              <a:t>rest &amp; stimulation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2286000"/>
            <a:ext cx="34747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000" b="0">
                <a:solidFill>
                  <a:srgbClr val="515A6B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38544" y="2286000"/>
            <a:ext cx="2487168" cy="123444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21424" y="2450592"/>
            <a:ext cx="212140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F5FA8"/>
                </a:solidFill>
                <a:latin typeface="Arial"/>
              </a:rPr>
              <a:t>PERTURB-SEQ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515A6B"/>
                </a:solidFill>
                <a:latin typeface="Arial"/>
              </a:rPr>
              <a:t>read the state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286000"/>
            <a:ext cx="34747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000" b="0">
                <a:solidFill>
                  <a:srgbClr val="515A6B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2286000"/>
            <a:ext cx="2487168" cy="123444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450592"/>
            <a:ext cx="212140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F5FA8"/>
                </a:solidFill>
                <a:latin typeface="Arial"/>
              </a:rPr>
              <a:t>AUDITED COMPARISON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515A6B"/>
                </a:solidFill>
                <a:latin typeface="Arial"/>
              </a:rPr>
              <a:t>guide × donor ×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977639"/>
            <a:ext cx="566928" cy="530352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77639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77639"/>
            <a:ext cx="9601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>
                <a:solidFill>
                  <a:srgbClr val="1A202C"/>
                </a:solidFill>
                <a:latin typeface="Arial"/>
              </a:rPr>
              <a:t>Magnitude — how far the profile 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4636007"/>
            <a:ext cx="566928" cy="53035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6360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C₁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636007"/>
            <a:ext cx="9601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>
                <a:solidFill>
                  <a:srgbClr val="1A202C"/>
                </a:solidFill>
                <a:latin typeface="Arial"/>
              </a:rPr>
              <a:t>Precision — movement along a frozen state axis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294375"/>
            <a:ext cx="566928" cy="53035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94375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C₂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294375"/>
            <a:ext cx="9601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>
                <a:solidFill>
                  <a:srgbClr val="1A202C"/>
                </a:solidFill>
                <a:latin typeface="Arial"/>
              </a:rPr>
              <a:t>Repeatability — agreement across biological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943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515A6B"/>
                </a:solidFill>
                <a:latin typeface="Arial"/>
              </a:rPr>
              <a:t>ISCI asks whether C adds information </a:t>
            </a:r>
            <a:r>
              <a:rPr sz="1500" b="1">
                <a:solidFill>
                  <a:srgbClr val="1F5FA8"/>
                </a:solidFill>
                <a:latin typeface="Arial"/>
              </a:rPr>
              <a:t>after</a:t>
            </a:r>
            <a:r>
              <a:rPr sz="1500" b="0">
                <a:solidFill>
                  <a:srgbClr val="515A6B"/>
                </a:solidFill>
                <a:latin typeface="Arial"/>
              </a:rPr>
              <a:t> M is known — the pre-specified M → M+C test.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T-CTRL  ·  ISCI method  ·  Built with Claude: Life Sciences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486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PRIMARY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515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1A202C"/>
                </a:solidFill>
                <a:latin typeface="Arial"/>
              </a:rPr>
              <a:t>Direction and repeatability add signal </a:t>
            </a:r>
            <a:r>
              <a:rPr sz="2800" b="1">
                <a:solidFill>
                  <a:srgbClr val="1F5FA8"/>
                </a:solidFill>
                <a:latin typeface="Arial"/>
              </a:rPr>
              <a:t>beyond magnitude.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874519"/>
            <a:ext cx="3401568" cy="164592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011680"/>
            <a:ext cx="303580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F5FA8"/>
                </a:solidFill>
                <a:latin typeface="Arial"/>
              </a:rPr>
              <a:t>+0.357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670048"/>
            <a:ext cx="29443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A202C"/>
                </a:solidFill>
                <a:latin typeface="Arial"/>
              </a:rPr>
              <a:t>authoritative full-sample</a:t>
            </a:r>
          </a:p>
          <a:p>
            <a:pPr algn="l">
              <a:lnSpc>
                <a:spcPct val="106000"/>
              </a:lnSpc>
            </a:pPr>
            <a:r>
              <a:rPr sz="1250" b="1">
                <a:solidFill>
                  <a:srgbClr val="1A202C"/>
                </a:solidFill>
                <a:latin typeface="Arial"/>
              </a:rPr>
              <a:t>M → M+C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163824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515A6B"/>
                </a:solidFill>
                <a:latin typeface="Arial"/>
              </a:rPr>
              <a:t>95% CI [+0.117, +0.538]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74519"/>
            <a:ext cx="3401568" cy="164592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011680"/>
            <a:ext cx="303580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43E6E"/>
                </a:solidFill>
                <a:latin typeface="Arial"/>
              </a:rPr>
              <a:t>+0.215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670048"/>
            <a:ext cx="29443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A202C"/>
                </a:solidFill>
                <a:latin typeface="Arial"/>
              </a:rPr>
              <a:t>leakage-free grouped</a:t>
            </a:r>
          </a:p>
          <a:p>
            <a:pPr algn="l">
              <a:lnSpc>
                <a:spcPct val="106000"/>
              </a:lnSpc>
            </a:pPr>
            <a:r>
              <a:rPr sz="1250" b="1">
                <a:solidFill>
                  <a:srgbClr val="1A202C"/>
                </a:solidFill>
                <a:latin typeface="Arial"/>
              </a:rPr>
              <a:t>out-of-fold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163824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515A6B"/>
                </a:solidFill>
                <a:latin typeface="Arial"/>
              </a:rPr>
              <a:t>95% CI [+0.074, +0.560] · p = 0.010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9328" y="1874519"/>
            <a:ext cx="3401568" cy="164592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2011680"/>
            <a:ext cx="303580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515A6B"/>
                </a:solidFill>
                <a:latin typeface="Arial"/>
              </a:rPr>
              <a:t>0.415→0.722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670048"/>
            <a:ext cx="29443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A202C"/>
                </a:solidFill>
                <a:latin typeface="Arial"/>
              </a:rPr>
              <a:t>separate descriptive</a:t>
            </a:r>
          </a:p>
          <a:p>
            <a:pPr algn="l">
              <a:lnSpc>
                <a:spcPct val="106000"/>
              </a:lnSpc>
            </a:pPr>
            <a:r>
              <a:rPr sz="1250" b="1">
                <a:solidFill>
                  <a:srgbClr val="1A202C"/>
                </a:solidFill>
                <a:latin typeface="Arial"/>
              </a:rPr>
              <a:t>ranking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3163824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515A6B"/>
                </a:solidFill>
                <a:latin typeface="Arial"/>
              </a:rPr>
              <a:t>AUPRC on the detectable 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3703320"/>
            <a:ext cx="10460736" cy="658368"/>
          </a:xfrm>
          <a:prstGeom prst="rect">
            <a:avLst/>
          </a:prstGeom>
          <a:solidFill>
            <a:srgbClr val="ECF1F8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703320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1A202C"/>
                </a:solidFill>
                <a:latin typeface="Arial"/>
              </a:rPr>
              <a:t>These are two different measurements — not one number shrinking. We report both.</a:t>
            </a:r>
            <a:r>
              <a:rPr sz="1350" b="1">
                <a:solidFill>
                  <a:srgbClr val="1F5FA8"/>
                </a:solidFill>
                <a:latin typeface="Arial"/>
              </a:rPr>
              <a:t/>
            </a:r>
            <a:r>
              <a:rPr sz="1350" b="0">
                <a:solidFill>
                  <a:srgbClr val="1A202C"/>
                </a:solidFill>
                <a:latin typeface="Arial"/>
              </a:rPr>
              <a:t/>
            </a:r>
            <a:r>
              <a:rPr sz="1350" b="1">
                <a:solidFill>
                  <a:srgbClr val="1F5FA8"/>
                </a:solidFill>
                <a:latin typeface="Arial"/>
              </a:rPr>
              <a:t/>
            </a:r>
          </a:p>
        </p:txBody>
      </p:sp>
      <p:pic>
        <p:nvPicPr>
          <p:cNvPr id="20" name="Picture 19" descr="fig_cen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429" y="4526280"/>
            <a:ext cx="3842661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T-CTRL  ·  ISCI method  ·  Built with Claude: Life Sciences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B1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486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B13A2F"/>
                </a:solidFill>
                <a:latin typeface="Arial"/>
              </a:rPr>
              <a:t>TESTS DESIGNED TO BREAK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972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1A202C"/>
                </a:solidFill>
                <a:latin typeface="Arial"/>
              </a:rPr>
              <a:t>The signal is real — </a:t>
            </a:r>
            <a:r>
              <a:rPr sz="2800" b="1">
                <a:solidFill>
                  <a:srgbClr val="B13A2F"/>
                </a:solidFill>
                <a:latin typeface="Arial"/>
              </a:rPr>
              <a:t>and biologically narrow.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49377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A202C"/>
                </a:solidFill>
                <a:latin typeface="Arial"/>
              </a:rPr>
              <a:t>We went looking for where it breaks.</a:t>
            </a:r>
          </a:p>
          <a:p>
            <a:pPr algn="l">
              <a:lnSpc>
                <a:spcPct val="106000"/>
              </a:lnSpc>
            </a:pPr>
            <a:r>
              <a:rPr sz="700" b="0">
                <a:solidFill>
                  <a:srgbClr val="1A202C"/>
                </a:solidFill>
                <a:latin typeface="Arial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500" b="1">
                <a:solidFill>
                  <a:srgbClr val="B13A2F"/>
                </a:solidFill>
                <a:latin typeface="Arial"/>
              </a:rPr>
              <a:t>External functional-regulator set</a:t>
            </a:r>
          </a:p>
          <a:p>
            <a:pPr algn="l">
              <a:lnSpc>
                <a:spcPct val="106000"/>
              </a:lnSpc>
            </a:pPr>
            <a:r>
              <a:rPr sz="1350" b="0">
                <a:solidFill>
                  <a:srgbClr val="1A202C"/>
                </a:solidFill>
                <a:latin typeface="Arial"/>
              </a:rPr>
              <a:t>FAIL — ΔAUPRC −0.281 [−0.476, −0.073]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515A6B"/>
                </a:solidFill>
                <a:latin typeface="Arial"/>
              </a:rPr>
              <a:t>Interval sits entirely below zero.</a:t>
            </a:r>
          </a:p>
          <a:p>
            <a:pPr algn="l">
              <a:lnSpc>
                <a:spcPct val="106000"/>
              </a:lnSpc>
            </a:pPr>
            <a:r>
              <a:rPr sz="900" b="0">
                <a:solidFill>
                  <a:srgbClr val="1A202C"/>
                </a:solidFill>
                <a:latin typeface="Arial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500" b="1">
                <a:solidFill>
                  <a:srgbClr val="B13A2F"/>
                </a:solidFill>
                <a:latin typeface="Arial"/>
              </a:rPr>
              <a:t>Remove the four master TFs</a:t>
            </a:r>
          </a:p>
          <a:p>
            <a:pPr algn="l">
              <a:lnSpc>
                <a:spcPct val="106000"/>
              </a:lnSpc>
            </a:pPr>
            <a:r>
              <a:rPr sz="1350" b="0">
                <a:solidFill>
                  <a:srgbClr val="1A202C"/>
                </a:solidFill>
                <a:latin typeface="Arial"/>
              </a:rPr>
              <a:t>GATA3, TBX21, STAT6, IRF1 → gain ≈ 0 (n=9)</a:t>
            </a:r>
          </a:p>
          <a:p>
            <a:pPr algn="l">
              <a:lnSpc>
                <a:spcPct val="106000"/>
              </a:lnSpc>
            </a:pPr>
            <a:r>
              <a:rPr sz="900" b="0">
                <a:solidFill>
                  <a:srgbClr val="1A202C"/>
                </a:solidFill>
                <a:latin typeface="Arial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300" b="0" i="1">
                <a:solidFill>
                  <a:srgbClr val="515A6B"/>
                </a:solidFill>
                <a:latin typeface="Arial"/>
              </a:rPr>
              <a:t>The claim narrows, honestly, to canonical</a:t>
            </a:r>
          </a:p>
          <a:p>
            <a:pPr algn="l">
              <a:lnSpc>
                <a:spcPct val="106000"/>
              </a:lnSpc>
            </a:pPr>
            <a:r>
              <a:rPr sz="1300" b="0" i="1">
                <a:solidFill>
                  <a:srgbClr val="515A6B"/>
                </a:solidFill>
                <a:latin typeface="Arial"/>
              </a:rPr>
              <a:t>axis-defining regulators in T cells.</a:t>
            </a:r>
          </a:p>
        </p:txBody>
      </p:sp>
      <p:pic>
        <p:nvPicPr>
          <p:cNvPr id="7" name="Picture 6" descr="positive_set_stres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13922"/>
            <a:ext cx="5394960" cy="3418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T-CTRL  ·  ISCI method  ·  Built with Claude: Life 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486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BOUNDARY ACROSS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972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1A202C"/>
                </a:solidFill>
                <a:latin typeface="Arial"/>
              </a:rPr>
              <a:t>The property is </a:t>
            </a:r>
            <a:r>
              <a:rPr sz="2800" b="1">
                <a:solidFill>
                  <a:srgbClr val="1F5FA8"/>
                </a:solidFill>
                <a:latin typeface="Arial"/>
              </a:rPr>
              <a:t>immune-contextual</a:t>
            </a:r>
            <a:r>
              <a:rPr sz="2800" b="1">
                <a:solidFill>
                  <a:srgbClr val="1A202C"/>
                </a:solidFill>
                <a:latin typeface="Arial"/>
              </a:rPr>
              <a:t>, not universal.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331720"/>
            <a:ext cx="3401568" cy="77724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2331720"/>
            <a:ext cx="109728" cy="77724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331720"/>
            <a:ext cx="18745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A202C"/>
                </a:solidFill>
                <a:latin typeface="Arial"/>
              </a:rPr>
              <a:t>Marson CD4+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20" y="2331720"/>
            <a:ext cx="1143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50" b="1">
                <a:solidFill>
                  <a:srgbClr val="1B7F4B"/>
                </a:solidFill>
                <a:latin typeface="Arial"/>
              </a:rPr>
              <a:t>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291839"/>
            <a:ext cx="3401568" cy="77724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3291839"/>
            <a:ext cx="109728" cy="777240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291839"/>
            <a:ext cx="18745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A202C"/>
                </a:solidFill>
                <a:latin typeface="Arial"/>
              </a:rPr>
              <a:t>Schmidt / THP-1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3291839"/>
            <a:ext cx="1143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50" b="1">
                <a:solidFill>
                  <a:srgbClr val="8A6D1F"/>
                </a:solidFill>
                <a:latin typeface="Arial"/>
              </a:rPr>
              <a:t>NEAR-MISS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4251960"/>
            <a:ext cx="3401568" cy="77724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4251960"/>
            <a:ext cx="109728" cy="777240"/>
          </a:xfrm>
          <a:prstGeom prst="rect">
            <a:avLst/>
          </a:prstGeom>
          <a:solidFill>
            <a:srgbClr val="B1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51960"/>
            <a:ext cx="18745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A202C"/>
                </a:solidFill>
                <a:latin typeface="Arial"/>
              </a:rPr>
              <a:t>K562 · RPE1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4251960"/>
            <a:ext cx="1143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50" b="1">
                <a:solidFill>
                  <a:srgbClr val="B13A2F"/>
                </a:solidFill>
                <a:latin typeface="Arial"/>
              </a:rPr>
              <a:t>FAIL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440680"/>
            <a:ext cx="3401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A202C"/>
                </a:solidFill>
                <a:latin typeface="Arial"/>
              </a:rPr>
              <a:t>A boundary is also a result. We do not use the word </a:t>
            </a:r>
            <a:r>
              <a:rPr sz="1250" b="1" i="1">
                <a:solidFill>
                  <a:srgbClr val="B13A2F"/>
                </a:solidFill>
                <a:latin typeface="Arial"/>
              </a:rPr>
              <a:t>invariant</a:t>
            </a:r>
            <a:r>
              <a:rPr sz="1250" b="0">
                <a:solidFill>
                  <a:srgbClr val="1A202C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T-CTRL  ·  ISCI method  ·  Built with Claude: Life Sciences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6</a:t>
            </a:r>
          </a:p>
        </p:txBody>
      </p:sp>
      <p:pic>
        <p:nvPicPr>
          <p:cNvPr id="22" name="T-CTRL four-system controllability boundary" descr="Four-system scope map showing PASS, near-miss and FAIL verdict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330" y="1874519"/>
            <a:ext cx="626812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486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TRANSLATION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972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1A202C"/>
                </a:solidFill>
                <a:latin typeface="Arial"/>
              </a:rPr>
              <a:t>Controller </a:t>
            </a:r>
            <a:r>
              <a:rPr sz="2800" b="1">
                <a:solidFill>
                  <a:srgbClr val="B13A2F"/>
                </a:solidFill>
                <a:latin typeface="Arial"/>
              </a:rPr>
              <a:t>≠</a:t>
            </a:r>
            <a:r>
              <a:rPr sz="2800" b="1">
                <a:solidFill>
                  <a:srgbClr val="1A202C"/>
                </a:solidFill>
                <a:latin typeface="Arial"/>
              </a:rPr>
              <a:t> therapeutic target </a:t>
            </a:r>
            <a:r>
              <a:rPr sz="2800" b="1">
                <a:solidFill>
                  <a:srgbClr val="B13A2F"/>
                </a:solidFill>
                <a:latin typeface="Arial"/>
              </a:rPr>
              <a:t>≠</a:t>
            </a:r>
            <a:r>
              <a:rPr sz="2800" b="1">
                <a:solidFill>
                  <a:srgbClr val="1A202C"/>
                </a:solidFill>
                <a:latin typeface="Arial"/>
              </a:rPr>
              <a:t> clinical biomarker.</a:t>
            </a:r>
          </a:p>
        </p:txBody>
      </p:sp>
      <p:pic>
        <p:nvPicPr>
          <p:cNvPr id="6" name="Picture 5" descr="controller_convergence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227" y="1874519"/>
            <a:ext cx="5380329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2011680"/>
            <a:ext cx="340156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1F5FA8"/>
                </a:solidFill>
                <a:latin typeface="Arial"/>
              </a:rPr>
              <a:t>IRF1</a:t>
            </a:r>
            <a:r>
              <a:rPr sz="1500" b="1">
                <a:solidFill>
                  <a:srgbClr val="1A202C"/>
                </a:solidFill>
                <a:latin typeface="Arial"/>
              </a:rPr>
              <a:t> ranks #1 as a controller</a:t>
            </a:r>
          </a:p>
          <a:p>
            <a:pPr algn="l">
              <a:lnSpc>
                <a:spcPct val="106000"/>
              </a:lnSpc>
            </a:pPr>
            <a:r>
              <a:rPr sz="1400" b="0">
                <a:solidFill>
                  <a:srgbClr val="515A6B"/>
                </a:solidFill>
                <a:latin typeface="Arial"/>
              </a:rPr>
              <a:t>but points in an unfavorable</a:t>
            </a:r>
          </a:p>
          <a:p>
            <a:pPr algn="l">
              <a:lnSpc>
                <a:spcPct val="106000"/>
              </a:lnSpc>
            </a:pPr>
            <a:r>
              <a:rPr sz="1400" b="0">
                <a:solidFill>
                  <a:srgbClr val="515A6B"/>
                </a:solidFill>
                <a:latin typeface="Arial"/>
              </a:rPr>
              <a:t>intervention direction.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1A202C"/>
                </a:solidFill>
                <a:latin typeface="Arial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500" b="1">
                <a:solidFill>
                  <a:srgbClr val="1A202C"/>
                </a:solidFill>
                <a:latin typeface="Arial"/>
              </a:rPr>
              <a:t>CAR-T response: </a:t>
            </a:r>
            <a:r>
              <a:rPr sz="1500" b="1">
                <a:solidFill>
                  <a:srgbClr val="8A6D1F"/>
                </a:solidFill>
                <a:latin typeface="Arial"/>
              </a:rPr>
              <a:t>NULL</a:t>
            </a:r>
          </a:p>
          <a:p>
            <a:pPr algn="l">
              <a:lnSpc>
                <a:spcPct val="106000"/>
              </a:lnSpc>
            </a:pPr>
            <a:r>
              <a:rPr sz="1350" b="0">
                <a:solidFill>
                  <a:srgbClr val="515A6B"/>
                </a:solidFill>
                <a:latin typeface="Arial"/>
              </a:rPr>
              <a:t>study-out AUROC 0.533</a:t>
            </a:r>
          </a:p>
          <a:p>
            <a:pPr algn="l">
              <a:lnSpc>
                <a:spcPct val="106000"/>
              </a:lnSpc>
            </a:pPr>
            <a:r>
              <a:rPr sz="1350" b="0">
                <a:solidFill>
                  <a:srgbClr val="515A6B"/>
                </a:solidFill>
                <a:latin typeface="Arial"/>
              </a:rPr>
              <a:t>CD8 baseline 0.585 beats it</a:t>
            </a:r>
          </a:p>
          <a:p>
            <a:pPr algn="l">
              <a:lnSpc>
                <a:spcPct val="106000"/>
              </a:lnSpc>
            </a:pPr>
            <a:r>
              <a:rPr sz="1350" b="0">
                <a:solidFill>
                  <a:srgbClr val="515A6B"/>
                </a:solidFill>
                <a:latin typeface="Arial"/>
              </a:rPr>
              <a:t>87 patients · 9 studies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1A202C"/>
                </a:solidFill>
                <a:latin typeface="Arial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300" b="0" i="1">
                <a:solidFill>
                  <a:srgbClr val="1A202C"/>
                </a:solidFill>
                <a:latin typeface="Arial"/>
              </a:rPr>
              <a:t>High controllership is not a</a:t>
            </a:r>
          </a:p>
          <a:p>
            <a:pPr algn="l">
              <a:lnSpc>
                <a:spcPct val="106000"/>
              </a:lnSpc>
            </a:pPr>
            <a:r>
              <a:rPr sz="1300" b="0" i="1">
                <a:solidFill>
                  <a:srgbClr val="1A202C"/>
                </a:solidFill>
                <a:latin typeface="Arial"/>
              </a:rPr>
              <a:t>promise of clinical benefit.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T-CTRL  ·  ISCI method  ·  Built with Claude: Life 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486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THE INNOVATION IS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972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1A202C"/>
                </a:solidFill>
                <a:latin typeface="Arial"/>
              </a:rPr>
              <a:t>The product also knows </a:t>
            </a:r>
            <a:r>
              <a:rPr sz="2800" b="1">
                <a:solidFill>
                  <a:srgbClr val="1F5FA8"/>
                </a:solidFill>
                <a:latin typeface="Arial"/>
              </a:rPr>
              <a:t>when to stop.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148840"/>
            <a:ext cx="5120640" cy="114300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148840"/>
            <a:ext cx="109728" cy="114300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2951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1B7F4B"/>
                </a:solidFill>
                <a:latin typeface="Arial"/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7523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515A6B"/>
                </a:solidFill>
                <a:latin typeface="Arial"/>
              </a:rPr>
              <a:t>Pre-specified direction holds and every required gate passes.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2148840"/>
            <a:ext cx="5120640" cy="114300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2148840"/>
            <a:ext cx="109728" cy="1143000"/>
          </a:xfrm>
          <a:prstGeom prst="rect">
            <a:avLst/>
          </a:prstGeom>
          <a:solidFill>
            <a:srgbClr val="B1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2951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B13A2F"/>
                </a:solidFill>
                <a:latin typeface="Arial"/>
              </a:rPr>
              <a:t>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7523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515A6B"/>
                </a:solidFill>
                <a:latin typeface="Arial"/>
              </a:rPr>
              <a:t>The claim is testable and a required gate fails.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3520440"/>
            <a:ext cx="5120640" cy="114300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" y="3520440"/>
            <a:ext cx="109728" cy="1143000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36667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8A6D1F"/>
                </a:solidFill>
                <a:latin typeface="Arial"/>
              </a:rPr>
              <a:t>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41239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515A6B"/>
                </a:solidFill>
                <a:latin typeface="Arial"/>
              </a:rPr>
              <a:t>The test is valid but adds no supported signal.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520440"/>
            <a:ext cx="5120640" cy="114300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520440"/>
            <a:ext cx="109728" cy="1143000"/>
          </a:xfrm>
          <a:prstGeom prst="rect">
            <a:avLst/>
          </a:prstGeom>
          <a:solidFill>
            <a:srgbClr val="51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6667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>
                <a:solidFill>
                  <a:srgbClr val="515A6B"/>
                </a:solidFill>
                <a:latin typeface="Arial"/>
              </a:rPr>
              <a:t>NOT-EVALUABLE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1239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515A6B"/>
                </a:solidFill>
                <a:latin typeface="Arial"/>
              </a:rPr>
              <a:t>A required input is absent; no biology is forced.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5212080"/>
            <a:ext cx="10460736" cy="777240"/>
          </a:xfrm>
          <a:prstGeom prst="rect">
            <a:avLst/>
          </a:prstGeom>
          <a:solidFill>
            <a:srgbClr val="ECF1F8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212080"/>
            <a:ext cx="9966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1A202C"/>
                </a:solidFill>
                <a:latin typeface="Arial"/>
              </a:rPr>
              <a:t>Every FAIL and NULL came from a correction loop: Claude challenged the headline, exposed a leakage path, forced the stricter test. </a:t>
            </a:r>
            <a:r>
              <a:rPr sz="1350" b="1">
                <a:solidFill>
                  <a:srgbClr val="1F5FA8"/>
                </a:solidFill>
                <a:latin typeface="Arial"/>
              </a:rPr>
              <a:t>The code owns the numbers; the skepticism is the science.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T-CTRL  ·  ISCI method  ·  Built with Claude: Life Sciences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486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GLADSTONE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972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1A202C"/>
                </a:solidFill>
                <a:latin typeface="Arial"/>
              </a:rPr>
              <a:t>A prospective experiment that can </a:t>
            </a:r>
            <a:r>
              <a:rPr sz="2800" b="1">
                <a:solidFill>
                  <a:srgbClr val="1F5FA8"/>
                </a:solidFill>
                <a:latin typeface="Arial"/>
              </a:rPr>
              <a:t>falsify the next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103120"/>
            <a:ext cx="10460736" cy="137160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DONOR-RESOLVED DESIGN</a:t>
            </a:r>
          </a:p>
          <a:p>
            <a:pPr algn="l">
              <a:lnSpc>
                <a:spcPct val="106000"/>
              </a:lnSpc>
            </a:pPr>
            <a:r>
              <a:rPr sz="1400" b="0">
                <a:solidFill>
                  <a:srgbClr val="1A202C"/>
                </a:solidFill>
                <a:latin typeface="Arial"/>
              </a:rPr>
              <a:t>A frozen ~54-guide CD4 panel across paired rest / stimulation contexts in 8–12 independent donors. The donor is the biological replicate — guides, wells and channels do not inflate n. Promotion requires concordant direction across the pre-declared panel.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365760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B13A2F"/>
                </a:solidFill>
                <a:latin typeface="Arial"/>
              </a:rPr>
              <a:t>FALSIFICATION</a:t>
            </a:r>
          </a:p>
          <a:p>
            <a:pPr algn="l">
              <a:lnSpc>
                <a:spcPct val="106000"/>
              </a:lnSpc>
            </a:pPr>
            <a:r>
              <a:rPr sz="1300" b="1">
                <a:solidFill>
                  <a:srgbClr val="1A202C"/>
                </a:solidFill>
                <a:latin typeface="Arial"/>
              </a:rPr>
              <a:t>The extension fails if: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• residual precision gain below the frozen bound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• donor-bootstrap interval crosses zero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• gene-label / context-exchange p ≥ 0.05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365760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384048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8A6D1F"/>
                </a:solidFill>
                <a:latin typeface="Arial"/>
              </a:rPr>
              <a:t>STOP BEFORE SYNTHESIS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Reference sequence, vector compatibility,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on-target activity and off-target risk must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pass first. A proposed panel is a design —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not an experimentally validated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T-CTRL  ·  ISCI method  ·  Built with Claude: Life Sciences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486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1F5FA8"/>
                </a:solidFill>
                <a:latin typeface="Arial"/>
              </a:rPr>
              <a:t>OPEN-SOURCE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972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1A202C"/>
                </a:solidFill>
                <a:latin typeface="Arial"/>
              </a:rPr>
              <a:t>Executable, reusable, </a:t>
            </a:r>
            <a:r>
              <a:rPr sz="2800" b="1">
                <a:solidFill>
                  <a:srgbClr val="1F5FA8"/>
                </a:solidFill>
                <a:latin typeface="Arial"/>
              </a:rPr>
              <a:t>auditable.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103120"/>
            <a:ext cx="512064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103120"/>
            <a:ext cx="4663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F5FA8"/>
                </a:solidFill>
                <a:latin typeface="Arial"/>
              </a:rPr>
              <a:t>1 · CONTRACTS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Frozen axes, claims, gates, DatasetSpec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103120"/>
            <a:ext cx="512064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103120"/>
            <a:ext cx="4663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F5FA8"/>
                </a:solidFill>
                <a:latin typeface="Arial"/>
              </a:rPr>
              <a:t>2 · PYTHON ENGINE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CLI, adapters, block-bounded H5AD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3154679"/>
            <a:ext cx="512064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154679"/>
            <a:ext cx="4663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F5FA8"/>
                </a:solidFill>
                <a:latin typeface="Arial"/>
              </a:rPr>
              <a:t>3 · EVIDENCE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JSON/CSV, figures, hashes, tests, ledger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3154679"/>
            <a:ext cx="5120640" cy="868680"/>
          </a:xfrm>
          <a:prstGeom prst="rect">
            <a:avLst/>
          </a:prstGeom>
          <a:solidFill>
            <a:srgbClr val="F2F5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3154679"/>
            <a:ext cx="4663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F5FA8"/>
                </a:solidFill>
                <a:latin typeface="Arial"/>
              </a:rPr>
              <a:t>4 · EXPERIENCE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515A6B"/>
                </a:solidFill>
                <a:latin typeface="Arial"/>
              </a:rPr>
              <a:t>Notebook, offline HTML, video, deck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4343400"/>
            <a:ext cx="10460736" cy="82296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4340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Run it on any compatible dataset:   </a:t>
            </a:r>
            <a:r>
              <a:rPr sz="1500" b="1">
                <a:solidFill>
                  <a:srgbClr val="8EC5FF"/>
                </a:solidFill>
                <a:latin typeface="Arial"/>
              </a:rPr>
              <a:t>uv run isci pipeline dataset.yaml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394960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B7F4B"/>
                </a:solidFill>
                <a:latin typeface="Arial"/>
              </a:rPr>
              <a:t>21 / 21</a:t>
            </a:r>
            <a:r>
              <a:rPr sz="1400" b="0">
                <a:solidFill>
                  <a:srgbClr val="1A202C"/>
                </a:solidFill>
                <a:latin typeface="Arial"/>
              </a:rPr>
              <a:t>  automated release gates passed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9436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1">
                <a:solidFill>
                  <a:srgbClr val="515A6B"/>
                </a:solidFill>
                <a:latin typeface="Arial"/>
              </a:rPr>
              <a:t>MIT code · third-party data retain source terms · CITATION.cff · a tested scope map, not a target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T-CTRL  ·  ISCI method  ·  Built with Claude: Life Sciences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515A6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T-CTRL — Which genes actually steer T-cell state?</dc:title>
  <dc:subject>Auditable T-cell controllability analysis using the ISCI method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