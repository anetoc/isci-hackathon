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d913cbed6e4411" /><Relationship Type="http://schemas.openxmlformats.org/officeDocument/2006/relationships/extended-properties" Target="/docProps/app.xml" Id="R4726bb8574b64bc7" /><Relationship Type="http://schemas.openxmlformats.org/officeDocument/2006/relationships/officeDocument" Target="/ppt/presentation.xml" Id="R7f382cf2633e4d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6dc9018e147f7"/>
  </p:sldMasterIdLst>
  <p:notesMasterIdLst>
    <p:notesMasterId xmlns:r="http://schemas.openxmlformats.org/officeDocument/2006/relationships" r:id="R7280ae7a61f94f3d"/>
  </p:notesMasterIdLst>
  <p:sldIdLst>
    <p:sldId xmlns:r="http://schemas.openxmlformats.org/officeDocument/2006/relationships" id="256" r:id="R5a40a94b03b74342"/>
    <p:sldId xmlns:r="http://schemas.openxmlformats.org/officeDocument/2006/relationships" id="257" r:id="Rf359126256244d03"/>
    <p:sldId xmlns:r="http://schemas.openxmlformats.org/officeDocument/2006/relationships" id="258" r:id="Rc4996fa8b0bf4227"/>
    <p:sldId xmlns:r="http://schemas.openxmlformats.org/officeDocument/2006/relationships" id="259" r:id="R4b614ec91e6f485a"/>
    <p:sldId xmlns:r="http://schemas.openxmlformats.org/officeDocument/2006/relationships" id="260" r:id="R188761a127534160"/>
    <p:sldId xmlns:r="http://schemas.openxmlformats.org/officeDocument/2006/relationships" id="261" r:id="R9ff323beec03479a"/>
    <p:sldId xmlns:r="http://schemas.openxmlformats.org/officeDocument/2006/relationships" id="262" r:id="Rd678ef43b913422a"/>
    <p:sldId xmlns:r="http://schemas.openxmlformats.org/officeDocument/2006/relationships" id="263" r:id="R448bbfa6166b4770"/>
    <p:sldId xmlns:r="http://schemas.openxmlformats.org/officeDocument/2006/relationships" id="264" r:id="R7652198fe6734c01"/>
    <p:sldId xmlns:r="http://schemas.openxmlformats.org/officeDocument/2006/relationships" id="265" r:id="Rd3feb8b566cd4b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25d9851db4a0f" /><Relationship Type="http://schemas.openxmlformats.org/officeDocument/2006/relationships/slideMaster" Target="/ppt/slideMasters/slideMaster1.xml" Id="R2c66dc9018e147f7" /><Relationship Type="http://schemas.openxmlformats.org/officeDocument/2006/relationships/notesMaster" Target="/ppt/notesMasters/notesMaster1.xml" Id="R7280ae7a61f94f3d" /><Relationship Type="http://schemas.openxmlformats.org/officeDocument/2006/relationships/presProps" Target="/ppt/presProps.xml" Id="Rbd61dffff6744c82" /><Relationship Type="http://schemas.openxmlformats.org/officeDocument/2006/relationships/tableStyles" Target="/ppt/tableStyles.xml" Id="R63782459b6614dfd" /><Relationship Type="http://schemas.openxmlformats.org/officeDocument/2006/relationships/slide" Target="/ppt/slides/slide1.xml" Id="R5a40a94b03b74342" /><Relationship Type="http://schemas.openxmlformats.org/officeDocument/2006/relationships/slide" Target="/ppt/slides/slide2.xml" Id="Rf359126256244d03" /><Relationship Type="http://schemas.openxmlformats.org/officeDocument/2006/relationships/slide" Target="/ppt/slides/slide3.xml" Id="Rc4996fa8b0bf4227" /><Relationship Type="http://schemas.openxmlformats.org/officeDocument/2006/relationships/slide" Target="/ppt/slides/slide4.xml" Id="R4b614ec91e6f485a" /><Relationship Type="http://schemas.openxmlformats.org/officeDocument/2006/relationships/slide" Target="/ppt/slides/slide5.xml" Id="R188761a127534160" /><Relationship Type="http://schemas.openxmlformats.org/officeDocument/2006/relationships/slide" Target="/ppt/slides/slide6.xml" Id="R9ff323beec03479a" /><Relationship Type="http://schemas.openxmlformats.org/officeDocument/2006/relationships/slide" Target="/ppt/slides/slide7.xml" Id="Rd678ef43b913422a" /><Relationship Type="http://schemas.openxmlformats.org/officeDocument/2006/relationships/slide" Target="/ppt/slides/slide8.xml" Id="R448bbfa6166b4770" /><Relationship Type="http://schemas.openxmlformats.org/officeDocument/2006/relationships/slide" Target="/ppt/slides/slide9.xml" Id="R7652198fe6734c01" /><Relationship Type="http://schemas.openxmlformats.org/officeDocument/2006/relationships/slide" Target="/ppt/slides/slide10.xml" Id="Rd3feb8b566cd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55feca67747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f6342df6948ab" /><Relationship Type="http://schemas.openxmlformats.org/officeDocument/2006/relationships/notesMaster" Target="/ppt/notesMasters/notesMaster1.xml" Id="R439e2f80c62b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fa1b6dca0423f" /><Relationship Type="http://schemas.openxmlformats.org/officeDocument/2006/relationships/notesMaster" Target="/ppt/notesMasters/notesMaster1.xml" Id="R0f4af32bf2ce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94c3c89db9430a" /><Relationship Type="http://schemas.openxmlformats.org/officeDocument/2006/relationships/notesMaster" Target="/ppt/notesMasters/notesMaster1.xml" Id="R7232e95011f24c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f746b2494b45e4" /><Relationship Type="http://schemas.openxmlformats.org/officeDocument/2006/relationships/notesMaster" Target="/ppt/notesMasters/notesMaster1.xml" Id="R85bac8aa6c48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8def59db84c6d" /><Relationship Type="http://schemas.openxmlformats.org/officeDocument/2006/relationships/notesMaster" Target="/ppt/notesMasters/notesMaster1.xml" Id="Rdf9beebfbe7a47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214675dedb45fa" /><Relationship Type="http://schemas.openxmlformats.org/officeDocument/2006/relationships/notesMaster" Target="/ppt/notesMasters/notesMaster1.xml" Id="R6e69e1d9941c47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f81e5f9234faa" /><Relationship Type="http://schemas.openxmlformats.org/officeDocument/2006/relationships/notesMaster" Target="/ppt/notesMasters/notesMaster1.xml" Id="Rb8d2abe013ae4d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052ac09c5d4c97" /><Relationship Type="http://schemas.openxmlformats.org/officeDocument/2006/relationships/notesMaster" Target="/ppt/notesMasters/notesMaster1.xml" Id="Rf241f80a52984e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725453443048fa" /><Relationship Type="http://schemas.openxmlformats.org/officeDocument/2006/relationships/notesMaster" Target="/ppt/notesMasters/notesMaster1.xml" Id="Rb32e9ceca39b4c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222f278f24c35" /><Relationship Type="http://schemas.openxmlformats.org/officeDocument/2006/relationships/notesMaster" Target="/ppt/notesMasters/notesMaster1.xml" Id="Ra28335879e6b47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o problema clínico: uma alteração laboratorial intensa não é automaticamente causal. O ISCI transporta essa cautela para Perturb-seq. Não apresente como alvo terapêutico ou biomarcador. Fonte científica: reports/result_lock.md.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analogia médica. Magnitude é intensidade; direção é o fenótipo para o qual a célula foi; repetição é reprodutibilidade. A contribuição começa ao separar essas três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experimento sem falar em geometria. O perfil de expressão funciona como um mapa de estados. O gene é perturbado e observamos se a célula se desloca para um programa reconhecível, no mesmo sentido entre guias e doadores.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os três números separados. +0,357 é o teste primário completo. +0,215 é a estimativa leakage-free fora da amostra. 0,415 para 0,722 é uma comparação descritiva, não a mesma estimativa de ganho.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honestidade central. O sinal não generalizou para vinte reguladores funcionais externos e perde força quando retiramos os quatro fatores que definem os eixos. Isso restringe, mas não apaga, o resultado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Diga que a propriedade parece mais compatível com estados imunes do que com proliferação ou diferenciação não imune. Schmidt e THP-1 são near-misses, não replicações confirmatórias. Não use universal ou invariante.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Separe três decisões. Um gene pode controlar um estado e ainda ser uma intervenção indesejável. Eixos moleculares não transportaram como preditores de resposta entre nove estudos de CAR-T. O produto prioriza experimentos, não prescreve terapia.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a apresentação principal aqui. PASS, FAIL, NULL e NÃO AVALIÁVEL são produtos válidos. Claude funcionou como crítico e operador de evidência; o código determinístico calcula as métricas e aplica os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responde por que Gladstone importa. O desenho é donor-resolved e pode rejeitar a hipótese. O painel possui 25 genes e 54 guias em dois contextos. Nenhum pedido deve ocorrer antes do gate de sequência e off-target.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Python é o motor, mas o artefato não é um script isolado. A entrega junta contratos científicos, código, evidência versionada, figuras, deck, demo e vídeo. O pacote automatizado passa doze gates; ainda restam aprovação do PI, ensaios e validação pública dos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f27cdca17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8e452e62c64fee" /><Relationship Type="http://schemas.openxmlformats.org/officeDocument/2006/relationships/slideLayout" Target="/ppt/slideLayouts/slideLayout1.xml" Id="Red5b5bd01468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b5bd01468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709d3add44c4d" /><Relationship Type="http://schemas.openxmlformats.org/officeDocument/2006/relationships/image" Target="/ppt/media/image.png" Id="Rfa5f3904f4824341" /><Relationship Type="http://schemas.openxmlformats.org/officeDocument/2006/relationships/notesSlide" Target="/ppt/notesSlides/notesSlide1.xml" Id="R373435a330274f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0be2ce2f040ef" /><Relationship Type="http://schemas.openxmlformats.org/officeDocument/2006/relationships/notesSlide" Target="/ppt/notesSlides/notesSlide2.xml" Id="R6965bf61b6a14f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79ea5f1544dad" /><Relationship Type="http://schemas.openxmlformats.org/officeDocument/2006/relationships/notesSlide" Target="/ppt/notesSlides/notesSlide3.xml" Id="Rde09efe3f517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3ffaea4794cc6" /><Relationship Type="http://schemas.openxmlformats.org/officeDocument/2006/relationships/image" Target="/ppt/media/image2.png" Id="R972a037e451b41d5" /><Relationship Type="http://schemas.openxmlformats.org/officeDocument/2006/relationships/notesSlide" Target="/ppt/notesSlides/notesSlide4.xml" Id="R6891337a5767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3ec95b7248bd" /><Relationship Type="http://schemas.openxmlformats.org/officeDocument/2006/relationships/image" Target="/ppt/media/image3.png" Id="Rfd0468efe4154891" /><Relationship Type="http://schemas.openxmlformats.org/officeDocument/2006/relationships/image" Target="/ppt/media/image4.png" Id="Rade88649db7e4879" /><Relationship Type="http://schemas.openxmlformats.org/officeDocument/2006/relationships/notesSlide" Target="/ppt/notesSlides/notesSlide5.xml" Id="R35a61773bf2a41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d70132f26482e" /><Relationship Type="http://schemas.openxmlformats.org/officeDocument/2006/relationships/image" Target="/ppt/media/image5.png" Id="R45e3fb4528be4532" /><Relationship Type="http://schemas.openxmlformats.org/officeDocument/2006/relationships/notesSlide" Target="/ppt/notesSlides/notesSlide6.xml" Id="Rc15b898bcbf5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8e5b260e4ef6" /><Relationship Type="http://schemas.openxmlformats.org/officeDocument/2006/relationships/image" Target="/ppt/media/image6.png" Id="R76c99ea942954127" /><Relationship Type="http://schemas.openxmlformats.org/officeDocument/2006/relationships/image" Target="/ppt/media/image7.png" Id="R69b253f84b934768" /><Relationship Type="http://schemas.openxmlformats.org/officeDocument/2006/relationships/notesSlide" Target="/ppt/notesSlides/notesSlide7.xml" Id="R2038dc139d46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072b40cdc4fdf" /><Relationship Type="http://schemas.openxmlformats.org/officeDocument/2006/relationships/image" Target="/ppt/media/image8.png" Id="R04bb84cf57954c17" /><Relationship Type="http://schemas.openxmlformats.org/officeDocument/2006/relationships/notesSlide" Target="/ppt/notesSlides/notesSlide8.xml" Id="Re5a61473cbcc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3e10017194008" /><Relationship Type="http://schemas.openxmlformats.org/officeDocument/2006/relationships/image" Target="/ppt/media/image9.png" Id="R32f55e136a604e79" /><Relationship Type="http://schemas.openxmlformats.org/officeDocument/2006/relationships/notesSlide" Target="/ppt/notesSlides/notesSlide9.xml" Id="Rff7f902f0cc54a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77b03e6ec4773" /><Relationship Type="http://schemas.openxmlformats.org/officeDocument/2006/relationships/notesSlide" Target="/ppt/notesSlides/notesSlide10.xml" Id="R415b567e466342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3C8872E-6BE7-4309-B02A-AAA34D8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7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869D94B-409D-40CC-88F8-98134FFC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772"/>
                </a:solidFill>
              </a:defRPr>
            </a:pPr>
            <a:r>
              <a:rPr sz="1125" b="1">
                <a:solidFill>
                  <a:srgbClr val="0B7772"/>
                </a:solidFill>
              </a:rPr>
              <a:t>ISCI • RESEARCHER TRACK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5D32B6-BCDB-425B-833F-B2793DF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447"/>
                </a:solidFill>
              </a:defRPr>
            </a:pPr>
            <a:r>
              <a:rPr sz="3150" b="1">
                <a:solidFill>
                  <a:srgbClr val="143447"/>
                </a:solidFill>
              </a:rPr>
              <a:t>Nem toda grande mudança</a:t>
            </a:r>
          </a:p>
          <a:p xmlns:a="http://schemas.openxmlformats.org/drawingml/2006/main">
            <a:pPr algn="l">
              <a:defRPr sz="3150" b="1">
                <a:solidFill>
                  <a:srgbClr val="143447"/>
                </a:solidFill>
              </a:defRPr>
            </a:pPr>
            <a:r>
              <a:rPr sz="3150" b="1">
                <a:solidFill>
                  <a:srgbClr val="143447"/>
                </a:solidFill>
              </a:rPr>
              <a:t>é controle biológico.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85533D8-550C-4019-A40B-5CCF8BF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7078"/>
                </a:solidFill>
              </a:defRPr>
            </a:pPr>
            <a:r>
              <a:rPr sz="1725" b="0">
                <a:solidFill>
                  <a:srgbClr val="5E7078"/>
                </a:solidFill>
              </a:rPr>
              <a:t>Um sistema auditável para distinguir intensidade, direção funcional e repetição entre doadores em células T CD4+.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A17FB154-B757-4F6A-A966-668EF56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857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hesis-text">
            <a:extLst xmlns:a="http://schemas.openxmlformats.org/drawingml/2006/main">
              <a:ext uri="{FF2B5EF4-FFF2-40B4-BE49-F238E27FC236}">
                <a16:creationId xmlns:a16="http://schemas.microsoft.com/office/drawing/2014/main" id="{75D57527-B3F1-4430-8AC5-2270051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3447"/>
                </a:solidFill>
              </a:defRPr>
            </a:pPr>
            <a:r>
              <a:rPr sz="1425" b="1">
                <a:solidFill>
                  <a:srgbClr val="143447"/>
                </a:solidFill>
              </a:rPr>
              <a:t>A entrega não é uma lista de alvos.</a:t>
            </a:r>
          </a:p>
          <a:p xmlns:a="http://schemas.openxmlformats.org/drawingml/2006/main">
            <a:pPr algn="l">
              <a:defRPr sz="1425" b="1">
                <a:solidFill>
                  <a:srgbClr val="143447"/>
                </a:solidFill>
              </a:defRPr>
            </a:pPr>
            <a:r>
              <a:rPr sz="1425" b="1">
                <a:solidFill>
                  <a:srgbClr val="143447"/>
                </a:solidFill>
              </a:rPr>
              <a:t>É um método que decide quando a evidência merece PASS — e quando deve parar.</a:t>
            </a:r>
          </a:p>
        </p:txBody>
      </p:sp>
      <p:sp>
        <p:nvSpPr>
          <p:cNvPr id="7" name="cover-central-frame">
            <a:extLst xmlns:a="http://schemas.openxmlformats.org/drawingml/2006/main">
              <a:ext uri="{FF2B5EF4-FFF2-40B4-BE49-F238E27FC236}">
                <a16:creationId xmlns:a16="http://schemas.microsoft.com/office/drawing/2014/main" id="{289CC77C-7856-4595-B2D3-B2A575D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704850"/>
            <a:ext cx="5372100" cy="49149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f3904f4824341"/>
          <a:stretch xmlns:a="http://schemas.openxmlformats.org/drawingml/2006/main"/>
        </p:blipFill>
        <p:spPr>
          <a:xfrm xmlns:a="http://schemas.openxmlformats.org/drawingml/2006/main">
            <a:off x="6210300" y="1951272"/>
            <a:ext cx="5219700" cy="242205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DE8D904-CA0C-4973-9216-9E63A6B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4F63"/>
                </a:solidFill>
              </a:defRPr>
            </a:pPr>
            <a:r>
              <a:rPr sz="1200" b="0">
                <a:solidFill>
                  <a:srgbClr val="254F63"/>
                </a:solidFill>
              </a:rPr>
              <a:t>Abel Costa • Hematologia e pesquisa clínica</a:t>
            </a:r>
          </a:p>
        </p:txBody>
      </p:sp>
    </p:spTree>
    <p:extLst>
      <p:ext uri="{BB962C8B-B14F-4D97-AF65-F5344CB8AC3E}">
        <p14:creationId xmlns:p14="http://schemas.microsoft.com/office/powerpoint/2010/main" val="1754902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9C09C1C9-F1A4-4BD2-BC96-9529A037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A PERGUNTA CLÍNICA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0FC4640-EEBA-4354-87BC-9E3A657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Alterar muito não é controlar.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C9C25CC3-2429-4385-839A-8E26F61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AF113117-E7C9-4ED8-BDE5-208B5CB1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3D"/>
                </a:solidFill>
              </a:defRPr>
            </a:pPr>
            <a:r>
              <a:rPr sz="1575" b="0">
                <a:solidFill>
                  <a:srgbClr val="17313D"/>
                </a:solidFill>
              </a:rPr>
              <a:t>Em medicina, um marcador pode mudar muito e ainda ser apenas consequência. Em uma tela CRISPR, um gene pode alterar milhares de transcritos sem governar o destino funcional da célula.</a:t>
            </a:r>
          </a:p>
        </p:txBody>
      </p:sp>
      <p:sp>
        <p:nvSpPr>
          <p:cNvPr id="5" name="s2-arrow-1">
            <a:extLst xmlns:a="http://schemas.openxmlformats.org/drawingml/2006/main">
              <a:ext uri="{FF2B5EF4-FFF2-40B4-BE49-F238E27FC236}">
                <a16:creationId xmlns:a16="http://schemas.microsoft.com/office/drawing/2014/main" id="{42AFBDD5-BCDB-4543-8A9F-AB71A1BD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838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E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arrow-2">
            <a:extLst xmlns:a="http://schemas.openxmlformats.org/drawingml/2006/main">
              <a:ext uri="{FF2B5EF4-FFF2-40B4-BE49-F238E27FC236}">
                <a16:creationId xmlns:a16="http://schemas.microsoft.com/office/drawing/2014/main" id="{C04A4B8E-ADBF-43BA-8B6B-DA2133B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19450"/>
            <a:ext cx="838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E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concept-1">
            <a:extLst xmlns:a="http://schemas.openxmlformats.org/drawingml/2006/main">
              <a:ext uri="{FF2B5EF4-FFF2-40B4-BE49-F238E27FC236}">
                <a16:creationId xmlns:a16="http://schemas.microsoft.com/office/drawing/2014/main" id="{C7A02AA8-81B2-427F-873A-F59E98BB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8" name="s2-number-1">
            <a:extLst xmlns:a="http://schemas.openxmlformats.org/drawingml/2006/main">
              <a:ext uri="{FF2B5EF4-FFF2-40B4-BE49-F238E27FC236}">
                <a16:creationId xmlns:a16="http://schemas.microsoft.com/office/drawing/2014/main" id="{3FAFEF58-32D4-4A79-A730-2828776F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number-text-1">
            <a:extLst xmlns:a="http://schemas.openxmlformats.org/drawingml/2006/main">
              <a:ext uri="{FF2B5EF4-FFF2-40B4-BE49-F238E27FC236}">
                <a16:creationId xmlns:a16="http://schemas.microsoft.com/office/drawing/2014/main" id="{FE30DAF0-A9FC-4E09-810C-22B7B2F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2-title-1">
            <a:extLst xmlns:a="http://schemas.openxmlformats.org/drawingml/2006/main">
              <a:ext uri="{FF2B5EF4-FFF2-40B4-BE49-F238E27FC236}">
                <a16:creationId xmlns:a16="http://schemas.microsoft.com/office/drawing/2014/main" id="{47A4EEBF-C3E0-4262-8D49-22B0259D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447"/>
                </a:solidFill>
              </a:defRPr>
            </a:pPr>
            <a:r>
              <a:rPr sz="1875" b="1">
                <a:solidFill>
                  <a:srgbClr val="143447"/>
                </a:solidFill>
              </a:rPr>
              <a:t>Magnitude</a:t>
            </a:r>
          </a:p>
        </p:txBody>
      </p:sp>
      <p:sp>
        <p:nvSpPr>
          <p:cNvPr id="11" name="s2-copy-1">
            <a:extLst xmlns:a="http://schemas.openxmlformats.org/drawingml/2006/main">
              <a:ext uri="{FF2B5EF4-FFF2-40B4-BE49-F238E27FC236}">
                <a16:creationId xmlns:a16="http://schemas.microsoft.com/office/drawing/2014/main" id="{120AE8D1-6E8B-4542-AFED-8ADA2CD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Quanto a célula mudou?</a:t>
            </a:r>
          </a:p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É o tamanho do efeito — como a intensidade de uma alteração laboratorial.</a:t>
            </a:r>
          </a:p>
        </p:txBody>
      </p:sp>
      <p:sp>
        <p:nvSpPr>
          <p:cNvPr id="12" name="s2-concept-2">
            <a:extLst xmlns:a="http://schemas.openxmlformats.org/drawingml/2006/main">
              <a:ext uri="{FF2B5EF4-FFF2-40B4-BE49-F238E27FC236}">
                <a16:creationId xmlns:a16="http://schemas.microsoft.com/office/drawing/2014/main" id="{768722E9-5999-4CBF-A6C2-F168C318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289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s2-number-2">
            <a:extLst xmlns:a="http://schemas.openxmlformats.org/drawingml/2006/main">
              <a:ext uri="{FF2B5EF4-FFF2-40B4-BE49-F238E27FC236}">
                <a16:creationId xmlns:a16="http://schemas.microsoft.com/office/drawing/2014/main" id="{13192FA0-65AD-4133-A825-2DAFA023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7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-number-text-2">
            <a:extLst xmlns:a="http://schemas.openxmlformats.org/drawingml/2006/main">
              <a:ext uri="{FF2B5EF4-FFF2-40B4-BE49-F238E27FC236}">
                <a16:creationId xmlns:a16="http://schemas.microsoft.com/office/drawing/2014/main" id="{D2B0ADB9-AE62-4721-955F-9AEE910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24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s2-title-2">
            <a:extLst xmlns:a="http://schemas.openxmlformats.org/drawingml/2006/main">
              <a:ext uri="{FF2B5EF4-FFF2-40B4-BE49-F238E27FC236}">
                <a16:creationId xmlns:a16="http://schemas.microsoft.com/office/drawing/2014/main" id="{833638C0-5061-4F6B-BBBF-A3CA961D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447"/>
                </a:solidFill>
              </a:defRPr>
            </a:pPr>
            <a:r>
              <a:rPr sz="1875" b="1">
                <a:solidFill>
                  <a:srgbClr val="143447"/>
                </a:solidFill>
              </a:rPr>
              <a:t>Direção</a:t>
            </a:r>
          </a:p>
        </p:txBody>
      </p:sp>
      <p:sp>
        <p:nvSpPr>
          <p:cNvPr id="16" name="s2-copy-2">
            <a:extLst xmlns:a="http://schemas.openxmlformats.org/drawingml/2006/main">
              <a:ext uri="{FF2B5EF4-FFF2-40B4-BE49-F238E27FC236}">
                <a16:creationId xmlns:a16="http://schemas.microsoft.com/office/drawing/2014/main" id="{ED4DC924-4DDB-4AE2-80B8-F5545652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480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Para qual programa ela foi?</a:t>
            </a:r>
          </a:p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Th1, Th2, regulação, memória, ativação ou exaustão.</a:t>
            </a:r>
          </a:p>
        </p:txBody>
      </p:sp>
      <p:sp>
        <p:nvSpPr>
          <p:cNvPr id="17" name="s2-concept-3">
            <a:extLst xmlns:a="http://schemas.openxmlformats.org/drawingml/2006/main">
              <a:ext uri="{FF2B5EF4-FFF2-40B4-BE49-F238E27FC236}">
                <a16:creationId xmlns:a16="http://schemas.microsoft.com/office/drawing/2014/main" id="{8ED2A64D-6335-4A41-BB06-FAC246C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8" name="s2-number-3">
            <a:extLst xmlns:a="http://schemas.openxmlformats.org/drawingml/2006/main">
              <a:ext uri="{FF2B5EF4-FFF2-40B4-BE49-F238E27FC236}">
                <a16:creationId xmlns:a16="http://schemas.microsoft.com/office/drawing/2014/main" id="{E70EBC99-4780-4E0E-A35E-47D287B2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2-number-text-3">
            <a:extLst xmlns:a="http://schemas.openxmlformats.org/drawingml/2006/main">
              <a:ext uri="{FF2B5EF4-FFF2-40B4-BE49-F238E27FC236}">
                <a16:creationId xmlns:a16="http://schemas.microsoft.com/office/drawing/2014/main" id="{F0ABC081-FB0D-426D-B6A9-C5A9D18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s2-title-3">
            <a:extLst xmlns:a="http://schemas.openxmlformats.org/drawingml/2006/main">
              <a:ext uri="{FF2B5EF4-FFF2-40B4-BE49-F238E27FC236}">
                <a16:creationId xmlns:a16="http://schemas.microsoft.com/office/drawing/2014/main" id="{389948D7-01DD-4FFE-92D0-95F4714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447"/>
                </a:solidFill>
              </a:defRPr>
            </a:pPr>
            <a:r>
              <a:rPr sz="1875" b="1">
                <a:solidFill>
                  <a:srgbClr val="143447"/>
                </a:solidFill>
              </a:rPr>
              <a:t>Repetição</a:t>
            </a:r>
          </a:p>
        </p:txBody>
      </p:sp>
      <p:sp>
        <p:nvSpPr>
          <p:cNvPr id="21" name="s2-copy-3">
            <a:extLst xmlns:a="http://schemas.openxmlformats.org/drawingml/2006/main">
              <a:ext uri="{FF2B5EF4-FFF2-40B4-BE49-F238E27FC236}">
                <a16:creationId xmlns:a16="http://schemas.microsoft.com/office/drawing/2014/main" id="{3C0A29BF-306D-4054-893C-C7DC6CD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O mesmo sentido reaparece?</a:t>
            </a:r>
          </a:p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Guias diferentes e doadores independentes precisam concordar.</a:t>
            </a:r>
          </a:p>
        </p:txBody>
      </p:sp>
      <p:sp>
        <p:nvSpPr>
          <p:cNvPr id="22" name="s2-bottom">
            <a:extLst xmlns:a="http://schemas.openxmlformats.org/drawingml/2006/main">
              <a:ext uri="{FF2B5EF4-FFF2-40B4-BE49-F238E27FC236}">
                <a16:creationId xmlns:a16="http://schemas.microsoft.com/office/drawing/2014/main" id="{F3C7C3BF-6277-4C82-AC30-007D677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8686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bottom-copy">
            <a:extLst xmlns:a="http://schemas.openxmlformats.org/drawingml/2006/main">
              <a:ext uri="{FF2B5EF4-FFF2-40B4-BE49-F238E27FC236}">
                <a16:creationId xmlns:a16="http://schemas.microsoft.com/office/drawing/2014/main" id="{14A27DEF-AACB-4615-8849-A92A3A95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Um candidato a controlador precisa das três respostas.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Uma grande perturbação, sozinha, não basta.</a:t>
            </a:r>
          </a:p>
        </p:txBody>
      </p:sp>
      <p:sp>
        <p:nvSpPr>
          <p:cNvPr id="2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4B4A4E3-EB57-4E53-8C46-053A8B3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2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2F72475E-90EC-486B-BDB4-110D059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26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7DC149DB-77C0-4BD2-B9D0-C050E5C6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Conceito: result_lock.md • docs/method.md</a:t>
            </a:r>
          </a:p>
        </p:txBody>
      </p:sp>
      <p:sp>
        <p:nvSpPr>
          <p:cNvPr id="2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995D9AB-B143-4C39-A6A7-6BEDF02D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9698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C7BB90EF-690D-4E52-864C-F6501107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COMO O ESTUDO LÊ UMA PERTURBAÇÃO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CEA77A2-6635-4148-90B1-6BA28B2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A pergunta certa: para onde a célula T foi?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02ED1417-8925-4D10-971F-5EDE1FA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5C69E5C8-3017-4EE2-B4C4-A295C34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3D"/>
                </a:solidFill>
              </a:defRPr>
            </a:pPr>
            <a:r>
              <a:rPr sz="1575" b="0">
                <a:solidFill>
                  <a:srgbClr val="17313D"/>
                </a:solidFill>
              </a:rPr>
              <a:t>Perturbamos um gene, lemos o transcriptoma da célula e comparamos o deslocamento funcional entre guias, doadores e contextos.</a:t>
            </a:r>
          </a:p>
        </p:txBody>
      </p:sp>
      <p:sp>
        <p:nvSpPr>
          <p:cNvPr id="5" name="s3-arrow-0">
            <a:extLst xmlns:a="http://schemas.openxmlformats.org/drawingml/2006/main">
              <a:ext uri="{FF2B5EF4-FFF2-40B4-BE49-F238E27FC236}">
                <a16:creationId xmlns:a16="http://schemas.microsoft.com/office/drawing/2014/main" id="{35D88FB5-1476-4A6D-BB19-8A09D3E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arrow-1">
            <a:extLst xmlns:a="http://schemas.openxmlformats.org/drawingml/2006/main">
              <a:ext uri="{FF2B5EF4-FFF2-40B4-BE49-F238E27FC236}">
                <a16:creationId xmlns:a16="http://schemas.microsoft.com/office/drawing/2014/main" id="{97F7D02F-5149-45B9-BD21-F0530FF2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arrow-2">
            <a:extLst xmlns:a="http://schemas.openxmlformats.org/drawingml/2006/main">
              <a:ext uri="{FF2B5EF4-FFF2-40B4-BE49-F238E27FC236}">
                <a16:creationId xmlns:a16="http://schemas.microsoft.com/office/drawing/2014/main" id="{9ADBD3B2-B61A-4389-9C7A-F1F7DCE2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step-1">
            <a:extLst xmlns:a="http://schemas.openxmlformats.org/drawingml/2006/main">
              <a:ext uri="{FF2B5EF4-FFF2-40B4-BE49-F238E27FC236}">
                <a16:creationId xmlns:a16="http://schemas.microsoft.com/office/drawing/2014/main" id="{26AD234A-53AA-49F5-AADC-43D05D2A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190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s3-step-num-1">
            <a:extLst xmlns:a="http://schemas.openxmlformats.org/drawingml/2006/main">
              <a:ext uri="{FF2B5EF4-FFF2-40B4-BE49-F238E27FC236}">
                <a16:creationId xmlns:a16="http://schemas.microsoft.com/office/drawing/2014/main" id="{C1CE67EA-577F-4594-A075-A72391E7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772"/>
                </a:solidFill>
              </a:defRPr>
            </a:pPr>
            <a:r>
              <a:rPr sz="1350" b="1">
                <a:solidFill>
                  <a:srgbClr val="0B7772"/>
                </a:solidFill>
              </a:rPr>
              <a:t>1</a:t>
            </a:r>
          </a:p>
        </p:txBody>
      </p:sp>
      <p:sp>
        <p:nvSpPr>
          <p:cNvPr id="10" name="s3-step-title-1">
            <a:extLst xmlns:a="http://schemas.openxmlformats.org/drawingml/2006/main">
              <a:ext uri="{FF2B5EF4-FFF2-40B4-BE49-F238E27FC236}">
                <a16:creationId xmlns:a16="http://schemas.microsoft.com/office/drawing/2014/main" id="{98A2BE1A-2EAB-460D-83AB-9EC1542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CRISPR</a:t>
            </a:r>
          </a:p>
        </p:txBody>
      </p:sp>
      <p:sp>
        <p:nvSpPr>
          <p:cNvPr id="11" name="s3-step-copy-1">
            <a:extLst xmlns:a="http://schemas.openxmlformats.org/drawingml/2006/main">
              <a:ext uri="{FF2B5EF4-FFF2-40B4-BE49-F238E27FC236}">
                <a16:creationId xmlns:a16="http://schemas.microsoft.com/office/drawing/2014/main" id="{358EC19C-1697-470C-B09F-2A8CCE4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Reduz um gene</a:t>
            </a:r>
          </a:p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por guia definido.</a:t>
            </a:r>
          </a:p>
        </p:txBody>
      </p:sp>
      <p:sp>
        <p:nvSpPr>
          <p:cNvPr id="12" name="s3-step-2">
            <a:extLst xmlns:a="http://schemas.openxmlformats.org/drawingml/2006/main">
              <a:ext uri="{FF2B5EF4-FFF2-40B4-BE49-F238E27FC236}">
                <a16:creationId xmlns:a16="http://schemas.microsoft.com/office/drawing/2014/main" id="{5D759B0F-11C7-4873-8805-9B39D3FA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2190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s3-step-num-2">
            <a:extLst xmlns:a="http://schemas.openxmlformats.org/drawingml/2006/main">
              <a:ext uri="{FF2B5EF4-FFF2-40B4-BE49-F238E27FC236}">
                <a16:creationId xmlns:a16="http://schemas.microsoft.com/office/drawing/2014/main" id="{5AC73127-8D9E-404A-81F2-A8F70DEF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772"/>
                </a:solidFill>
              </a:defRPr>
            </a:pPr>
            <a:r>
              <a:rPr sz="1350" b="1">
                <a:solidFill>
                  <a:srgbClr val="0B7772"/>
                </a:solidFill>
              </a:rPr>
              <a:t>2</a:t>
            </a:r>
          </a:p>
        </p:txBody>
      </p:sp>
      <p:sp>
        <p:nvSpPr>
          <p:cNvPr id="14" name="s3-step-title-2">
            <a:extLst xmlns:a="http://schemas.openxmlformats.org/drawingml/2006/main">
              <a:ext uri="{FF2B5EF4-FFF2-40B4-BE49-F238E27FC236}">
                <a16:creationId xmlns:a16="http://schemas.microsoft.com/office/drawing/2014/main" id="{255798A0-3FC0-49C4-A132-F22BC5D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28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Célula T CD4+</a:t>
            </a:r>
          </a:p>
        </p:txBody>
      </p:sp>
      <p:sp>
        <p:nvSpPr>
          <p:cNvPr id="15" name="s3-step-copy-2">
            <a:extLst xmlns:a="http://schemas.openxmlformats.org/drawingml/2006/main">
              <a:ext uri="{FF2B5EF4-FFF2-40B4-BE49-F238E27FC236}">
                <a16:creationId xmlns:a16="http://schemas.microsoft.com/office/drawing/2014/main" id="{58BA75D6-9657-4246-AF2C-D6362A2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Repouso e estímulo</a:t>
            </a:r>
          </a:p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modelam o contexto.</a:t>
            </a:r>
          </a:p>
        </p:txBody>
      </p:sp>
      <p:sp>
        <p:nvSpPr>
          <p:cNvPr id="16" name="s3-step-3">
            <a:extLst xmlns:a="http://schemas.openxmlformats.org/drawingml/2006/main">
              <a:ext uri="{FF2B5EF4-FFF2-40B4-BE49-F238E27FC236}">
                <a16:creationId xmlns:a16="http://schemas.microsoft.com/office/drawing/2014/main" id="{9775937D-0F46-4858-AE66-87BDC716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190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7" name="s3-step-num-3">
            <a:extLst xmlns:a="http://schemas.openxmlformats.org/drawingml/2006/main">
              <a:ext uri="{FF2B5EF4-FFF2-40B4-BE49-F238E27FC236}">
                <a16:creationId xmlns:a16="http://schemas.microsoft.com/office/drawing/2014/main" id="{BBB46C46-DE9C-4F9B-BAC2-7D2EE9FA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772"/>
                </a:solidFill>
              </a:defRPr>
            </a:pPr>
            <a:r>
              <a:rPr sz="1350" b="1">
                <a:solidFill>
                  <a:srgbClr val="0B7772"/>
                </a:solidFill>
              </a:rPr>
              <a:t>3</a:t>
            </a:r>
          </a:p>
        </p:txBody>
      </p:sp>
      <p:sp>
        <p:nvSpPr>
          <p:cNvPr id="18" name="s3-step-title-3">
            <a:extLst xmlns:a="http://schemas.openxmlformats.org/drawingml/2006/main">
              <a:ext uri="{FF2B5EF4-FFF2-40B4-BE49-F238E27FC236}">
                <a16:creationId xmlns:a16="http://schemas.microsoft.com/office/drawing/2014/main" id="{8BE4A349-31F6-4B60-A3DD-EF4360E0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Perturb-seq</a:t>
            </a:r>
          </a:p>
        </p:txBody>
      </p:sp>
      <p:sp>
        <p:nvSpPr>
          <p:cNvPr id="19" name="s3-step-copy-3">
            <a:extLst xmlns:a="http://schemas.openxmlformats.org/drawingml/2006/main">
              <a:ext uri="{FF2B5EF4-FFF2-40B4-BE49-F238E27FC236}">
                <a16:creationId xmlns:a16="http://schemas.microsoft.com/office/drawing/2014/main" id="{4F4BCDDE-3548-4764-B0E8-74595F1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Milhares de transcritos</a:t>
            </a:r>
          </a:p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revelam o novo estado.</a:t>
            </a:r>
          </a:p>
        </p:txBody>
      </p:sp>
      <p:sp>
        <p:nvSpPr>
          <p:cNvPr id="20" name="s3-step-4">
            <a:extLst xmlns:a="http://schemas.openxmlformats.org/drawingml/2006/main">
              <a:ext uri="{FF2B5EF4-FFF2-40B4-BE49-F238E27FC236}">
                <a16:creationId xmlns:a16="http://schemas.microsoft.com/office/drawing/2014/main" id="{B9AB55CA-CBB8-474F-849E-3EE88B8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190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9525">
            <a:solidFill>
              <a:srgbClr val="0B7772"/>
            </a:solidFill>
            <a:prstDash val="solid"/>
          </a:ln>
        </p:spPr>
      </p:sp>
      <p:sp>
        <p:nvSpPr>
          <p:cNvPr id="21" name="s3-step-num-4">
            <a:extLst xmlns:a="http://schemas.openxmlformats.org/drawingml/2006/main">
              <a:ext uri="{FF2B5EF4-FFF2-40B4-BE49-F238E27FC236}">
                <a16:creationId xmlns:a16="http://schemas.microsoft.com/office/drawing/2014/main" id="{2B2323D2-F454-46A3-84B6-2610560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772"/>
                </a:solidFill>
              </a:defRPr>
            </a:pPr>
            <a:r>
              <a:rPr sz="1350" b="1">
                <a:solidFill>
                  <a:srgbClr val="0B7772"/>
                </a:solidFill>
              </a:rPr>
              <a:t>4</a:t>
            </a:r>
          </a:p>
        </p:txBody>
      </p:sp>
      <p:sp>
        <p:nvSpPr>
          <p:cNvPr id="22" name="s3-step-title-4">
            <a:extLst xmlns:a="http://schemas.openxmlformats.org/drawingml/2006/main">
              <a:ext uri="{FF2B5EF4-FFF2-40B4-BE49-F238E27FC236}">
                <a16:creationId xmlns:a16="http://schemas.microsoft.com/office/drawing/2014/main" id="{C556CD8C-6764-4751-923E-7BB8D24B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289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Comparação</a:t>
            </a:r>
          </a:p>
        </p:txBody>
      </p:sp>
      <p:sp>
        <p:nvSpPr>
          <p:cNvPr id="23" name="s3-step-copy-4">
            <a:extLst xmlns:a="http://schemas.openxmlformats.org/drawingml/2006/main">
              <a:ext uri="{FF2B5EF4-FFF2-40B4-BE49-F238E27FC236}">
                <a16:creationId xmlns:a16="http://schemas.microsoft.com/office/drawing/2014/main" id="{3193C74E-EFCA-458D-95C0-801197F4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Guia × doador × contexto</a:t>
            </a:r>
          </a:p>
          <a:p xmlns:a="http://schemas.openxmlformats.org/drawingml/2006/main">
            <a:pPr algn="l">
              <a:defRPr sz="1125" b="0">
                <a:solidFill>
                  <a:srgbClr val="5E7078"/>
                </a:solidFill>
              </a:defRPr>
            </a:pPr>
            <a:r>
              <a:rPr sz="1125" b="0">
                <a:solidFill>
                  <a:srgbClr val="5E7078"/>
                </a:solidFill>
              </a:rPr>
              <a:t>mede repetição.</a:t>
            </a:r>
          </a:p>
        </p:txBody>
      </p:sp>
      <p:sp>
        <p:nvSpPr>
          <p:cNvPr id="24" name="s3-axis">
            <a:extLst xmlns:a="http://schemas.openxmlformats.org/drawingml/2006/main">
              <a:ext uri="{FF2B5EF4-FFF2-40B4-BE49-F238E27FC236}">
                <a16:creationId xmlns:a16="http://schemas.microsoft.com/office/drawing/2014/main" id="{F7F9E743-65C2-4155-9CE4-FE2FEB3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DD9"/>
            </a:solidFill>
            <a:prstDash val="solid"/>
          </a:ln>
        </p:spPr>
      </p:sp>
      <p:sp>
        <p:nvSpPr>
          <p:cNvPr id="25" name="s3-dot-Alcance">
            <a:extLst xmlns:a="http://schemas.openxmlformats.org/drawingml/2006/main">
              <a:ext uri="{FF2B5EF4-FFF2-40B4-BE49-F238E27FC236}">
                <a16:creationId xmlns:a16="http://schemas.microsoft.com/office/drawing/2014/main" id="{7D7CA238-0755-41CD-9656-14240313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dim-Alcance">
            <a:extLst xmlns:a="http://schemas.openxmlformats.org/drawingml/2006/main">
              <a:ext uri="{FF2B5EF4-FFF2-40B4-BE49-F238E27FC236}">
                <a16:creationId xmlns:a16="http://schemas.microsoft.com/office/drawing/2014/main" id="{AEAE6602-31B1-4FCB-802A-FE2F0D4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Alcance</a:t>
            </a:r>
          </a:p>
        </p:txBody>
      </p:sp>
      <p:sp>
        <p:nvSpPr>
          <p:cNvPr id="27" name="s3-copy-Alcance">
            <a:extLst xmlns:a="http://schemas.openxmlformats.org/drawingml/2006/main">
              <a:ext uri="{FF2B5EF4-FFF2-40B4-BE49-F238E27FC236}">
                <a16:creationId xmlns:a16="http://schemas.microsoft.com/office/drawing/2014/main" id="{1260F10A-0A91-4F9A-9206-AB1AC870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14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quanto mudou</a:t>
            </a:r>
          </a:p>
        </p:txBody>
      </p:sp>
      <p:sp>
        <p:nvSpPr>
          <p:cNvPr id="28" name="s3-dot-Precisão">
            <a:extLst xmlns:a="http://schemas.openxmlformats.org/drawingml/2006/main">
              <a:ext uri="{FF2B5EF4-FFF2-40B4-BE49-F238E27FC236}">
                <a16:creationId xmlns:a16="http://schemas.microsoft.com/office/drawing/2014/main" id="{69C8F8E9-0F4A-480A-8362-3ED219D5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7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3-dim-Precisão">
            <a:extLst xmlns:a="http://schemas.openxmlformats.org/drawingml/2006/main">
              <a:ext uri="{FF2B5EF4-FFF2-40B4-BE49-F238E27FC236}">
                <a16:creationId xmlns:a16="http://schemas.microsoft.com/office/drawing/2014/main" id="{7EBC5AD4-2C3D-4735-B47E-C30A9DFA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Precisão</a:t>
            </a:r>
          </a:p>
        </p:txBody>
      </p:sp>
      <p:sp>
        <p:nvSpPr>
          <p:cNvPr id="30" name="s3-copy-Precisão">
            <a:extLst xmlns:a="http://schemas.openxmlformats.org/drawingml/2006/main">
              <a:ext uri="{FF2B5EF4-FFF2-40B4-BE49-F238E27FC236}">
                <a16:creationId xmlns:a16="http://schemas.microsoft.com/office/drawing/2014/main" id="{57FB89F5-083E-484A-A900-009A3CC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na direção do estado</a:t>
            </a:r>
          </a:p>
        </p:txBody>
      </p:sp>
      <p:sp>
        <p:nvSpPr>
          <p:cNvPr id="31" name="s3-dot-Repetibilidade">
            <a:extLst xmlns:a="http://schemas.openxmlformats.org/drawingml/2006/main">
              <a:ext uri="{FF2B5EF4-FFF2-40B4-BE49-F238E27FC236}">
                <a16:creationId xmlns:a16="http://schemas.microsoft.com/office/drawing/2014/main" id="{04F23EB8-4FDF-4980-BFB9-C3D77A8D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3-dim-Repetibilidade">
            <a:extLst xmlns:a="http://schemas.openxmlformats.org/drawingml/2006/main">
              <a:ext uri="{FF2B5EF4-FFF2-40B4-BE49-F238E27FC236}">
                <a16:creationId xmlns:a16="http://schemas.microsoft.com/office/drawing/2014/main" id="{1A633A30-C871-4E31-9594-E819C48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447"/>
                </a:solidFill>
              </a:defRPr>
            </a:pPr>
            <a:r>
              <a:rPr sz="1725" b="1">
                <a:solidFill>
                  <a:srgbClr val="143447"/>
                </a:solidFill>
              </a:rPr>
              <a:t>Repetibilidade</a:t>
            </a:r>
          </a:p>
        </p:txBody>
      </p:sp>
      <p:sp>
        <p:nvSpPr>
          <p:cNvPr id="33" name="s3-copy-Repetibilidade">
            <a:extLst xmlns:a="http://schemas.openxmlformats.org/drawingml/2006/main">
              <a:ext uri="{FF2B5EF4-FFF2-40B4-BE49-F238E27FC236}">
                <a16:creationId xmlns:a16="http://schemas.microsoft.com/office/drawing/2014/main" id="{F6DB85EC-44E3-4800-A8C4-0F05D83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14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entre guias e doadores</a:t>
            </a:r>
          </a:p>
        </p:txBody>
      </p:sp>
      <p:sp>
        <p:nvSpPr>
          <p:cNvPr id="34" name="s3-boundary">
            <a:extLst xmlns:a="http://schemas.openxmlformats.org/drawingml/2006/main">
              <a:ext uri="{FF2B5EF4-FFF2-40B4-BE49-F238E27FC236}">
                <a16:creationId xmlns:a16="http://schemas.microsoft.com/office/drawing/2014/main" id="{0C3CF325-5E68-4FB9-BCDC-E414F61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906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772"/>
                </a:solidFill>
              </a:defRPr>
            </a:pPr>
            <a:r>
              <a:rPr sz="1500" b="1">
                <a:solidFill>
                  <a:srgbClr val="0B7772"/>
                </a:solidFill>
              </a:rPr>
              <a:t>O ISCI não pergunta apenas “houve efeito?”. Pergunta se o efeito organizou um estado biológico e se isso se repetiu.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AC52ADF-C56F-472F-A522-710C066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36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7F8D6EF4-243B-48EB-9EBD-CC43D79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37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9A07C982-D3AE-429A-9CDA-9628100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Método: docs/method.md • config/axes.yaml</a:t>
            </a:r>
          </a:p>
        </p:txBody>
      </p:sp>
      <p:sp>
        <p:nvSpPr>
          <p:cNvPr id="3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23C1160-73D7-4D82-A042-626C856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1480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C2FC89C7-41AC-45E8-9AF6-09EDEE65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RESULTADO PRINCIPAL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4A17055-8036-4F6C-8165-F6390CA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447"/>
                </a:solidFill>
              </a:defRPr>
            </a:pPr>
            <a:r>
              <a:rPr sz="2625" b="1">
                <a:solidFill>
                  <a:srgbClr val="143447"/>
                </a:solidFill>
              </a:rPr>
              <a:t>Direção + repetição adicionaram sinal além da magnitude.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481CA7B-5BAC-4E2A-8BA6-2FA7A5C2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4-central-frame">
            <a:extLst xmlns:a="http://schemas.openxmlformats.org/drawingml/2006/main">
              <a:ext uri="{FF2B5EF4-FFF2-40B4-BE49-F238E27FC236}">
                <a16:creationId xmlns:a16="http://schemas.microsoft.com/office/drawing/2014/main" id="{385A9879-B502-438A-AF15-CF342D3C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391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a037e451b41d5"/>
          <a:stretch xmlns:a="http://schemas.openxmlformats.org/drawingml/2006/main"/>
        </p:blipFill>
        <p:spPr>
          <a:xfrm xmlns:a="http://schemas.openxmlformats.org/drawingml/2006/main">
            <a:off x="609600" y="1873297"/>
            <a:ext cx="7239000" cy="3359056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6" name="s4-full-value">
            <a:extLst xmlns:a="http://schemas.openxmlformats.org/drawingml/2006/main">
              <a:ext uri="{FF2B5EF4-FFF2-40B4-BE49-F238E27FC236}">
                <a16:creationId xmlns:a16="http://schemas.microsoft.com/office/drawing/2014/main" id="{3F06D265-78FE-449D-8CB4-EB0097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772"/>
                </a:solidFill>
              </a:defRPr>
            </a:pPr>
            <a:r>
              <a:rPr sz="2550" b="1">
                <a:solidFill>
                  <a:srgbClr val="0B7772"/>
                </a:solidFill>
              </a:rPr>
              <a:t>+0,357</a:t>
            </a:r>
          </a:p>
        </p:txBody>
      </p:sp>
      <p:sp>
        <p:nvSpPr>
          <p:cNvPr id="7" name="s4-full-label">
            <a:extLst xmlns:a="http://schemas.openxmlformats.org/drawingml/2006/main">
              <a:ext uri="{FF2B5EF4-FFF2-40B4-BE49-F238E27FC236}">
                <a16:creationId xmlns:a16="http://schemas.microsoft.com/office/drawing/2014/main" id="{7137B999-E6C4-406C-9FC7-ED6F51FD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ganho AUPRC no teste primário M → M+C</a:t>
            </a:r>
          </a:p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IC95% +0,117 a +0,538</a:t>
            </a:r>
          </a:p>
        </p:txBody>
      </p:sp>
      <p:sp>
        <p:nvSpPr>
          <p:cNvPr id="8" name="s4-metric-rule-1">
            <a:extLst xmlns:a="http://schemas.openxmlformats.org/drawingml/2006/main">
              <a:ext uri="{FF2B5EF4-FFF2-40B4-BE49-F238E27FC236}">
                <a16:creationId xmlns:a16="http://schemas.microsoft.com/office/drawing/2014/main" id="{5FF88808-CD99-4A22-8A92-9CF169FA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956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s4-oof-value">
            <a:extLst xmlns:a="http://schemas.openxmlformats.org/drawingml/2006/main">
              <a:ext uri="{FF2B5EF4-FFF2-40B4-BE49-F238E27FC236}">
                <a16:creationId xmlns:a16="http://schemas.microsoft.com/office/drawing/2014/main" id="{9DDDCAC5-C66F-4567-A220-88310D7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4F63"/>
                </a:solidFill>
              </a:defRPr>
            </a:pPr>
            <a:r>
              <a:rPr sz="2550" b="1">
                <a:solidFill>
                  <a:srgbClr val="254F63"/>
                </a:solidFill>
              </a:rPr>
              <a:t>+0,215</a:t>
            </a:r>
          </a:p>
        </p:txBody>
      </p:sp>
      <p:sp>
        <p:nvSpPr>
          <p:cNvPr id="10" name="s4-oof-label">
            <a:extLst xmlns:a="http://schemas.openxmlformats.org/drawingml/2006/main">
              <a:ext uri="{FF2B5EF4-FFF2-40B4-BE49-F238E27FC236}">
                <a16:creationId xmlns:a16="http://schemas.microsoft.com/office/drawing/2014/main" id="{152A8483-5BAA-4A86-8045-EEA5FF5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ganho fora da amostra</a:t>
            </a:r>
          </a:p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IC95% +0,074 a +0,560 • p=0,010</a:t>
            </a:r>
          </a:p>
        </p:txBody>
      </p:sp>
      <p:sp>
        <p:nvSpPr>
          <p:cNvPr id="11" name="s4-metric-rule-2">
            <a:extLst xmlns:a="http://schemas.openxmlformats.org/drawingml/2006/main">
              <a:ext uri="{FF2B5EF4-FFF2-40B4-BE49-F238E27FC236}">
                <a16:creationId xmlns:a16="http://schemas.microsoft.com/office/drawing/2014/main" id="{7CD58265-D1F7-4A80-9B76-C7F9A92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2" name="s4-descriptive">
            <a:extLst xmlns:a="http://schemas.openxmlformats.org/drawingml/2006/main">
              <a:ext uri="{FF2B5EF4-FFF2-40B4-BE49-F238E27FC236}">
                <a16:creationId xmlns:a16="http://schemas.microsoft.com/office/drawing/2014/main" id="{A8E3D087-11E3-4C23-A270-4977146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A13B"/>
                </a:solidFill>
              </a:defRPr>
            </a:pPr>
            <a:r>
              <a:rPr sz="1575" b="1">
                <a:solidFill>
                  <a:srgbClr val="D6A13B"/>
                </a:solidFill>
              </a:rPr>
              <a:t>Leitura descritiva separada</a:t>
            </a:r>
          </a:p>
          <a:p xmlns:a="http://schemas.openxmlformats.org/drawingml/2006/main">
            <a:pPr algn="l">
              <a:defRPr sz="1575" b="1">
                <a:solidFill>
                  <a:srgbClr val="D6A13B"/>
                </a:solidFill>
              </a:defRPr>
            </a:pPr>
            <a:r>
              <a:rPr sz="1575" b="1">
                <a:solidFill>
                  <a:srgbClr val="D6A13B"/>
                </a:solidFill>
              </a:rPr>
              <a:t>AUPRC 0,415 → 0,722</a:t>
            </a:r>
          </a:p>
        </p:txBody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4E986A21-C950-4489-9242-D91057A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takeaway-copy">
            <a:extLst xmlns:a="http://schemas.openxmlformats.org/drawingml/2006/main">
              <a:ext uri="{FF2B5EF4-FFF2-40B4-BE49-F238E27FC236}">
                <a16:creationId xmlns:a16="http://schemas.microsoft.com/office/drawing/2014/main" id="{EC1BA8BD-C9E2-413F-BF78-CA1C1A3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447"/>
                </a:solidFill>
              </a:defRPr>
            </a:pPr>
            <a:r>
              <a:rPr sz="1425" b="1">
                <a:solidFill>
                  <a:srgbClr val="143447"/>
                </a:solidFill>
              </a:rPr>
              <a:t>Entre reguladores canônicos com efeito detectável, saber para onde a célula foi e se o efeito se repetiu melhorou a identificação do controlador.</a:t>
            </a:r>
          </a:p>
        </p:txBody>
      </p:sp>
      <p:sp>
        <p:nvSpPr>
          <p:cNvPr id="1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E56DDEB-4DC5-45CF-B759-978A0FFB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8B98E104-BFE7-4B0D-A97B-EEEEB08E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17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A7A0D360-50CA-4F96-A24A-35CD7D3F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result_lock.md • outputs/isci_oof_incremental.json</a:t>
            </a:r>
          </a:p>
        </p:txBody>
      </p:sp>
      <p:sp>
        <p:nvSpPr>
          <p:cNvPr id="18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4B6560C-BB95-4686-A554-F3ACF676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979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5C84D467-1714-40A9-89D1-515286B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TESTES QUE TENTARAM DERRUBAR O RESULTADO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1F622FC-4DC5-4560-9C3A-89EB306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O achado é real — e biologicamente estreito.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24A5893-591E-4B04-8FBA-36A1A02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5-stress-frame">
            <a:extLst xmlns:a="http://schemas.openxmlformats.org/drawingml/2006/main">
              <a:ext uri="{FF2B5EF4-FFF2-40B4-BE49-F238E27FC236}">
                <a16:creationId xmlns:a16="http://schemas.microsoft.com/office/drawing/2014/main" id="{91208666-4268-498A-BD67-02EF6E76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52959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468efe4154891"/>
          <a:stretch xmlns:a="http://schemas.openxmlformats.org/drawingml/2006/main"/>
        </p:blipFill>
        <p:spPr>
          <a:xfrm xmlns:a="http://schemas.openxmlformats.org/drawingml/2006/main">
            <a:off x="641216" y="1619250"/>
            <a:ext cx="5080269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6" name="s5-ablation-frame">
            <a:extLst xmlns:a="http://schemas.openxmlformats.org/drawingml/2006/main">
              <a:ext uri="{FF2B5EF4-FFF2-40B4-BE49-F238E27FC236}">
                <a16:creationId xmlns:a16="http://schemas.microsoft.com/office/drawing/2014/main" id="{05E08ADD-4675-4251-A857-2D28AA8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52959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88649db7e4879"/>
          <a:stretch xmlns:a="http://schemas.openxmlformats.org/drawingml/2006/main"/>
        </p:blipFill>
        <p:spPr>
          <a:xfrm xmlns:a="http://schemas.openxmlformats.org/drawingml/2006/main">
            <a:off x="6438900" y="2115225"/>
            <a:ext cx="5143500" cy="222750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8" name="s5-fail-left">
            <a:extLst xmlns:a="http://schemas.openxmlformats.org/drawingml/2006/main">
              <a:ext uri="{FF2B5EF4-FFF2-40B4-BE49-F238E27FC236}">
                <a16:creationId xmlns:a16="http://schemas.microsoft.com/office/drawing/2014/main" id="{3889BBB7-53BB-4F8A-A4A9-21D8163D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143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5-fail-left-copy">
            <a:extLst xmlns:a="http://schemas.openxmlformats.org/drawingml/2006/main">
              <a:ext uri="{FF2B5EF4-FFF2-40B4-BE49-F238E27FC236}">
                <a16:creationId xmlns:a16="http://schemas.microsoft.com/office/drawing/2014/main" id="{23C713DF-C752-439B-B834-1E18739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5B49"/>
                </a:solidFill>
              </a:defRPr>
            </a:pPr>
            <a:r>
              <a:rPr sz="1650" b="1">
                <a:solidFill>
                  <a:srgbClr val="D85B49"/>
                </a:solidFill>
              </a:rPr>
              <a:t>Conjunto funcional externo: FAIL</a:t>
            </a:r>
          </a:p>
          <a:p xmlns:a="http://schemas.openxmlformats.org/drawingml/2006/main">
            <a:pPr algn="ctr">
              <a:defRPr sz="1650" b="1">
                <a:solidFill>
                  <a:srgbClr val="D85B49"/>
                </a:solidFill>
              </a:defRPr>
            </a:pPr>
            <a:r>
              <a:rPr sz="1650" b="1">
                <a:solidFill>
                  <a:srgbClr val="D85B49"/>
                </a:solidFill>
              </a:rPr>
              <a:t>ΔAUPRC −0,281 [−0,476; −0,073]</a:t>
            </a:r>
          </a:p>
        </p:txBody>
      </p:sp>
      <p:sp>
        <p:nvSpPr>
          <p:cNvPr id="10" name="s5-fail-right">
            <a:extLst xmlns:a="http://schemas.openxmlformats.org/drawingml/2006/main">
              <a:ext uri="{FF2B5EF4-FFF2-40B4-BE49-F238E27FC236}">
                <a16:creationId xmlns:a16="http://schemas.microsoft.com/office/drawing/2014/main" id="{C4143F54-2DB5-4537-957E-728CD148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5143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5E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fail-right-copy">
            <a:extLst xmlns:a="http://schemas.openxmlformats.org/drawingml/2006/main">
              <a:ext uri="{FF2B5EF4-FFF2-40B4-BE49-F238E27FC236}">
                <a16:creationId xmlns:a16="http://schemas.microsoft.com/office/drawing/2014/main" id="{3A12F533-769C-4D39-80FB-CA4AD885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3447"/>
                </a:solidFill>
              </a:defRPr>
            </a:pPr>
            <a:r>
              <a:rPr sz="1575" b="1">
                <a:solidFill>
                  <a:srgbClr val="143447"/>
                </a:solidFill>
              </a:rPr>
              <a:t>Sem GATA3, TBX21, STAT6 e IRF1</a:t>
            </a:r>
          </a:p>
          <a:p xmlns:a="http://schemas.openxmlformats.org/drawingml/2006/main">
            <a:pPr algn="ctr">
              <a:defRPr sz="1575" b="1">
                <a:solidFill>
                  <a:srgbClr val="143447"/>
                </a:solidFill>
              </a:defRPr>
            </a:pPr>
            <a:r>
              <a:rPr sz="1575" b="1">
                <a:solidFill>
                  <a:srgbClr val="143447"/>
                </a:solidFill>
              </a:rPr>
              <a:t>o ganho cai para próximo de zero; n=9</a:t>
            </a:r>
          </a:p>
        </p:txBody>
      </p:sp>
      <p:sp>
        <p:nvSpPr>
          <p:cNvPr id="12" name="s5-conclusion">
            <a:extLst xmlns:a="http://schemas.openxmlformats.org/drawingml/2006/main">
              <a:ext uri="{FF2B5EF4-FFF2-40B4-BE49-F238E27FC236}">
                <a16:creationId xmlns:a16="http://schemas.microsoft.com/office/drawing/2014/main" id="{32B7475C-EA59-47B7-A10E-53B14B2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772"/>
                </a:solidFill>
              </a:defRPr>
            </a:pPr>
            <a:r>
              <a:rPr sz="1350" b="1">
                <a:solidFill>
                  <a:srgbClr val="0B7772"/>
                </a:solidFill>
              </a:rPr>
              <a:t>Conclusão: o sinal caracteriza reguladores que definem o eixo de identidade T — não qualquer regulador funcional.</a:t>
            </a:r>
          </a:p>
        </p:txBody>
      </p:sp>
      <p:sp>
        <p:nvSpPr>
          <p:cNvPr id="1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EC882F6-5F8C-4B9B-9A94-1B17F82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46BB4526-CDA7-457E-9581-C7E29AE1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1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6B73371C-211D-4CE2-BD21-0439050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outputs/positive_set_stress_test.json • robustness_*ablation.json</a:t>
            </a:r>
          </a:p>
        </p:txBody>
      </p:sp>
      <p:sp>
        <p:nvSpPr>
          <p:cNvPr id="1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1987436-718A-47FC-80F7-FCA2143E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99393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90AF2BB3-6111-4F9F-A162-DFE590D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FRONTEIRA ENTRE SISTEMAS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9305398-CB26-4FBB-840D-A3713569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A propriedade não é universal; é imune-contextual.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0A6731C5-79FB-4FD3-88FD-FF18B4A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6-scope-frame">
            <a:extLst xmlns:a="http://schemas.openxmlformats.org/drawingml/2006/main">
              <a:ext uri="{FF2B5EF4-FFF2-40B4-BE49-F238E27FC236}">
                <a16:creationId xmlns:a16="http://schemas.microsoft.com/office/drawing/2014/main" id="{C6194895-85E1-4068-89D8-BC97941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858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3fb4528be4532"/>
          <a:stretch xmlns:a="http://schemas.openxmlformats.org/drawingml/2006/main"/>
        </p:blipFill>
        <p:spPr>
          <a:xfrm xmlns:a="http://schemas.openxmlformats.org/drawingml/2006/main">
            <a:off x="740335" y="1581150"/>
            <a:ext cx="6444129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s6-pass">
            <a:extLst xmlns:a="http://schemas.openxmlformats.org/drawingml/2006/main">
              <a:ext uri="{FF2B5EF4-FFF2-40B4-BE49-F238E27FC236}">
                <a16:creationId xmlns:a16="http://schemas.microsoft.com/office/drawing/2014/main" id="{1D752ABD-F76F-49DE-A00C-EFF6CE55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772"/>
                </a:solidFill>
              </a:defRPr>
            </a:pPr>
            <a:r>
              <a:rPr sz="1800" b="1">
                <a:solidFill>
                  <a:srgbClr val="0B7772"/>
                </a:solidFill>
              </a:rPr>
              <a:t>Marson CD4+</a:t>
            </a:r>
          </a:p>
        </p:txBody>
      </p:sp>
      <p:sp>
        <p:nvSpPr>
          <p:cNvPr id="7" name="s6-pass-copy">
            <a:extLst xmlns:a="http://schemas.openxmlformats.org/drawingml/2006/main">
              <a:ext uri="{FF2B5EF4-FFF2-40B4-BE49-F238E27FC236}">
                <a16:creationId xmlns:a16="http://schemas.microsoft.com/office/drawing/2014/main" id="{AF781768-D93A-4A4B-AC74-16372D1F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D"/>
                </a:solidFill>
              </a:defRPr>
            </a:pPr>
            <a:r>
              <a:rPr sz="1500" b="0">
                <a:solidFill>
                  <a:srgbClr val="17313D"/>
                </a:solidFill>
              </a:rPr>
              <a:t>PASS  +0,229</a:t>
            </a:r>
          </a:p>
          <a:p xmlns:a="http://schemas.openxmlformats.org/drawingml/2006/main">
            <a:pPr algn="l">
              <a:defRPr sz="1500" b="0">
                <a:solidFill>
                  <a:srgbClr val="17313D"/>
                </a:solidFill>
              </a:defRPr>
            </a:pPr>
            <a:r>
              <a:rPr sz="1500" b="0">
                <a:solidFill>
                  <a:srgbClr val="17313D"/>
                </a:solidFill>
              </a:rPr>
              <a:t>IC95% +0,072 a +0,405</a:t>
            </a:r>
          </a:p>
        </p:txBody>
      </p:sp>
      <p:sp>
        <p:nvSpPr>
          <p:cNvPr id="8" name="s6-rule-1">
            <a:extLst xmlns:a="http://schemas.openxmlformats.org/drawingml/2006/main">
              <a:ext uri="{FF2B5EF4-FFF2-40B4-BE49-F238E27FC236}">
                <a16:creationId xmlns:a16="http://schemas.microsoft.com/office/drawing/2014/main" id="{DF617FE5-2F32-4FBC-BD95-01D9645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s6-near">
            <a:extLst xmlns:a="http://schemas.openxmlformats.org/drawingml/2006/main">
              <a:ext uri="{FF2B5EF4-FFF2-40B4-BE49-F238E27FC236}">
                <a16:creationId xmlns:a16="http://schemas.microsoft.com/office/drawing/2014/main" id="{6D37257C-3A85-4E34-AC16-3DC50A2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13B"/>
                </a:solidFill>
              </a:defRPr>
            </a:pPr>
            <a:r>
              <a:rPr sz="1650" b="1">
                <a:solidFill>
                  <a:srgbClr val="D6A13B"/>
                </a:solidFill>
              </a:rPr>
              <a:t>Schmidt CD4+ / THP-1</a:t>
            </a:r>
          </a:p>
        </p:txBody>
      </p:sp>
      <p:sp>
        <p:nvSpPr>
          <p:cNvPr id="10" name="s6-near-copy">
            <a:extLst xmlns:a="http://schemas.openxmlformats.org/drawingml/2006/main">
              <a:ext uri="{FF2B5EF4-FFF2-40B4-BE49-F238E27FC236}">
                <a16:creationId xmlns:a16="http://schemas.microsoft.com/office/drawing/2014/main" id="{F25D4E86-F797-45BD-BFBF-64B9B940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Sinal na mesma direção, mas intervalos incluem zero.</a:t>
            </a:r>
          </a:p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Near-miss não é PASS.</a:t>
            </a:r>
          </a:p>
        </p:txBody>
      </p:sp>
      <p:sp>
        <p:nvSpPr>
          <p:cNvPr id="11" name="s6-rule-2">
            <a:extLst xmlns:a="http://schemas.openxmlformats.org/drawingml/2006/main">
              <a:ext uri="{FF2B5EF4-FFF2-40B4-BE49-F238E27FC236}">
                <a16:creationId xmlns:a16="http://schemas.microsoft.com/office/drawing/2014/main" id="{718E8E0D-B1BD-4426-972B-EED681A4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2" name="s6-fail">
            <a:extLst xmlns:a="http://schemas.openxmlformats.org/drawingml/2006/main">
              <a:ext uri="{FF2B5EF4-FFF2-40B4-BE49-F238E27FC236}">
                <a16:creationId xmlns:a16="http://schemas.microsoft.com/office/drawing/2014/main" id="{C678476A-8354-4FA6-8E20-D802A8EE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5B49"/>
                </a:solidFill>
              </a:defRPr>
            </a:pPr>
            <a:r>
              <a:rPr sz="1650" b="1">
                <a:solidFill>
                  <a:srgbClr val="D85B49"/>
                </a:solidFill>
              </a:rPr>
              <a:t>K562 e RPE1</a:t>
            </a:r>
          </a:p>
        </p:txBody>
      </p:sp>
      <p:sp>
        <p:nvSpPr>
          <p:cNvPr id="13" name="s6-fail-copy">
            <a:extLst xmlns:a="http://schemas.openxmlformats.org/drawingml/2006/main">
              <a:ext uri="{FF2B5EF4-FFF2-40B4-BE49-F238E27FC236}">
                <a16:creationId xmlns:a16="http://schemas.microsoft.com/office/drawing/2014/main" id="{C5530054-C5D6-4FFE-9F5F-1BB4028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Falham nos gates primários em sistemas não imunes.</a:t>
            </a:r>
          </a:p>
        </p:txBody>
      </p:sp>
      <p:sp>
        <p:nvSpPr>
          <p:cNvPr id="14" name="s6-boundary">
            <a:extLst xmlns:a="http://schemas.openxmlformats.org/drawingml/2006/main">
              <a:ext uri="{FF2B5EF4-FFF2-40B4-BE49-F238E27FC236}">
                <a16:creationId xmlns:a16="http://schemas.microsoft.com/office/drawing/2014/main" id="{36BD6C81-D503-4EFB-A758-C44FBFC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3581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6-boundary-copy">
            <a:extLst xmlns:a="http://schemas.openxmlformats.org/drawingml/2006/main">
              <a:ext uri="{FF2B5EF4-FFF2-40B4-BE49-F238E27FC236}">
                <a16:creationId xmlns:a16="http://schemas.microsoft.com/office/drawing/2014/main" id="{031EFF30-915A-48EF-91B9-0403D4AA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fronteira também é resultado.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Não usamos a palavra “invariante”.</a:t>
            </a:r>
          </a:p>
        </p:txBody>
      </p:sp>
      <p:sp>
        <p:nvSpPr>
          <p:cNvPr id="1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D4DFD4CA-C4DF-40E4-ABC9-DF644A7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7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E0CBC836-4221-49BB-867A-72CEFD05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18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88F61BC2-FFD2-4CD5-971E-3F4EAD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figures/cci_scope_4systems.png • CLAIM_LEDGER #2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69DFD47-21CC-48B3-B7D8-923B836C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6950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A5BCA171-6D54-496E-967E-D53C5FBF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LIMITES DE TRADUÇÃO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E0EDEFF-2B4C-457B-B09E-0D628148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447"/>
                </a:solidFill>
              </a:defRPr>
            </a:pPr>
            <a:r>
              <a:rPr sz="2625" b="1">
                <a:solidFill>
                  <a:srgbClr val="143447"/>
                </a:solidFill>
              </a:rPr>
              <a:t>Controlar estado ≠ alvo terapêutico ≠ biomarcador clínico.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099F66CC-35EC-4E5B-9785-02D8D5E0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5B49"/>
            </a:solidFill>
            <a:prstDash val="solid"/>
          </a:ln>
        </p:spPr>
      </p:sp>
      <p:sp>
        <p:nvSpPr>
          <p:cNvPr id="4" name="s7-convergence-frame">
            <a:extLst xmlns:a="http://schemas.openxmlformats.org/drawingml/2006/main">
              <a:ext uri="{FF2B5EF4-FFF2-40B4-BE49-F238E27FC236}">
                <a16:creationId xmlns:a16="http://schemas.microsoft.com/office/drawing/2014/main" id="{A11A8314-5C2F-42FC-95B6-24589A6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76250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99ea942954127"/>
          <a:stretch xmlns:a="http://schemas.openxmlformats.org/drawingml/2006/main"/>
        </p:blipFill>
        <p:spPr>
          <a:xfrm xmlns:a="http://schemas.openxmlformats.org/drawingml/2006/main">
            <a:off x="609600" y="1654456"/>
            <a:ext cx="4610100" cy="3682439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6" name="s7-clinical-frame">
            <a:extLst xmlns:a="http://schemas.openxmlformats.org/drawingml/2006/main">
              <a:ext uri="{FF2B5EF4-FFF2-40B4-BE49-F238E27FC236}">
                <a16:creationId xmlns:a16="http://schemas.microsoft.com/office/drawing/2014/main" id="{B24D6BBD-CEC1-4C67-B371-14BDA6B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4950"/>
            <a:ext cx="5715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253f84b934768"/>
          <a:stretch xmlns:a="http://schemas.openxmlformats.org/drawingml/2006/main"/>
        </p:blipFill>
        <p:spPr>
          <a:xfrm xmlns:a="http://schemas.openxmlformats.org/drawingml/2006/main">
            <a:off x="6019800" y="1917691"/>
            <a:ext cx="5562600" cy="2203468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  <p:sp>
        <p:nvSpPr>
          <p:cNvPr id="8" name="s7-left-callout">
            <a:extLst xmlns:a="http://schemas.openxmlformats.org/drawingml/2006/main">
              <a:ext uri="{FF2B5EF4-FFF2-40B4-BE49-F238E27FC236}">
                <a16:creationId xmlns:a16="http://schemas.microsoft.com/office/drawing/2014/main" id="{28F4A68C-C892-4EDB-A034-C22D974A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610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A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left-copy">
            <a:extLst xmlns:a="http://schemas.openxmlformats.org/drawingml/2006/main">
              <a:ext uri="{FF2B5EF4-FFF2-40B4-BE49-F238E27FC236}">
                <a16:creationId xmlns:a16="http://schemas.microsoft.com/office/drawing/2014/main" id="{7CEC4D7A-43B5-4111-A373-5B879250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447"/>
                </a:solidFill>
              </a:defRPr>
            </a:pPr>
            <a:r>
              <a:rPr sz="1425" b="1">
                <a:solidFill>
                  <a:srgbClr val="143447"/>
                </a:solidFill>
              </a:rPr>
              <a:t>IRF1 é o controlador #1, mas aponta</a:t>
            </a:r>
          </a:p>
          <a:p xmlns:a="http://schemas.openxmlformats.org/drawingml/2006/main">
            <a:pPr algn="ctr">
              <a:defRPr sz="1425" b="1">
                <a:solidFill>
                  <a:srgbClr val="143447"/>
                </a:solidFill>
              </a:defRPr>
            </a:pPr>
            <a:r>
              <a:rPr sz="1425" b="1">
                <a:solidFill>
                  <a:srgbClr val="143447"/>
                </a:solidFill>
              </a:rPr>
              <a:t>para uma direção terapêutica desfavorável.</a:t>
            </a:r>
          </a:p>
        </p:txBody>
      </p:sp>
      <p:sp>
        <p:nvSpPr>
          <p:cNvPr id="10" name="s7-null">
            <a:extLst xmlns:a="http://schemas.openxmlformats.org/drawingml/2006/main">
              <a:ext uri="{FF2B5EF4-FFF2-40B4-BE49-F238E27FC236}">
                <a16:creationId xmlns:a16="http://schemas.microsoft.com/office/drawing/2014/main" id="{30152C60-C125-4AF2-A8F9-DFBDA2BE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86300"/>
            <a:ext cx="55626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null-title">
            <a:extLst xmlns:a="http://schemas.openxmlformats.org/drawingml/2006/main">
              <a:ext uri="{FF2B5EF4-FFF2-40B4-BE49-F238E27FC236}">
                <a16:creationId xmlns:a16="http://schemas.microsoft.com/office/drawing/2014/main" id="{B8133611-F847-4832-952E-58753A6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5B49"/>
                </a:solidFill>
              </a:defRPr>
            </a:pPr>
            <a:r>
              <a:rPr sz="2025" b="1">
                <a:solidFill>
                  <a:srgbClr val="D85B49"/>
                </a:solidFill>
              </a:rPr>
              <a:t>CAR-T: NULL</a:t>
            </a:r>
          </a:p>
        </p:txBody>
      </p:sp>
      <p:sp>
        <p:nvSpPr>
          <p:cNvPr id="12" name="s7-null-metric">
            <a:extLst xmlns:a="http://schemas.openxmlformats.org/drawingml/2006/main">
              <a:ext uri="{FF2B5EF4-FFF2-40B4-BE49-F238E27FC236}">
                <a16:creationId xmlns:a16="http://schemas.microsoft.com/office/drawing/2014/main" id="{04F23D93-A5E1-41FB-8E16-6F06D08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447"/>
                </a:solidFill>
              </a:defRPr>
            </a:pPr>
            <a:r>
              <a:rPr sz="1575" b="1">
                <a:solidFill>
                  <a:srgbClr val="143447"/>
                </a:solidFill>
              </a:rPr>
              <a:t>AUROC estudo-out 0,533</a:t>
            </a:r>
          </a:p>
          <a:p xmlns:a="http://schemas.openxmlformats.org/drawingml/2006/main">
            <a:pPr algn="l">
              <a:defRPr sz="1575" b="1">
                <a:solidFill>
                  <a:srgbClr val="143447"/>
                </a:solidFill>
              </a:defRPr>
            </a:pPr>
            <a:r>
              <a:rPr sz="1575" b="1">
                <a:solidFill>
                  <a:srgbClr val="143447"/>
                </a:solidFill>
              </a:rPr>
              <a:t>Baseline CD8 0,585</a:t>
            </a:r>
          </a:p>
        </p:txBody>
      </p:sp>
      <p:sp>
        <p:nvSpPr>
          <p:cNvPr id="13" name="s7-null-context">
            <a:extLst xmlns:a="http://schemas.openxmlformats.org/drawingml/2006/main">
              <a:ext uri="{FF2B5EF4-FFF2-40B4-BE49-F238E27FC236}">
                <a16:creationId xmlns:a16="http://schemas.microsoft.com/office/drawing/2014/main" id="{C3E21297-78B8-4E23-8AAE-4CF37DE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87 pacientes • 9 estudos</a:t>
            </a:r>
          </a:p>
          <a:p xmlns:a="http://schemas.openxmlformats.org/drawingml/2006/main">
            <a:pPr algn="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Nenhum biomarcador validado.</a:t>
            </a:r>
          </a:p>
        </p:txBody>
      </p:sp>
      <p:sp>
        <p:nvSpPr>
          <p:cNvPr id="1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963698C6-AE4B-422E-AE4E-6472F2D0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81E68691-F3CB-4AEA-9B6D-9EEEC5C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16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0274F0D4-06D0-4E55-BD54-90170B1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controller_convergence_quadrant.png • iec_clinical/verdict.json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8B42D89-5774-49EF-A6AB-0E88696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4391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4ED1F267-09CA-4910-BEC3-73A18A3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A INOVAÇÃO É O JULGAMENTO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526C377-8703-4553-BBAE-EBD67E8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O produto também sabe parar.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E5012354-897B-4C75-85F0-FC1F063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8-verdict-map-frame">
            <a:extLst xmlns:a="http://schemas.openxmlformats.org/drawingml/2006/main">
              <a:ext uri="{FF2B5EF4-FFF2-40B4-BE49-F238E27FC236}">
                <a16:creationId xmlns:a16="http://schemas.microsoft.com/office/drawing/2014/main" id="{94C59EE5-F113-4858-81B6-C844A0FE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1056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b84cf57954c17"/>
          <a:stretch xmlns:a="http://schemas.openxmlformats.org/drawingml/2006/main"/>
        </p:blipFill>
        <p:spPr>
          <a:xfrm xmlns:a="http://schemas.openxmlformats.org/drawingml/2006/main">
            <a:off x="609600" y="1707596"/>
            <a:ext cx="6953250" cy="3690458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6" name="s8-bar-PASS">
            <a:extLst xmlns:a="http://schemas.openxmlformats.org/drawingml/2006/main">
              <a:ext uri="{FF2B5EF4-FFF2-40B4-BE49-F238E27FC236}">
                <a16:creationId xmlns:a16="http://schemas.microsoft.com/office/drawing/2014/main" id="{E0ABF019-3898-45F8-BC7D-BCBCE361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7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8-label-PASS">
            <a:extLst xmlns:a="http://schemas.openxmlformats.org/drawingml/2006/main">
              <a:ext uri="{FF2B5EF4-FFF2-40B4-BE49-F238E27FC236}">
                <a16:creationId xmlns:a16="http://schemas.microsoft.com/office/drawing/2014/main" id="{3799EEF0-ACAE-46F2-A2F2-7777BC6F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772"/>
                </a:solidFill>
              </a:defRPr>
            </a:pPr>
            <a:r>
              <a:rPr sz="1725" b="1">
                <a:solidFill>
                  <a:srgbClr val="0B7772"/>
                </a:solidFill>
              </a:rPr>
              <a:t>PASS</a:t>
            </a:r>
          </a:p>
        </p:txBody>
      </p:sp>
      <p:sp>
        <p:nvSpPr>
          <p:cNvPr id="8" name="s8-copy-PASS">
            <a:extLst xmlns:a="http://schemas.openxmlformats.org/drawingml/2006/main">
              <a:ext uri="{FF2B5EF4-FFF2-40B4-BE49-F238E27FC236}">
                <a16:creationId xmlns:a16="http://schemas.microsoft.com/office/drawing/2014/main" id="{B2C66EB2-14E7-4BDF-80B4-80BE8130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gates definidos foram satisfeitos</a:t>
            </a:r>
          </a:p>
        </p:txBody>
      </p:sp>
      <p:sp>
        <p:nvSpPr>
          <p:cNvPr id="9" name="s8-bar-FAIL">
            <a:extLst xmlns:a="http://schemas.openxmlformats.org/drawingml/2006/main">
              <a:ext uri="{FF2B5EF4-FFF2-40B4-BE49-F238E27FC236}">
                <a16:creationId xmlns:a16="http://schemas.microsoft.com/office/drawing/2014/main" id="{C6EAB4BD-A5AF-4EE5-AE78-C018AA6E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label-FAIL">
            <a:extLst xmlns:a="http://schemas.openxmlformats.org/drawingml/2006/main">
              <a:ext uri="{FF2B5EF4-FFF2-40B4-BE49-F238E27FC236}">
                <a16:creationId xmlns:a16="http://schemas.microsoft.com/office/drawing/2014/main" id="{D7ECE099-7ADF-4D9E-9CEB-C602308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5B49"/>
                </a:solidFill>
              </a:defRPr>
            </a:pPr>
            <a:r>
              <a:rPr sz="1725" b="1">
                <a:solidFill>
                  <a:srgbClr val="D85B49"/>
                </a:solidFill>
              </a:rPr>
              <a:t>FAIL</a:t>
            </a:r>
          </a:p>
        </p:txBody>
      </p:sp>
      <p:sp>
        <p:nvSpPr>
          <p:cNvPr id="11" name="s8-copy-FAIL">
            <a:extLst xmlns:a="http://schemas.openxmlformats.org/drawingml/2006/main">
              <a:ext uri="{FF2B5EF4-FFF2-40B4-BE49-F238E27FC236}">
                <a16:creationId xmlns:a16="http://schemas.microsoft.com/office/drawing/2014/main" id="{B02E470F-99B8-410E-B8C3-61638B88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a hipótese era testável e falhou</a:t>
            </a:r>
          </a:p>
        </p:txBody>
      </p:sp>
      <p:sp>
        <p:nvSpPr>
          <p:cNvPr id="12" name="s8-bar-NULL">
            <a:extLst xmlns:a="http://schemas.openxmlformats.org/drawingml/2006/main">
              <a:ext uri="{FF2B5EF4-FFF2-40B4-BE49-F238E27FC236}">
                <a16:creationId xmlns:a16="http://schemas.microsoft.com/office/drawing/2014/main" id="{AA531947-5D76-4E54-948A-DF5C2CB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D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8-label-NULL">
            <a:extLst xmlns:a="http://schemas.openxmlformats.org/drawingml/2006/main">
              <a:ext uri="{FF2B5EF4-FFF2-40B4-BE49-F238E27FC236}">
                <a16:creationId xmlns:a16="http://schemas.microsoft.com/office/drawing/2014/main" id="{904B1E6E-2E0D-43B1-AC1A-6173946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7D88"/>
                </a:solidFill>
              </a:defRPr>
            </a:pPr>
            <a:r>
              <a:rPr sz="1725" b="1">
                <a:solidFill>
                  <a:srgbClr val="6D7D88"/>
                </a:solidFill>
              </a:rPr>
              <a:t>NULL</a:t>
            </a:r>
          </a:p>
        </p:txBody>
      </p:sp>
      <p:sp>
        <p:nvSpPr>
          <p:cNvPr id="14" name="s8-copy-NULL">
            <a:extLst xmlns:a="http://schemas.openxmlformats.org/drawingml/2006/main">
              <a:ext uri="{FF2B5EF4-FFF2-40B4-BE49-F238E27FC236}">
                <a16:creationId xmlns:a16="http://schemas.microsoft.com/office/drawing/2014/main" id="{FA178F01-9706-4C12-A1D5-C23F33C5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não apareceu sinal incremental</a:t>
            </a:r>
          </a:p>
        </p:txBody>
      </p:sp>
      <p:sp>
        <p:nvSpPr>
          <p:cNvPr id="15" name="s8-bar-NÃO AVALIÁVEL">
            <a:extLst xmlns:a="http://schemas.openxmlformats.org/drawingml/2006/main">
              <a:ext uri="{FF2B5EF4-FFF2-40B4-BE49-F238E27FC236}">
                <a16:creationId xmlns:a16="http://schemas.microsoft.com/office/drawing/2014/main" id="{2E7D5427-8808-42C5-910D-BD52963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8-label-NÃO AVALIÁVEL">
            <a:extLst xmlns:a="http://schemas.openxmlformats.org/drawingml/2006/main">
              <a:ext uri="{FF2B5EF4-FFF2-40B4-BE49-F238E27FC236}">
                <a16:creationId xmlns:a16="http://schemas.microsoft.com/office/drawing/2014/main" id="{A2F5197B-D2C9-4BEA-A4E5-3CE15B4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13B"/>
                </a:solidFill>
              </a:defRPr>
            </a:pPr>
            <a:r>
              <a:rPr sz="1425" b="1">
                <a:solidFill>
                  <a:srgbClr val="D6A13B"/>
                </a:solidFill>
              </a:rPr>
              <a:t>NÃO AVALIÁVEL</a:t>
            </a:r>
          </a:p>
        </p:txBody>
      </p:sp>
      <p:sp>
        <p:nvSpPr>
          <p:cNvPr id="17" name="s8-copy-NÃO AVALIÁVEL">
            <a:extLst xmlns:a="http://schemas.openxmlformats.org/drawingml/2006/main">
              <a:ext uri="{FF2B5EF4-FFF2-40B4-BE49-F238E27FC236}">
                <a16:creationId xmlns:a16="http://schemas.microsoft.com/office/drawing/2014/main" id="{A469A949-06F3-497A-9276-C19C79D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faltou uma condição essencial</a:t>
            </a:r>
          </a:p>
        </p:txBody>
      </p:sp>
      <p:sp>
        <p:nvSpPr>
          <p:cNvPr id="18" name="s8-close">
            <a:extLst xmlns:a="http://schemas.openxmlformats.org/drawingml/2006/main">
              <a:ext uri="{FF2B5EF4-FFF2-40B4-BE49-F238E27FC236}">
                <a16:creationId xmlns:a16="http://schemas.microsoft.com/office/drawing/2014/main" id="{B69624D0-5094-465E-ACE9-89B58C8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66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8-close-copy">
            <a:extLst xmlns:a="http://schemas.openxmlformats.org/drawingml/2006/main">
              <a:ext uri="{FF2B5EF4-FFF2-40B4-BE49-F238E27FC236}">
                <a16:creationId xmlns:a16="http://schemas.microsoft.com/office/drawing/2014/main" id="{B9B0EF2D-2425-48E5-9CCD-C27D5674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Ciência forte não maximiza resultados positivos: torna cada conclusão — inclusive a abstinência — rastreável e falsificável.</a:t>
            </a:r>
          </a:p>
        </p:txBody>
      </p:sp>
      <p:sp>
        <p:nvSpPr>
          <p:cNvPr id="2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64558188-2F08-4C4C-A213-3F18904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21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9BCA0234-7677-442A-B057-76141736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22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13F779E2-C9D8-49B7-BAA2-EF20284A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outputs/hackathon/claim_manifest.json • layer_verdict_map.png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F54DE91-C35F-40CB-9C57-4C1518EE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7889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07C76842-E8C9-45FC-AFCF-F6BF660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APÊNDICE • PONTE GLADSTONE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1472DC2-8C19-4072-8643-D039CFB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Um experimento que pode falsificar a hipótese.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D898609F-2090-457D-992E-4A1DD4C8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9-iec-map-frame">
            <a:extLst xmlns:a="http://schemas.openxmlformats.org/drawingml/2006/main">
              <a:ext uri="{FF2B5EF4-FFF2-40B4-BE49-F238E27FC236}">
                <a16:creationId xmlns:a16="http://schemas.microsoft.com/office/drawing/2014/main" id="{906A6484-53DA-4F61-9160-17DD13F9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49149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5e136a604e79"/>
          <a:stretch xmlns:a="http://schemas.openxmlformats.org/drawingml/2006/main"/>
        </p:blipFill>
        <p:spPr>
          <a:xfrm xmlns:a="http://schemas.openxmlformats.org/drawingml/2006/main">
            <a:off x="609600" y="1572360"/>
            <a:ext cx="4762500" cy="445623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s9-panel-title">
            <a:extLst xmlns:a="http://schemas.openxmlformats.org/drawingml/2006/main">
              <a:ext uri="{FF2B5EF4-FFF2-40B4-BE49-F238E27FC236}">
                <a16:creationId xmlns:a16="http://schemas.microsoft.com/office/drawing/2014/main" id="{5BDC74AB-17B0-44B8-9BD0-7A1BE60B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447"/>
                </a:solidFill>
              </a:defRPr>
            </a:pPr>
            <a:r>
              <a:rPr sz="2100" b="1">
                <a:solidFill>
                  <a:srgbClr val="143447"/>
                </a:solidFill>
              </a:rPr>
              <a:t>Painel prospectivo congelado</a:t>
            </a:r>
          </a:p>
        </p:txBody>
      </p:sp>
      <p:sp>
        <p:nvSpPr>
          <p:cNvPr id="7" name="s9-genes-value">
            <a:extLst xmlns:a="http://schemas.openxmlformats.org/drawingml/2006/main">
              <a:ext uri="{FF2B5EF4-FFF2-40B4-BE49-F238E27FC236}">
                <a16:creationId xmlns:a16="http://schemas.microsoft.com/office/drawing/2014/main" id="{98492754-9FFC-4713-A3B6-A2D4DC2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050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772"/>
                </a:solidFill>
              </a:defRPr>
            </a:pPr>
            <a:r>
              <a:rPr sz="2550" b="1">
                <a:solidFill>
                  <a:srgbClr val="0B7772"/>
                </a:solidFill>
              </a:rPr>
              <a:t>25</a:t>
            </a:r>
          </a:p>
        </p:txBody>
      </p:sp>
      <p:sp>
        <p:nvSpPr>
          <p:cNvPr id="8" name="s9-genes-label">
            <a:extLst xmlns:a="http://schemas.openxmlformats.org/drawingml/2006/main">
              <a:ext uri="{FF2B5EF4-FFF2-40B4-BE49-F238E27FC236}">
                <a16:creationId xmlns:a16="http://schemas.microsoft.com/office/drawing/2014/main" id="{7009EDF5-7EA6-476A-872D-458F388E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genes-alvo</a:t>
            </a:r>
          </a:p>
        </p:txBody>
      </p:sp>
      <p:sp>
        <p:nvSpPr>
          <p:cNvPr id="9" name="s9-guides-value">
            <a:extLst xmlns:a="http://schemas.openxmlformats.org/drawingml/2006/main">
              <a:ext uri="{FF2B5EF4-FFF2-40B4-BE49-F238E27FC236}">
                <a16:creationId xmlns:a16="http://schemas.microsoft.com/office/drawing/2014/main" id="{97B9A0D1-765E-4BFF-82B4-719FF01F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050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4F63"/>
                </a:solidFill>
              </a:defRPr>
            </a:pPr>
            <a:r>
              <a:rPr sz="2550" b="1">
                <a:solidFill>
                  <a:srgbClr val="254F63"/>
                </a:solidFill>
              </a:rPr>
              <a:t>54</a:t>
            </a:r>
          </a:p>
        </p:txBody>
      </p:sp>
      <p:sp>
        <p:nvSpPr>
          <p:cNvPr id="10" name="s9-guides-label">
            <a:extLst xmlns:a="http://schemas.openxmlformats.org/drawingml/2006/main">
              <a:ext uri="{FF2B5EF4-FFF2-40B4-BE49-F238E27FC236}">
                <a16:creationId xmlns:a16="http://schemas.microsoft.com/office/drawing/2014/main" id="{9B7C4F7D-C995-4C21-A21F-FA212BA3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62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guias CRISPR</a:t>
            </a:r>
          </a:p>
        </p:txBody>
      </p:sp>
      <p:sp>
        <p:nvSpPr>
          <p:cNvPr id="11" name="s9-donors-value">
            <a:extLst xmlns:a="http://schemas.openxmlformats.org/drawingml/2006/main">
              <a:ext uri="{FF2B5EF4-FFF2-40B4-BE49-F238E27FC236}">
                <a16:creationId xmlns:a16="http://schemas.microsoft.com/office/drawing/2014/main" id="{2B8821BA-986A-48B4-9ACC-C09D350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05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13B"/>
                </a:solidFill>
              </a:defRPr>
            </a:pPr>
            <a:r>
              <a:rPr sz="2550" b="1">
                <a:solidFill>
                  <a:srgbClr val="D6A13B"/>
                </a:solidFill>
              </a:rPr>
              <a:t>8–12</a:t>
            </a:r>
          </a:p>
        </p:txBody>
      </p:sp>
      <p:sp>
        <p:nvSpPr>
          <p:cNvPr id="12" name="s9-donors-label">
            <a:extLst xmlns:a="http://schemas.openxmlformats.org/drawingml/2006/main">
              <a:ext uri="{FF2B5EF4-FFF2-40B4-BE49-F238E27FC236}">
                <a16:creationId xmlns:a16="http://schemas.microsoft.com/office/drawing/2014/main" id="{3C79CD75-7E28-4391-AE3D-C678158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622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78"/>
                </a:solidFill>
              </a:defRPr>
            </a:pPr>
            <a:r>
              <a:rPr sz="1275" b="0">
                <a:solidFill>
                  <a:srgbClr val="5E7078"/>
                </a:solidFill>
              </a:rPr>
              <a:t>doadores independentes</a:t>
            </a:r>
          </a:p>
        </p:txBody>
      </p:sp>
      <p:sp>
        <p:nvSpPr>
          <p:cNvPr id="13" name="s9-rule">
            <a:extLst xmlns:a="http://schemas.openxmlformats.org/drawingml/2006/main">
              <a:ext uri="{FF2B5EF4-FFF2-40B4-BE49-F238E27FC236}">
                <a16:creationId xmlns:a16="http://schemas.microsoft.com/office/drawing/2014/main" id="{6DB904DE-B15B-448B-BCF7-1F4ED75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4805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4" name="s9-design">
            <a:extLst xmlns:a="http://schemas.openxmlformats.org/drawingml/2006/main">
              <a:ext uri="{FF2B5EF4-FFF2-40B4-BE49-F238E27FC236}">
                <a16:creationId xmlns:a16="http://schemas.microsoft.com/office/drawing/2014/main" id="{73FBA358-865F-4302-8905-E7400D9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Dois contextos por doador</a:t>
            </a:r>
          </a:p>
          <a:p xmlns:a="http://schemas.openxmlformats.org/drawingml/2006/main">
            <a:pPr algn="l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repouso + estímulo</a:t>
            </a:r>
          </a:p>
        </p:txBody>
      </p:sp>
      <p:sp>
        <p:nvSpPr>
          <p:cNvPr id="15" name="s9-replicate">
            <a:extLst xmlns:a="http://schemas.openxmlformats.org/drawingml/2006/main">
              <a:ext uri="{FF2B5EF4-FFF2-40B4-BE49-F238E27FC236}">
                <a16:creationId xmlns:a16="http://schemas.microsoft.com/office/drawing/2014/main" id="{014F4725-285C-4E94-B67D-182FF3CB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O doador é a réplica biológica.</a:t>
            </a:r>
          </a:p>
          <a:p xmlns:a="http://schemas.openxmlformats.org/drawingml/2006/main">
            <a:pPr algn="l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Guias, poços e canais não aumentam n.</a:t>
            </a:r>
          </a:p>
        </p:txBody>
      </p:sp>
      <p:sp>
        <p:nvSpPr>
          <p:cNvPr id="16" name="s9-gate">
            <a:extLst xmlns:a="http://schemas.openxmlformats.org/drawingml/2006/main">
              <a:ext uri="{FF2B5EF4-FFF2-40B4-BE49-F238E27FC236}">
                <a16:creationId xmlns:a16="http://schemas.microsoft.com/office/drawing/2014/main" id="{20A80D39-F76E-4571-A7E0-ECC6D66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52578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9-gate-title">
            <a:extLst xmlns:a="http://schemas.openxmlformats.org/drawingml/2006/main">
              <a:ext uri="{FF2B5EF4-FFF2-40B4-BE49-F238E27FC236}">
                <a16:creationId xmlns:a16="http://schemas.microsoft.com/office/drawing/2014/main" id="{CA4BB252-5668-40FB-AE92-75E4574D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5B49"/>
                </a:solidFill>
              </a:defRPr>
            </a:pPr>
            <a:r>
              <a:rPr sz="1725" b="1">
                <a:solidFill>
                  <a:srgbClr val="D85B49"/>
                </a:solidFill>
              </a:rPr>
              <a:t>STOP antes do pedido</a:t>
            </a:r>
          </a:p>
        </p:txBody>
      </p:sp>
      <p:sp>
        <p:nvSpPr>
          <p:cNvPr id="18" name="s9-gate-copy">
            <a:extLst xmlns:a="http://schemas.openxmlformats.org/drawingml/2006/main">
              <a:ext uri="{FF2B5EF4-FFF2-40B4-BE49-F238E27FC236}">
                <a16:creationId xmlns:a16="http://schemas.microsoft.com/office/drawing/2014/main" id="{97369BBA-8775-4537-B0D8-E1ABA47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13D"/>
                </a:solidFill>
              </a:defRPr>
            </a:pPr>
            <a:r>
              <a:rPr sz="1350" b="0">
                <a:solidFill>
                  <a:srgbClr val="17313D"/>
                </a:solidFill>
              </a:rPr>
              <a:t>Sequência de referência, compatibilidade do vetor, atividade on-target e risco off-target precisam ser validados. PAPOLG-1 permanece com baixo suporte.</a:t>
            </a:r>
          </a:p>
        </p:txBody>
      </p:sp>
      <p:sp>
        <p:nvSpPr>
          <p:cNvPr id="19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66F6443F-1A8B-47A2-B359-ECBC1A1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20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3790223A-6B2E-4442-A31F-D9B8C54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21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49D066CD-D2FE-4293-9AA2-7B3EBF91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Fonte: decomposition_v2/prospective_donor_panel.json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B99E06BD-C450-47FE-8D4F-2A5939D8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56927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">
            <a:extLst xmlns:a="http://schemas.openxmlformats.org/drawingml/2006/main">
              <a:ext uri="{FF2B5EF4-FFF2-40B4-BE49-F238E27FC236}">
                <a16:creationId xmlns:a16="http://schemas.microsoft.com/office/drawing/2014/main" id="{23622D70-77F2-4346-836F-9A4573E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772"/>
                </a:solidFill>
              </a:defRPr>
            </a:pPr>
            <a:r>
              <a:rPr sz="1050" b="1">
                <a:solidFill>
                  <a:srgbClr val="0B7772"/>
                </a:solidFill>
              </a:rPr>
              <a:t>APÊNDICE • ENTREGA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EFC6D14-32BB-4725-80A6-AED4CBE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3447"/>
                </a:solidFill>
              </a:defRPr>
            </a:pPr>
            <a:r>
              <a:rPr sz="2850" b="1">
                <a:solidFill>
                  <a:srgbClr val="143447"/>
                </a:solidFill>
              </a:rPr>
              <a:t>O artefato é executável e auditável.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E13D62AA-CB63-428C-AD0B-8801388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772"/>
            </a:solidFill>
            <a:prstDash val="solid"/>
          </a:ln>
        </p:spPr>
      </p:sp>
      <p:sp>
        <p:nvSpPr>
          <p:cNvPr id="4" name="s10-lead">
            <a:extLst xmlns:a="http://schemas.openxmlformats.org/drawingml/2006/main">
              <a:ext uri="{FF2B5EF4-FFF2-40B4-BE49-F238E27FC236}">
                <a16:creationId xmlns:a16="http://schemas.microsoft.com/office/drawing/2014/main" id="{8F25ABAA-57C0-4829-B449-56ACD42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13D"/>
                </a:solidFill>
              </a:defRPr>
            </a:pPr>
            <a:r>
              <a:rPr sz="1575" b="0">
                <a:solidFill>
                  <a:srgbClr val="17313D"/>
                </a:solidFill>
              </a:rPr>
              <a:t>Não é um único arquivo .py. O Python é o motor; o artefato é o conjunto integrado que liga pergunta, cálculo, evidência e apresentação.</a:t>
            </a:r>
          </a:p>
        </p:txBody>
      </p:sp>
      <p:sp>
        <p:nvSpPr>
          <p:cNvPr id="5" name="s10-arrow-1">
            <a:extLst xmlns:a="http://schemas.openxmlformats.org/drawingml/2006/main">
              <a:ext uri="{FF2B5EF4-FFF2-40B4-BE49-F238E27FC236}">
                <a16:creationId xmlns:a16="http://schemas.microsoft.com/office/drawing/2014/main" id="{0B59F89B-0AE8-444B-9529-93B917D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-arrow-2">
            <a:extLst xmlns:a="http://schemas.openxmlformats.org/drawingml/2006/main">
              <a:ext uri="{FF2B5EF4-FFF2-40B4-BE49-F238E27FC236}">
                <a16:creationId xmlns:a16="http://schemas.microsoft.com/office/drawing/2014/main" id="{63582819-59EF-466C-990E-35C1E27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0-arrow-3">
            <a:extLst xmlns:a="http://schemas.openxmlformats.org/drawingml/2006/main">
              <a:ext uri="{FF2B5EF4-FFF2-40B4-BE49-F238E27FC236}">
                <a16:creationId xmlns:a16="http://schemas.microsoft.com/office/drawing/2014/main" id="{6277B2A3-2488-4438-9534-E94E912E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685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0-block-64">
            <a:extLst xmlns:a="http://schemas.openxmlformats.org/drawingml/2006/main">
              <a:ext uri="{FF2B5EF4-FFF2-40B4-BE49-F238E27FC236}">
                <a16:creationId xmlns:a16="http://schemas.microsoft.com/office/drawing/2014/main" id="{178F2DCB-6C3A-4199-8CB8-B925EC1B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ACD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s10-title-64">
            <a:extLst xmlns:a="http://schemas.openxmlformats.org/drawingml/2006/main">
              <a:ext uri="{FF2B5EF4-FFF2-40B4-BE49-F238E27FC236}">
                <a16:creationId xmlns:a16="http://schemas.microsoft.com/office/drawing/2014/main" id="{E1381E3A-69B9-42C0-A8C1-9FAE6D48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1. Contratos</a:t>
            </a:r>
          </a:p>
        </p:txBody>
      </p:sp>
      <p:sp>
        <p:nvSpPr>
          <p:cNvPr id="10" name="s10-copy-64">
            <a:extLst xmlns:a="http://schemas.openxmlformats.org/drawingml/2006/main">
              <a:ext uri="{FF2B5EF4-FFF2-40B4-BE49-F238E27FC236}">
                <a16:creationId xmlns:a16="http://schemas.microsoft.com/office/drawing/2014/main" id="{0E541A14-CD33-4322-A431-1ECD6A1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eixos congelados</a:t>
            </a:r>
          </a:p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claims + gates</a:t>
            </a:r>
          </a:p>
        </p:txBody>
      </p:sp>
      <p:sp>
        <p:nvSpPr>
          <p:cNvPr id="11" name="s10-block-368">
            <a:extLst xmlns:a="http://schemas.openxmlformats.org/drawingml/2006/main">
              <a:ext uri="{FF2B5EF4-FFF2-40B4-BE49-F238E27FC236}">
                <a16:creationId xmlns:a16="http://schemas.microsoft.com/office/drawing/2014/main" id="{02DC16E3-E2C5-49D4-BF98-31C0F0E4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2" name="s10-title-368">
            <a:extLst xmlns:a="http://schemas.openxmlformats.org/drawingml/2006/main">
              <a:ext uri="{FF2B5EF4-FFF2-40B4-BE49-F238E27FC236}">
                <a16:creationId xmlns:a16="http://schemas.microsoft.com/office/drawing/2014/main" id="{A419B911-5228-488D-B912-E57C89EC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2. Motor Python</a:t>
            </a:r>
          </a:p>
        </p:txBody>
      </p:sp>
      <p:sp>
        <p:nvSpPr>
          <p:cNvPr id="13" name="s10-copy-368">
            <a:extLst xmlns:a="http://schemas.openxmlformats.org/drawingml/2006/main">
              <a:ext uri="{FF2B5EF4-FFF2-40B4-BE49-F238E27FC236}">
                <a16:creationId xmlns:a16="http://schemas.microsoft.com/office/drawing/2014/main" id="{8FE66EC5-2658-4DCA-B344-1935B1A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scripts + CLI</a:t>
            </a:r>
          </a:p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cálculo determinístico</a:t>
            </a:r>
          </a:p>
        </p:txBody>
      </p:sp>
      <p:sp>
        <p:nvSpPr>
          <p:cNvPr id="14" name="s10-block-682">
            <a:extLst xmlns:a="http://schemas.openxmlformats.org/drawingml/2006/main">
              <a:ext uri="{FF2B5EF4-FFF2-40B4-BE49-F238E27FC236}">
                <a16:creationId xmlns:a16="http://schemas.microsoft.com/office/drawing/2014/main" id="{003F10A0-E436-42E7-B0FA-896B4B05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5" name="s10-title-682">
            <a:extLst xmlns:a="http://schemas.openxmlformats.org/drawingml/2006/main">
              <a:ext uri="{FF2B5EF4-FFF2-40B4-BE49-F238E27FC236}">
                <a16:creationId xmlns:a16="http://schemas.microsoft.com/office/drawing/2014/main" id="{5C1746C2-C9A6-49B2-9199-2249F9D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3. Evidência</a:t>
            </a:r>
          </a:p>
        </p:txBody>
      </p:sp>
      <p:sp>
        <p:nvSpPr>
          <p:cNvPr id="16" name="s10-copy-682">
            <a:extLst xmlns:a="http://schemas.openxmlformats.org/drawingml/2006/main">
              <a:ext uri="{FF2B5EF4-FFF2-40B4-BE49-F238E27FC236}">
                <a16:creationId xmlns:a16="http://schemas.microsoft.com/office/drawing/2014/main" id="{1429D791-119F-439B-A5EB-5D5111CF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JSON + CSV + hashes</a:t>
            </a:r>
          </a:p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figuras + testes</a:t>
            </a:r>
          </a:p>
        </p:txBody>
      </p:sp>
      <p:sp>
        <p:nvSpPr>
          <p:cNvPr id="17" name="s10-block-996">
            <a:extLst xmlns:a="http://schemas.openxmlformats.org/drawingml/2006/main">
              <a:ext uri="{FF2B5EF4-FFF2-40B4-BE49-F238E27FC236}">
                <a16:creationId xmlns:a16="http://schemas.microsoft.com/office/drawing/2014/main" id="{C0A377FD-AF4F-46AD-BB21-D68EFC0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955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1DC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8" name="s10-title-996">
            <a:extLst xmlns:a="http://schemas.openxmlformats.org/drawingml/2006/main">
              <a:ext uri="{FF2B5EF4-FFF2-40B4-BE49-F238E27FC236}">
                <a16:creationId xmlns:a16="http://schemas.microsoft.com/office/drawing/2014/main" id="{287A0717-56A1-4CA0-9629-F09604BD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24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3447"/>
                </a:solidFill>
              </a:defRPr>
            </a:pPr>
            <a:r>
              <a:rPr sz="1650" b="1">
                <a:solidFill>
                  <a:srgbClr val="143447"/>
                </a:solidFill>
              </a:rPr>
              <a:t>4. Experiência</a:t>
            </a:r>
          </a:p>
        </p:txBody>
      </p:sp>
      <p:sp>
        <p:nvSpPr>
          <p:cNvPr id="19" name="s10-copy-996">
            <a:extLst xmlns:a="http://schemas.openxmlformats.org/drawingml/2006/main">
              <a:ext uri="{FF2B5EF4-FFF2-40B4-BE49-F238E27FC236}">
                <a16:creationId xmlns:a16="http://schemas.microsoft.com/office/drawing/2014/main" id="{6CE6B2CB-4D87-41D6-88D2-FD8D0E1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deck + demo offline</a:t>
            </a:r>
          </a:p>
          <a:p xmlns:a="http://schemas.openxmlformats.org/drawingml/2006/main">
            <a:pPr algn="ctr">
              <a:defRPr sz="1350" b="0">
                <a:solidFill>
                  <a:srgbClr val="5E7078"/>
                </a:solidFill>
              </a:defRPr>
            </a:pPr>
            <a:r>
              <a:rPr sz="1350" b="0">
                <a:solidFill>
                  <a:srgbClr val="5E7078"/>
                </a:solidFill>
              </a:rPr>
              <a:t>MP4 + Q&amp;A</a:t>
            </a:r>
          </a:p>
        </p:txBody>
      </p:sp>
      <p:sp>
        <p:nvSpPr>
          <p:cNvPr id="20" name="s10-audit-line">
            <a:extLst xmlns:a="http://schemas.openxmlformats.org/drawingml/2006/main">
              <a:ext uri="{FF2B5EF4-FFF2-40B4-BE49-F238E27FC236}">
                <a16:creationId xmlns:a16="http://schemas.microsoft.com/office/drawing/2014/main" id="{AD1E29AB-C087-4B6D-A73F-7F65AAD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4F63"/>
            </a:solidFill>
            <a:prstDash val="solid"/>
          </a:ln>
        </p:spPr>
      </p:sp>
      <p:sp>
        <p:nvSpPr>
          <p:cNvPr id="21" name="s10-dot-174">
            <a:extLst xmlns:a="http://schemas.openxmlformats.org/drawingml/2006/main">
              <a:ext uri="{FF2B5EF4-FFF2-40B4-BE49-F238E27FC236}">
                <a16:creationId xmlns:a16="http://schemas.microsoft.com/office/drawing/2014/main" id="{5D848AF6-9EA6-4675-9ECE-A06CCD5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audit-174">
            <a:extLst xmlns:a="http://schemas.openxmlformats.org/drawingml/2006/main">
              <a:ext uri="{FF2B5EF4-FFF2-40B4-BE49-F238E27FC236}">
                <a16:creationId xmlns:a16="http://schemas.microsoft.com/office/drawing/2014/main" id="{2909D5C4-9C49-47EE-85E6-26E7543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447"/>
                </a:solidFill>
              </a:defRPr>
            </a:pPr>
            <a:r>
              <a:rPr sz="1275" b="1">
                <a:solidFill>
                  <a:srgbClr val="143447"/>
                </a:solidFill>
              </a:rPr>
              <a:t>Git SHA</a:t>
            </a:r>
          </a:p>
        </p:txBody>
      </p:sp>
      <p:sp>
        <p:nvSpPr>
          <p:cNvPr id="23" name="s10-dot-404">
            <a:extLst xmlns:a="http://schemas.openxmlformats.org/drawingml/2006/main">
              <a:ext uri="{FF2B5EF4-FFF2-40B4-BE49-F238E27FC236}">
                <a16:creationId xmlns:a16="http://schemas.microsoft.com/office/drawing/2014/main" id="{374E93FE-CC76-4D08-9647-AC0EB7CE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0-audit-404">
            <a:extLst xmlns:a="http://schemas.openxmlformats.org/drawingml/2006/main">
              <a:ext uri="{FF2B5EF4-FFF2-40B4-BE49-F238E27FC236}">
                <a16:creationId xmlns:a16="http://schemas.microsoft.com/office/drawing/2014/main" id="{69B10F8D-B36B-4A20-8162-0340FFBB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447"/>
                </a:solidFill>
              </a:defRPr>
            </a:pPr>
            <a:r>
              <a:rPr sz="1275" b="1">
                <a:solidFill>
                  <a:srgbClr val="143447"/>
                </a:solidFill>
              </a:rPr>
              <a:t>data SHA-256</a:t>
            </a:r>
          </a:p>
        </p:txBody>
      </p:sp>
      <p:sp>
        <p:nvSpPr>
          <p:cNvPr id="25" name="s10-dot-648">
            <a:extLst xmlns:a="http://schemas.openxmlformats.org/drawingml/2006/main">
              <a:ext uri="{FF2B5EF4-FFF2-40B4-BE49-F238E27FC236}">
                <a16:creationId xmlns:a16="http://schemas.microsoft.com/office/drawing/2014/main" id="{D2639B2D-114C-484C-9FD5-1D323AD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0-audit-648">
            <a:extLst xmlns:a="http://schemas.openxmlformats.org/drawingml/2006/main">
              <a:ext uri="{FF2B5EF4-FFF2-40B4-BE49-F238E27FC236}">
                <a16:creationId xmlns:a16="http://schemas.microsoft.com/office/drawing/2014/main" id="{78BCD0CD-E347-49CC-B726-77983155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447"/>
                </a:solidFill>
              </a:defRPr>
            </a:pPr>
            <a:r>
              <a:rPr sz="1275" b="1">
                <a:solidFill>
                  <a:srgbClr val="143447"/>
                </a:solidFill>
              </a:rPr>
              <a:t>axes SHA-256</a:t>
            </a:r>
          </a:p>
        </p:txBody>
      </p:sp>
      <p:sp>
        <p:nvSpPr>
          <p:cNvPr id="27" name="s10-dot-896">
            <a:extLst xmlns:a="http://schemas.openxmlformats.org/drawingml/2006/main">
              <a:ext uri="{FF2B5EF4-FFF2-40B4-BE49-F238E27FC236}">
                <a16:creationId xmlns:a16="http://schemas.microsoft.com/office/drawing/2014/main" id="{20F1CF85-9077-4617-924E-52F7A47B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0-audit-896">
            <a:extLst xmlns:a="http://schemas.openxmlformats.org/drawingml/2006/main">
              <a:ext uri="{FF2B5EF4-FFF2-40B4-BE49-F238E27FC236}">
                <a16:creationId xmlns:a16="http://schemas.microsoft.com/office/drawing/2014/main" id="{79C33917-DABF-4585-B64E-4CFE4F2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447"/>
                </a:solidFill>
              </a:defRPr>
            </a:pPr>
            <a:r>
              <a:rPr sz="1275" b="1">
                <a:solidFill>
                  <a:srgbClr val="143447"/>
                </a:solidFill>
              </a:rPr>
              <a:t>12/12 gates</a:t>
            </a:r>
          </a:p>
        </p:txBody>
      </p:sp>
      <p:sp>
        <p:nvSpPr>
          <p:cNvPr id="29" name="s10-answer">
            <a:extLst xmlns:a="http://schemas.openxmlformats.org/drawingml/2006/main">
              <a:ext uri="{FF2B5EF4-FFF2-40B4-BE49-F238E27FC236}">
                <a16:creationId xmlns:a16="http://schemas.microsoft.com/office/drawing/2014/main" id="{8ED03431-CDC4-45CB-8885-4A00056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43550"/>
            <a:ext cx="8915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3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0-answer-copy">
            <a:extLst xmlns:a="http://schemas.openxmlformats.org/drawingml/2006/main">
              <a:ext uri="{FF2B5EF4-FFF2-40B4-BE49-F238E27FC236}">
                <a16:creationId xmlns:a16="http://schemas.microsoft.com/office/drawing/2014/main" id="{433C3AFC-E0BB-4A8E-935D-4176714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959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Entrega = software científico + evidência congelada + narrativa visual + auditoria.</a:t>
            </a:r>
          </a:p>
        </p:txBody>
      </p:sp>
      <p:sp>
        <p:nvSpPr>
          <p:cNvPr id="31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53E7567D-EF06-4E7D-AD1E-C00C2DFA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32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4F6D03A6-A9F9-42B9-B4B1-38918B1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ISCI • Built with Claude: Life Sciences</a:t>
            </a:r>
          </a:p>
        </p:txBody>
      </p:sp>
      <p:sp>
        <p:nvSpPr>
          <p:cNvPr id="33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963D895D-B5EB-4EEC-AC71-966EE62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7078"/>
                </a:solidFill>
              </a:defRPr>
            </a:pPr>
            <a:r>
              <a:rPr sz="900" b="0">
                <a:solidFill>
                  <a:srgbClr val="5E7078"/>
                </a:solidFill>
              </a:rPr>
              <a:t>Pacote: Makefile • outputs/hackathon • docs • demo_assets • tests</a:t>
            </a:r>
          </a:p>
        </p:txBody>
      </p:sp>
      <p:sp>
        <p:nvSpPr>
          <p:cNvPr id="3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C6947317-84C4-4857-999E-67A70C7B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3447"/>
                </a:solidFill>
              </a:defRPr>
            </a:pPr>
            <a:r>
              <a:rPr sz="900" b="1">
                <a:solidFill>
                  <a:srgbClr val="14344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2077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2026-07-12T21:24:02.5250000Z</dcterms:created>
  <dcterms:modified xsi:type="dcterms:W3CDTF">2026-07-12T21:24:02.5260000Z</dcterms:modified>
</coreProperties>
</file>